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99" r:id="rId7"/>
    <p:sldId id="302" r:id="rId8"/>
    <p:sldId id="305" r:id="rId9"/>
    <p:sldId id="307" r:id="rId10"/>
    <p:sldId id="291" r:id="rId11"/>
  </p:sldIdLst>
  <p:sldSz cx="12192000" cy="6858000"/>
  <p:notesSz cx="6807200" cy="9939338"/>
  <p:embeddedFontLst>
    <p:embeddedFont>
      <p:font typeface="Arial Narrow" panose="020B0606020202030204" pitchFamily="34" charset="0"/>
      <p:regular r:id="rId13"/>
      <p:bold r:id="rId14"/>
      <p:italic r:id="rId15"/>
      <p:boldItalic r:id="rId16"/>
    </p:embeddedFont>
    <p:embeddedFont>
      <p:font typeface="맑은 고딕" panose="020B0503020000020004" pitchFamily="50" charset="-127"/>
      <p:regular r:id="rId17"/>
      <p:bold r:id="rId1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1DE"/>
    <a:srgbClr val="D8D2CE"/>
    <a:srgbClr val="EFEBE7"/>
    <a:srgbClr val="F6F3F1"/>
    <a:srgbClr val="F17341"/>
    <a:srgbClr val="006D00"/>
    <a:srgbClr val="00FA00"/>
    <a:srgbClr val="00CC00"/>
    <a:srgbClr val="66FF66"/>
    <a:srgbClr val="008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40" autoAdjust="0"/>
    <p:restoredTop sz="96649" autoAdjust="0"/>
  </p:normalViewPr>
  <p:slideViewPr>
    <p:cSldViewPr snapToGrid="0">
      <p:cViewPr varScale="1">
        <p:scale>
          <a:sx n="157" d="100"/>
          <a:sy n="157" d="100"/>
        </p:scale>
        <p:origin x="9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51692D-0FA6-40E6-B397-F8EAC1D03F5E}" type="datetimeFigureOut">
              <a:rPr lang="ko-KR" altLang="en-US" smtClean="0"/>
              <a:t>2025-11-25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630E3F-477D-44F9-86AC-679785EEC85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1292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QNED gaming </a:t>
            </a:r>
            <a:r>
              <a:rPr lang="ko-KR" altLang="en-US"/>
              <a:t>소구</a:t>
            </a:r>
            <a:r>
              <a:rPr lang="en-US" altLang="ko-KR" dirty="0"/>
              <a:t>_ </a:t>
            </a:r>
            <a:r>
              <a:rPr lang="ko-KR" altLang="en-US"/>
              <a:t>노출되지 않아 이 부분 서치가 이루어지지 않고 있음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>
                <a:sym typeface="Wingdings" panose="05000000000000000000" pitchFamily="2" charset="2"/>
              </a:rPr>
              <a:t>소구 필요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>
                <a:sym typeface="Wingdings" panose="05000000000000000000" pitchFamily="2" charset="2"/>
              </a:rPr>
              <a:t>사업부장님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br>
              <a:rPr lang="en-US" altLang="ko-KR" dirty="0">
                <a:sym typeface="Wingdings" panose="05000000000000000000" pitchFamily="2" charset="2"/>
              </a:rPr>
            </a:b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3ED32-ECF3-42BB-ABFC-1B57AB679A4C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4440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630E3F-477D-44F9-86AC-679785EEC850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2126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630E3F-477D-44F9-86AC-679785EEC850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4903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630E3F-477D-44F9-86AC-679785EEC850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3314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23880" y="6587770"/>
            <a:ext cx="131959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11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LGE internal use, only</a:t>
            </a:r>
            <a:endParaRPr lang="ko-KR" altLang="en-US" sz="110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10776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solidFill>
          <a:srgbClr val="EFEB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6822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solidFill>
          <a:srgbClr val="EFEB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 userDrawn="1"/>
        </p:nvSpPr>
        <p:spPr>
          <a:xfrm>
            <a:off x="-7168" y="-1185"/>
            <a:ext cx="12199168" cy="495839"/>
          </a:xfrm>
          <a:prstGeom prst="rect">
            <a:avLst/>
          </a:prstGeom>
          <a:solidFill>
            <a:srgbClr val="D8D2CE"/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n-US" sz="3200" b="1" dirty="0">
              <a:solidFill>
                <a:srgbClr val="EA0000">
                  <a:alpha val="50000"/>
                </a:srgbClr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" name="양쪽 모서리가 둥근 사각형 2"/>
          <p:cNvSpPr/>
          <p:nvPr userDrawn="1"/>
        </p:nvSpPr>
        <p:spPr>
          <a:xfrm>
            <a:off x="10288883" y="0"/>
            <a:ext cx="1905000" cy="483577"/>
          </a:xfrm>
          <a:prstGeom prst="round2SameRect">
            <a:avLst>
              <a:gd name="adj1" fmla="val 0"/>
              <a:gd name="adj2" fmla="val 38095"/>
            </a:avLst>
          </a:prstGeom>
          <a:solidFill>
            <a:srgbClr val="EA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Text 0"/>
          <p:cNvSpPr/>
          <p:nvPr userDrawn="1"/>
        </p:nvSpPr>
        <p:spPr>
          <a:xfrm>
            <a:off x="10507958" y="51041"/>
            <a:ext cx="1466850" cy="368755"/>
          </a:xfrm>
          <a:prstGeom prst="rect">
            <a:avLst/>
          </a:prstGeom>
          <a:noFill/>
          <a:ln/>
        </p:spPr>
        <p:txBody>
          <a:bodyPr wrap="square" lIns="0" tIns="0" rIns="36000" bIns="0" rtlCol="0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</a:t>
            </a:r>
            <a:r>
              <a:rPr lang="ko-KR" altLang="en-US" b="1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분 톡</a:t>
            </a:r>
            <a:endParaRPr lang="en-US" sz="1600" b="1" dirty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997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bg>
      <p:bgPr>
        <a:solidFill>
          <a:srgbClr val="EFEB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 userDrawn="1"/>
        </p:nvSpPr>
        <p:spPr>
          <a:xfrm>
            <a:off x="-7168" y="-1185"/>
            <a:ext cx="12199168" cy="495839"/>
          </a:xfrm>
          <a:prstGeom prst="rect">
            <a:avLst/>
          </a:prstGeom>
          <a:solidFill>
            <a:srgbClr val="D8D2CE"/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n-US" sz="3200" b="1" dirty="0">
              <a:solidFill>
                <a:srgbClr val="EA0000">
                  <a:alpha val="50000"/>
                </a:srgbClr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" name="양쪽 모서리가 둥근 사각형 2"/>
          <p:cNvSpPr/>
          <p:nvPr userDrawn="1"/>
        </p:nvSpPr>
        <p:spPr>
          <a:xfrm>
            <a:off x="10288883" y="0"/>
            <a:ext cx="1905000" cy="483577"/>
          </a:xfrm>
          <a:prstGeom prst="round2SameRect">
            <a:avLst>
              <a:gd name="adj1" fmla="val 0"/>
              <a:gd name="adj2" fmla="val 38095"/>
            </a:avLst>
          </a:prstGeom>
          <a:solidFill>
            <a:srgbClr val="EA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Text 0"/>
          <p:cNvSpPr/>
          <p:nvPr userDrawn="1"/>
        </p:nvSpPr>
        <p:spPr>
          <a:xfrm>
            <a:off x="10507958" y="51041"/>
            <a:ext cx="1466850" cy="368755"/>
          </a:xfrm>
          <a:prstGeom prst="rect">
            <a:avLst/>
          </a:prstGeom>
          <a:noFill/>
          <a:ln/>
        </p:spPr>
        <p:txBody>
          <a:bodyPr wrap="square" lIns="0" tIns="0" rIns="36000" bIns="0" rtlCol="0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</a:t>
            </a:r>
            <a:r>
              <a:rPr lang="en-US" altLang="ko-KR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min. Talk</a:t>
            </a:r>
            <a:endParaRPr lang="en-US" sz="1600" b="1" dirty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167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bg>
      <p:bgPr>
        <a:solidFill>
          <a:srgbClr val="EFEB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 userDrawn="1"/>
        </p:nvSpPr>
        <p:spPr>
          <a:xfrm>
            <a:off x="-7168" y="-1185"/>
            <a:ext cx="12199168" cy="495839"/>
          </a:xfrm>
          <a:prstGeom prst="rect">
            <a:avLst/>
          </a:prstGeom>
          <a:solidFill>
            <a:srgbClr val="D8D2CE"/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n-US" sz="3200" b="1" dirty="0">
              <a:solidFill>
                <a:srgbClr val="EA0000">
                  <a:alpha val="50000"/>
                </a:srgbClr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0" y="671610"/>
            <a:ext cx="12192000" cy="5891560"/>
          </a:xfrm>
          <a:prstGeom prst="rect">
            <a:avLst/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양쪽 모서리가 둥근 사각형 5"/>
          <p:cNvSpPr/>
          <p:nvPr userDrawn="1"/>
        </p:nvSpPr>
        <p:spPr>
          <a:xfrm>
            <a:off x="0" y="0"/>
            <a:ext cx="1905000" cy="483577"/>
          </a:xfrm>
          <a:prstGeom prst="round2SameRect">
            <a:avLst>
              <a:gd name="adj1" fmla="val 0"/>
              <a:gd name="adj2" fmla="val 3809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6502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6943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23880" y="6587770"/>
            <a:ext cx="131959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LGE internal use, only</a:t>
            </a:r>
            <a:endParaRPr lang="ko-KR" altLang="en-US" sz="110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" name="MSIPCMContentMarking" descr="{&quot;HashCode&quot;:966751382,&quot;Placement&quot;:&quot;Header&quot;,&quot;Top&quot;:0.0,&quot;Left&quot;:413.954651,&quot;SlideWidth&quot;:960,&quot;SlideHeight&quot;:540}"/>
          <p:cNvSpPr txBox="1"/>
          <p:nvPr userDrawn="1"/>
        </p:nvSpPr>
        <p:spPr>
          <a:xfrm>
            <a:off x="5257224" y="0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rgbClr val="000000"/>
                </a:solidFill>
                <a:latin typeface="Calibri" panose="020F0502020204030204" pitchFamily="34" charset="0"/>
              </a:rPr>
              <a:t>LGE Internal Use Only</a:t>
            </a:r>
            <a:endParaRPr lang="ko-KR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994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" Target="slide4.xm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slide" Target="slide5.xml"/><Relationship Id="rId10" Type="http://schemas.openxmlformats.org/officeDocument/2006/relationships/image" Target="../media/image11.png"/><Relationship Id="rId4" Type="http://schemas.openxmlformats.org/officeDocument/2006/relationships/slide" Target="slide6.xml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13" Type="http://schemas.openxmlformats.org/officeDocument/2006/relationships/hyperlink" Target="https://www.youtube.com/watch?v=5sciNKmHH-U" TargetMode="External"/><Relationship Id="rId3" Type="http://schemas.openxmlformats.org/officeDocument/2006/relationships/slide" Target="slide3.xml"/><Relationship Id="rId7" Type="http://schemas.openxmlformats.org/officeDocument/2006/relationships/image" Target="../media/image16.jpeg"/><Relationship Id="rId12" Type="http://schemas.openxmlformats.org/officeDocument/2006/relationships/image" Target="../media/image21.jpe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jpeg"/><Relationship Id="rId11" Type="http://schemas.openxmlformats.org/officeDocument/2006/relationships/image" Target="../media/image20.jpeg"/><Relationship Id="rId5" Type="http://schemas.openxmlformats.org/officeDocument/2006/relationships/image" Target="../media/image14.jpeg"/><Relationship Id="rId15" Type="http://schemas.openxmlformats.org/officeDocument/2006/relationships/image" Target="../media/image23.png"/><Relationship Id="rId10" Type="http://schemas.openxmlformats.org/officeDocument/2006/relationships/image" Target="../media/image19.jpeg"/><Relationship Id="rId4" Type="http://schemas.openxmlformats.org/officeDocument/2006/relationships/image" Target="../media/image13.jpeg"/><Relationship Id="rId9" Type="http://schemas.openxmlformats.org/officeDocument/2006/relationships/image" Target="../media/image18.jpeg"/><Relationship Id="rId1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13" Type="http://schemas.openxmlformats.org/officeDocument/2006/relationships/image" Target="../media/image34.jpeg"/><Relationship Id="rId3" Type="http://schemas.openxmlformats.org/officeDocument/2006/relationships/hyperlink" Target="https://www.youtube.com/watch?v=Du481sOHopU" TargetMode="External"/><Relationship Id="rId7" Type="http://schemas.openxmlformats.org/officeDocument/2006/relationships/image" Target="../media/image28.jpeg"/><Relationship Id="rId12" Type="http://schemas.openxmlformats.org/officeDocument/2006/relationships/image" Target="../media/image33.jpeg"/><Relationship Id="rId17" Type="http://schemas.openxmlformats.org/officeDocument/2006/relationships/slide" Target="slide3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jpeg"/><Relationship Id="rId11" Type="http://schemas.openxmlformats.org/officeDocument/2006/relationships/image" Target="../media/image32.jpeg"/><Relationship Id="rId5" Type="http://schemas.openxmlformats.org/officeDocument/2006/relationships/image" Target="../media/image26.jpeg"/><Relationship Id="rId15" Type="http://schemas.openxmlformats.org/officeDocument/2006/relationships/image" Target="../media/image24.png"/><Relationship Id="rId10" Type="http://schemas.openxmlformats.org/officeDocument/2006/relationships/image" Target="../media/image31.jpeg"/><Relationship Id="rId4" Type="http://schemas.openxmlformats.org/officeDocument/2006/relationships/image" Target="../media/image22.png"/><Relationship Id="rId9" Type="http://schemas.openxmlformats.org/officeDocument/2006/relationships/image" Target="../media/image30.jpeg"/><Relationship Id="rId1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eg"/><Relationship Id="rId13" Type="http://schemas.openxmlformats.org/officeDocument/2006/relationships/image" Target="../media/image42.jpeg"/><Relationship Id="rId18" Type="http://schemas.openxmlformats.org/officeDocument/2006/relationships/image" Target="../media/image23.png"/><Relationship Id="rId3" Type="http://schemas.openxmlformats.org/officeDocument/2006/relationships/hyperlink" Target="https://www.youtube.com/watch?v=rJNBGqiBI7s" TargetMode="External"/><Relationship Id="rId21" Type="http://schemas.openxmlformats.org/officeDocument/2006/relationships/slide" Target="slide3.xml"/><Relationship Id="rId7" Type="http://schemas.openxmlformats.org/officeDocument/2006/relationships/image" Target="../media/image36.jpeg"/><Relationship Id="rId12" Type="http://schemas.openxmlformats.org/officeDocument/2006/relationships/image" Target="../media/image41.jpeg"/><Relationship Id="rId17" Type="http://schemas.openxmlformats.org/officeDocument/2006/relationships/image" Target="../media/image46.jpe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5.jpe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jpeg"/><Relationship Id="rId11" Type="http://schemas.openxmlformats.org/officeDocument/2006/relationships/image" Target="../media/image40.jpeg"/><Relationship Id="rId5" Type="http://schemas.openxmlformats.org/officeDocument/2006/relationships/hyperlink" Target="https://www.youtube.com/watch?v=Du481sOHopU" TargetMode="External"/><Relationship Id="rId15" Type="http://schemas.openxmlformats.org/officeDocument/2006/relationships/image" Target="../media/image44.jpeg"/><Relationship Id="rId10" Type="http://schemas.openxmlformats.org/officeDocument/2006/relationships/image" Target="../media/image39.jpeg"/><Relationship Id="rId19" Type="http://schemas.openxmlformats.org/officeDocument/2006/relationships/image" Target="../media/image24.png"/><Relationship Id="rId4" Type="http://schemas.openxmlformats.org/officeDocument/2006/relationships/image" Target="../media/image22.png"/><Relationship Id="rId9" Type="http://schemas.openxmlformats.org/officeDocument/2006/relationships/image" Target="../media/image38.jpeg"/><Relationship Id="rId14" Type="http://schemas.openxmlformats.org/officeDocument/2006/relationships/image" Target="../media/image4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/>
          <p:cNvSpPr/>
          <p:nvPr/>
        </p:nvSpPr>
        <p:spPr>
          <a:xfrm>
            <a:off x="936688" y="1613128"/>
            <a:ext cx="6635687" cy="1484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>
                <a:solidFill>
                  <a:srgbClr val="FFFFFF">
                    <a:alpha val="100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LG TV Sales Talk Guideline</a:t>
            </a:r>
            <a:br>
              <a:rPr lang="en-US" sz="2800" b="1" dirty="0">
                <a:solidFill>
                  <a:srgbClr val="FFFFFF">
                    <a:alpha val="100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2400" u="sng" dirty="0">
                <a:solidFill>
                  <a:srgbClr val="FFFFFF">
                    <a:alpha val="100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Winning Pack</a:t>
            </a:r>
            <a:endParaRPr lang="en-US" sz="2400" u="sng" dirty="0">
              <a:solidFill>
                <a:prstClr val="black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7371097" y="1412776"/>
            <a:ext cx="3658373" cy="3638550"/>
            <a:chOff x="15381622" y="3924300"/>
            <a:chExt cx="5893537" cy="5861602"/>
          </a:xfrm>
        </p:grpSpPr>
        <p:pic>
          <p:nvPicPr>
            <p:cNvPr id="13" name="Image 2" descr=" 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185296" y="5346883"/>
              <a:ext cx="999717" cy="3010725"/>
            </a:xfrm>
            <a:prstGeom prst="rect">
              <a:avLst/>
            </a:prstGeom>
          </p:spPr>
        </p:pic>
        <p:pic>
          <p:nvPicPr>
            <p:cNvPr id="14" name="Image 3" descr=" 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381622" y="3924300"/>
              <a:ext cx="5893537" cy="5861602"/>
            </a:xfrm>
            <a:prstGeom prst="rect">
              <a:avLst/>
            </a:prstGeom>
          </p:spPr>
        </p:pic>
        <p:pic>
          <p:nvPicPr>
            <p:cNvPr id="15" name="Image 4" descr=" 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6814979" y="5334107"/>
              <a:ext cx="823842" cy="823737"/>
            </a:xfrm>
            <a:prstGeom prst="rect">
              <a:avLst/>
            </a:prstGeom>
          </p:spPr>
        </p:pic>
      </p:grpSp>
      <p:sp>
        <p:nvSpPr>
          <p:cNvPr id="16" name="Text 0"/>
          <p:cNvSpPr/>
          <p:nvPr/>
        </p:nvSpPr>
        <p:spPr>
          <a:xfrm>
            <a:off x="936688" y="5625244"/>
            <a:ext cx="3587686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100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[</a:t>
            </a:r>
            <a:r>
              <a:rPr lang="ko-KR" altLang="en-US" sz="1600">
                <a:solidFill>
                  <a:srgbClr val="FFFFFF">
                    <a:alpha val="100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한국어</a:t>
            </a:r>
            <a:r>
              <a:rPr lang="en-US" altLang="ko-KR" sz="1600" dirty="0">
                <a:solidFill>
                  <a:srgbClr val="FFFFFF">
                    <a:alpha val="100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] </a:t>
            </a:r>
            <a:r>
              <a:rPr lang="en-US" sz="1600" dirty="0">
                <a:solidFill>
                  <a:srgbClr val="FFFFFF">
                    <a:alpha val="100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Version 1.0_2025 July 25</a:t>
            </a:r>
            <a:endParaRPr lang="en-US" sz="1400" dirty="0">
              <a:solidFill>
                <a:prstClr val="black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0"/>
          <p:cNvSpPr/>
          <p:nvPr/>
        </p:nvSpPr>
        <p:spPr>
          <a:xfrm>
            <a:off x="936688" y="3110645"/>
            <a:ext cx="5640575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>
                <a:solidFill>
                  <a:srgbClr val="FFFFFF">
                    <a:alpha val="100000"/>
                  </a:srgb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QNED70 vs. Q7F (vs.UA75!!)</a:t>
            </a:r>
            <a:endParaRPr lang="en-US" sz="3600" dirty="0">
              <a:solidFill>
                <a:prstClr val="black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404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0"/>
          <p:cNvSpPr txBox="1">
            <a:spLocks noChangeArrowheads="1"/>
          </p:cNvSpPr>
          <p:nvPr/>
        </p:nvSpPr>
        <p:spPr bwMode="auto">
          <a:xfrm>
            <a:off x="3569902" y="1265264"/>
            <a:ext cx="5052196" cy="646331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708688">
                <a:alpha val="50000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>
              <a:lnSpc>
                <a:spcPct val="90000"/>
              </a:lnSpc>
              <a:spcBef>
                <a:spcPts val="300"/>
              </a:spcBef>
            </a:pPr>
            <a:r>
              <a:rPr lang="en-US" altLang="ko-KR" sz="4000" b="0" u="sng" dirty="0">
                <a:solidFill>
                  <a:srgbClr val="C91452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Confidentiality Request</a:t>
            </a:r>
            <a:endParaRPr lang="ko-KR" altLang="en-US" sz="4000" b="0" u="sng" dirty="0">
              <a:solidFill>
                <a:srgbClr val="C91452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" name="TextBox 10"/>
          <p:cNvSpPr txBox="1">
            <a:spLocks noChangeArrowheads="1"/>
          </p:cNvSpPr>
          <p:nvPr/>
        </p:nvSpPr>
        <p:spPr bwMode="auto">
          <a:xfrm>
            <a:off x="1498076" y="2240310"/>
            <a:ext cx="9195849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>
            <a:spAutoFit/>
          </a:bodyPr>
          <a:lstStyle>
            <a:lvl1pPr marL="342900" indent="-3429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ko-KR" sz="2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This material was developed for educational purposes only for LGE employees </a:t>
            </a:r>
            <a:br>
              <a:rPr lang="en-US" altLang="ko-KR" sz="2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2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and contains confidential information and contents that may cause copyright issues. </a:t>
            </a:r>
          </a:p>
          <a:p>
            <a:pPr algn="ctr">
              <a:lnSpc>
                <a:spcPct val="150000"/>
              </a:lnSpc>
            </a:pPr>
            <a:r>
              <a:rPr lang="en-US" altLang="ko-KR" sz="2000" b="0" dirty="0">
                <a:solidFill>
                  <a:srgbClr val="C91452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Do not share this material externally or show directly to customers.</a:t>
            </a:r>
          </a:p>
          <a:p>
            <a:pPr algn="ctr">
              <a:lnSpc>
                <a:spcPct val="150000"/>
              </a:lnSpc>
            </a:pPr>
            <a:r>
              <a:rPr lang="en-US" altLang="ko-KR" sz="2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The images and videos used in this material have no rights to use externally in any case.</a:t>
            </a:r>
          </a:p>
          <a:p>
            <a:pPr algn="ctr">
              <a:lnSpc>
                <a:spcPct val="150000"/>
              </a:lnSpc>
            </a:pPr>
            <a:endParaRPr lang="en-US" altLang="ko-KR" sz="20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For additional questions regarding this document please contact MS Marketing Strategy Team. </a:t>
            </a:r>
          </a:p>
          <a:p>
            <a:pPr algn="ctr">
              <a:lnSpc>
                <a:spcPct val="150000"/>
              </a:lnSpc>
            </a:pPr>
            <a:r>
              <a:rPr lang="en-US" altLang="ko-KR" sz="2000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Contact : Mina Yun (mina.yun@lge.com), </a:t>
            </a:r>
          </a:p>
        </p:txBody>
      </p:sp>
    </p:spTree>
    <p:extLst>
      <p:ext uri="{BB962C8B-B14F-4D97-AF65-F5344CB8AC3E}">
        <p14:creationId xmlns:p14="http://schemas.microsoft.com/office/powerpoint/2010/main" val="2436823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4526884" y="1014375"/>
            <a:ext cx="7164574" cy="5341659"/>
            <a:chOff x="4518464" y="1322841"/>
            <a:chExt cx="7164574" cy="5341659"/>
          </a:xfrm>
        </p:grpSpPr>
        <p:sp>
          <p:nvSpPr>
            <p:cNvPr id="10" name="자유형 9"/>
            <p:cNvSpPr/>
            <p:nvPr/>
          </p:nvSpPr>
          <p:spPr>
            <a:xfrm rot="21401792">
              <a:off x="4518464" y="3133749"/>
              <a:ext cx="1171631" cy="3530751"/>
            </a:xfrm>
            <a:custGeom>
              <a:avLst/>
              <a:gdLst>
                <a:gd name="connsiteX0" fmla="*/ 685800 w 747346"/>
                <a:gd name="connsiteY0" fmla="*/ 0 h 5178669"/>
                <a:gd name="connsiteX1" fmla="*/ 26377 w 747346"/>
                <a:gd name="connsiteY1" fmla="*/ 4466492 h 5178669"/>
                <a:gd name="connsiteX2" fmla="*/ 26377 w 747346"/>
                <a:gd name="connsiteY2" fmla="*/ 4466492 h 5178669"/>
                <a:gd name="connsiteX3" fmla="*/ 0 w 747346"/>
                <a:gd name="connsiteY3" fmla="*/ 5161085 h 5178669"/>
                <a:gd name="connsiteX4" fmla="*/ 738554 w 747346"/>
                <a:gd name="connsiteY4" fmla="*/ 5178669 h 5178669"/>
                <a:gd name="connsiteX5" fmla="*/ 747346 w 747346"/>
                <a:gd name="connsiteY5" fmla="*/ 17585 h 5178669"/>
                <a:gd name="connsiteX6" fmla="*/ 685800 w 747346"/>
                <a:gd name="connsiteY6" fmla="*/ 0 h 5178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7346" h="5178669">
                  <a:moveTo>
                    <a:pt x="685800" y="0"/>
                  </a:moveTo>
                  <a:lnTo>
                    <a:pt x="26377" y="4466492"/>
                  </a:lnTo>
                  <a:lnTo>
                    <a:pt x="26377" y="4466492"/>
                  </a:lnTo>
                  <a:lnTo>
                    <a:pt x="0" y="5161085"/>
                  </a:lnTo>
                  <a:lnTo>
                    <a:pt x="738554" y="5178669"/>
                  </a:lnTo>
                  <a:cubicBezTo>
                    <a:pt x="741485" y="3458308"/>
                    <a:pt x="744415" y="1737946"/>
                    <a:pt x="747346" y="17585"/>
                  </a:cubicBezTo>
                  <a:lnTo>
                    <a:pt x="685800" y="0"/>
                  </a:lnTo>
                  <a:close/>
                </a:path>
              </a:pathLst>
            </a:custGeom>
            <a:solidFill>
              <a:srgbClr val="E6E1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5446618" y="1322841"/>
              <a:ext cx="6236420" cy="5320083"/>
            </a:xfrm>
            <a:prstGeom prst="rect">
              <a:avLst/>
            </a:prstGeom>
            <a:solidFill>
              <a:srgbClr val="E6E1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98" name="모서리가 둥근 직사각형 97"/>
          <p:cNvSpPr/>
          <p:nvPr/>
        </p:nvSpPr>
        <p:spPr>
          <a:xfrm>
            <a:off x="6156402" y="3107965"/>
            <a:ext cx="5110124" cy="3153094"/>
          </a:xfrm>
          <a:prstGeom prst="roundRect">
            <a:avLst>
              <a:gd name="adj" fmla="val 1581"/>
            </a:avLst>
          </a:prstGeom>
          <a:solidFill>
            <a:schemeClr val="bg1"/>
          </a:solidFill>
          <a:ln w="6350">
            <a:solidFill>
              <a:srgbClr val="EFEB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3864909" y="-17092"/>
            <a:ext cx="4462183" cy="468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altLang="ko-KR" sz="32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1. The Truth About Q7F</a:t>
            </a:r>
            <a:endParaRPr lang="en-US" altLang="ko-KR" sz="3200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50" y="119596"/>
            <a:ext cx="1681871" cy="3103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ts val="1700"/>
              </a:lnSpc>
            </a:pPr>
            <a:r>
              <a:rPr lang="en-US" altLang="ko-KR" b="1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QNED70 vs. Q7F</a:t>
            </a:r>
            <a:endParaRPr lang="ko-KR" altLang="en-US" b="1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477672" y="908239"/>
            <a:ext cx="4712148" cy="252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제품 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Specification</a:t>
            </a:r>
          </a:p>
        </p:txBody>
      </p:sp>
      <p:grpSp>
        <p:nvGrpSpPr>
          <p:cNvPr id="99" name="그룹 98"/>
          <p:cNvGrpSpPr/>
          <p:nvPr/>
        </p:nvGrpSpPr>
        <p:grpSpPr>
          <a:xfrm>
            <a:off x="2083774" y="919926"/>
            <a:ext cx="180000" cy="215444"/>
            <a:chOff x="2718491" y="-561670"/>
            <a:chExt cx="156294" cy="215444"/>
          </a:xfrm>
        </p:grpSpPr>
        <p:sp>
          <p:nvSpPr>
            <p:cNvPr id="100" name="타원 99"/>
            <p:cNvSpPr/>
            <p:nvPr/>
          </p:nvSpPr>
          <p:spPr>
            <a:xfrm>
              <a:off x="2718491" y="-543948"/>
              <a:ext cx="156294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2752754" y="-561670"/>
              <a:ext cx="9186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</a:t>
              </a:r>
              <a:endParaRPr lang="ko-KR" altLang="en-US" sz="14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96" name="TextBox 95"/>
          <p:cNvSpPr txBox="1"/>
          <p:nvPr/>
        </p:nvSpPr>
        <p:spPr>
          <a:xfrm>
            <a:off x="5455038" y="908239"/>
            <a:ext cx="6228000" cy="252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실제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Performance</a:t>
            </a:r>
            <a:endParaRPr lang="en-US" altLang="ko-KR" sz="1200" b="1" dirty="0">
              <a:solidFill>
                <a:srgbClr val="006D00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grpSp>
        <p:nvGrpSpPr>
          <p:cNvPr id="102" name="그룹 101"/>
          <p:cNvGrpSpPr/>
          <p:nvPr/>
        </p:nvGrpSpPr>
        <p:grpSpPr>
          <a:xfrm>
            <a:off x="7825153" y="919926"/>
            <a:ext cx="180000" cy="215444"/>
            <a:chOff x="2848423" y="-561670"/>
            <a:chExt cx="120305" cy="215444"/>
          </a:xfrm>
        </p:grpSpPr>
        <p:sp>
          <p:nvSpPr>
            <p:cNvPr id="103" name="타원 102"/>
            <p:cNvSpPr/>
            <p:nvPr/>
          </p:nvSpPr>
          <p:spPr>
            <a:xfrm>
              <a:off x="2848423" y="-543948"/>
              <a:ext cx="120305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2864699" y="-561670"/>
              <a:ext cx="7071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B</a:t>
              </a:r>
              <a:endParaRPr lang="ko-KR" altLang="en-US" sz="14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125" name="모서리가 둥근 직사각형 124"/>
          <p:cNvSpPr/>
          <p:nvPr/>
        </p:nvSpPr>
        <p:spPr>
          <a:xfrm>
            <a:off x="5517442" y="3130011"/>
            <a:ext cx="576000" cy="936000"/>
          </a:xfrm>
          <a:prstGeom prst="roundRect">
            <a:avLst>
              <a:gd name="adj" fmla="val 9925"/>
            </a:avLst>
          </a:prstGeom>
          <a:solidFill>
            <a:schemeClr val="bg1">
              <a:alpha val="79000"/>
            </a:schemeClr>
          </a:solidFill>
          <a:ln w="952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Upscale</a:t>
            </a:r>
            <a:endParaRPr lang="ko-KR" altLang="en-US" sz="90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6" name="모서리가 둥근 직사각형 125"/>
          <p:cNvSpPr/>
          <p:nvPr/>
        </p:nvSpPr>
        <p:spPr>
          <a:xfrm>
            <a:off x="5517442" y="4209169"/>
            <a:ext cx="576000" cy="936000"/>
          </a:xfrm>
          <a:prstGeom prst="roundRect">
            <a:avLst>
              <a:gd name="adj" fmla="val 9925"/>
            </a:avLst>
          </a:prstGeom>
          <a:solidFill>
            <a:schemeClr val="bg1">
              <a:alpha val="79000"/>
            </a:schemeClr>
          </a:solidFill>
          <a:ln w="952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Color</a:t>
            </a:r>
            <a:endParaRPr lang="ko-KR" altLang="en-US" sz="105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28" name="직선 연결선 127"/>
          <p:cNvCxnSpPr/>
          <p:nvPr/>
        </p:nvCxnSpPr>
        <p:spPr>
          <a:xfrm>
            <a:off x="5506526" y="4137220"/>
            <a:ext cx="576000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/>
          <p:cNvCxnSpPr/>
          <p:nvPr/>
        </p:nvCxnSpPr>
        <p:spPr>
          <a:xfrm>
            <a:off x="5506526" y="5207989"/>
            <a:ext cx="576000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0467" y="1305010"/>
            <a:ext cx="4070532" cy="4985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Q7F</a:t>
            </a:r>
            <a:r>
              <a:rPr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는 프리미엄 브랜드인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QLED </a:t>
            </a:r>
            <a:r>
              <a:rPr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제품으로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b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자사 프리미엄 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LCD TV </a:t>
            </a:r>
            <a:r>
              <a:rPr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브랜드인 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QNED70</a:t>
            </a:r>
            <a:r>
              <a:rPr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의 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ATA </a:t>
            </a:r>
            <a:r>
              <a:rPr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모델임</a:t>
            </a:r>
            <a:endParaRPr lang="it-IT" altLang="ko-KR" sz="12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80466" y="1830910"/>
            <a:ext cx="4379722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제품 스펙 적으로는 두 제품 대동소이하고 가격대 또한 동일함</a:t>
            </a:r>
            <a:endParaRPr lang="it-IT" altLang="ko-KR" sz="12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33" name="직선 연결선 32"/>
          <p:cNvCxnSpPr/>
          <p:nvPr/>
        </p:nvCxnSpPr>
        <p:spPr>
          <a:xfrm>
            <a:off x="5506526" y="3079162"/>
            <a:ext cx="576000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212368"/>
              </p:ext>
            </p:extLst>
          </p:nvPr>
        </p:nvGraphicFramePr>
        <p:xfrm>
          <a:off x="558951" y="2332620"/>
          <a:ext cx="4285957" cy="2598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9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849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Specification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C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QNED70A</a:t>
                      </a:r>
                      <a:endParaRPr lang="ko-KR" altLang="en-US" sz="1400">
                        <a:solidFill>
                          <a:srgbClr val="C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Q7F</a:t>
                      </a:r>
                      <a:endParaRPr lang="ko-KR" altLang="en-US" sz="1400">
                        <a:solidFill>
                          <a:srgbClr val="0070C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dirty="0">
                          <a:solidFill>
                            <a:srgbClr val="C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UA75</a:t>
                      </a:r>
                      <a:endParaRPr lang="ko-KR" altLang="en-US" sz="1200" b="1" i="0">
                        <a:solidFill>
                          <a:srgbClr val="C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4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Color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Gamut</a:t>
                      </a:r>
                      <a:b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(DCI-P3 </a:t>
                      </a:r>
                      <a:br>
                        <a:rPr lang="en-US" altLang="ko-KR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Coverage)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93% 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이상</a:t>
                      </a:r>
                      <a:endParaRPr lang="ko-KR" altLang="en-US" sz="1400" b="1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QNED70 </a:t>
                      </a:r>
                      <a:b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동등 또는 열위</a:t>
                      </a: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T="18000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90% </a:t>
                      </a:r>
                      <a:r>
                        <a:rPr lang="ko-KR" altLang="en-US" sz="1200" b="0" i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이하</a:t>
                      </a:r>
                      <a:endParaRPr lang="ko-KR" altLang="en-US" sz="1200" b="0" i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44000" marT="10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34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Brightness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APL</a:t>
                      </a:r>
                      <a:b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10%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/ 100%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/ 300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/ 300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/ 300</a:t>
                      </a:r>
                      <a:endParaRPr lang="ko-KR" altLang="en-US" sz="1200" b="0" i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34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Price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$ (USD)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$899.00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$899.99 </a:t>
                      </a:r>
                      <a:br>
                        <a:rPr lang="en-US" altLang="ko-KR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i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(999.99)</a:t>
                      </a:r>
                      <a:endParaRPr lang="ko-KR" altLang="en-US" sz="1100" i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$628</a:t>
                      </a:r>
                      <a:r>
                        <a:rPr lang="en-US" altLang="ko-KR" sz="1200" b="0" i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br>
                        <a:rPr lang="en-US" altLang="ko-KR" sz="1200" b="0" i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b="0" i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(Walmart)</a:t>
                      </a:r>
                      <a:endParaRPr lang="ko-KR" altLang="en-US" sz="1200" b="0" i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479612" y="4913569"/>
            <a:ext cx="4338059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it-IT" altLang="ko-KR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* LG internal measuement data </a:t>
            </a:r>
            <a:r>
              <a:rPr lang="en-US" altLang="ko-KR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by</a:t>
            </a:r>
            <a:r>
              <a:rPr lang="ko-KR" altLang="en-US" sz="1100" i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image quality team</a:t>
            </a:r>
            <a:r>
              <a:rPr lang="it-IT" altLang="ko-KR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</a:t>
            </a:r>
            <a:br>
              <a:rPr lang="it-IT" altLang="ko-KR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it-IT" altLang="ko-KR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Specific numbers n</a:t>
            </a:r>
            <a:r>
              <a:rPr lang="en-US" altLang="ko-KR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ot to be used for anything other than LGE internal training!! </a:t>
            </a:r>
            <a:endParaRPr lang="it-IT" altLang="ko-KR" sz="1300" i="1" dirty="0">
              <a:solidFill>
                <a:schemeClr val="tx1">
                  <a:lumMod val="50000"/>
                  <a:lumOff val="50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왼쪽 대괄호 1"/>
          <p:cNvSpPr/>
          <p:nvPr/>
        </p:nvSpPr>
        <p:spPr>
          <a:xfrm rot="5400000">
            <a:off x="2739303" y="1598710"/>
            <a:ext cx="108000" cy="1368000"/>
          </a:xfrm>
          <a:prstGeom prst="leftBracket">
            <a:avLst/>
          </a:prstGeom>
          <a:ln>
            <a:solidFill>
              <a:srgbClr val="006D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569858" y="2129732"/>
            <a:ext cx="467954" cy="169277"/>
          </a:xfrm>
          <a:prstGeom prst="rect">
            <a:avLst/>
          </a:prstGeom>
          <a:solidFill>
            <a:srgbClr val="F6F3F1"/>
          </a:solidFill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it-IT" altLang="ko-KR" sz="1100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ATA </a:t>
            </a:r>
            <a:endParaRPr lang="it-IT" altLang="ko-KR" sz="1300" dirty="0">
              <a:solidFill>
                <a:srgbClr val="006D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677730" y="2127973"/>
            <a:ext cx="1299786" cy="169277"/>
          </a:xfrm>
          <a:prstGeom prst="rect">
            <a:avLst/>
          </a:prstGeom>
          <a:solidFill>
            <a:srgbClr val="F6F3F1"/>
          </a:solidFill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it-IT" altLang="ko-KR" sz="1100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Step down price point</a:t>
            </a:r>
            <a:endParaRPr lang="it-IT" altLang="ko-KR" sz="1300" dirty="0">
              <a:solidFill>
                <a:srgbClr val="006D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2549" y="4296149"/>
            <a:ext cx="808698" cy="1692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it-IT" altLang="ko-KR" sz="1100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*75 inch</a:t>
            </a:r>
            <a:endParaRPr lang="it-IT" altLang="ko-KR" sz="1300" dirty="0">
              <a:solidFill>
                <a:srgbClr val="006D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94514" y="3368757"/>
            <a:ext cx="218376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it-IT" altLang="ko-KR" sz="14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*</a:t>
            </a:r>
            <a:endParaRPr lang="it-IT" altLang="ko-KR" sz="1600" b="1" dirty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94514" y="2697050"/>
            <a:ext cx="218376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it-IT" altLang="ko-KR" sz="14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*</a:t>
            </a:r>
            <a:endParaRPr lang="it-IT" altLang="ko-KR" sz="1600" b="1" dirty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2654546" y="3679158"/>
            <a:ext cx="235511" cy="235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=</a:t>
            </a:r>
            <a:endParaRPr lang="ko-KR" altLang="en-US" b="1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2654546" y="4431870"/>
            <a:ext cx="235511" cy="235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=</a:t>
            </a:r>
            <a:endParaRPr lang="ko-KR" altLang="en-US" b="1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5517442" y="1198248"/>
            <a:ext cx="576000" cy="1806579"/>
          </a:xfrm>
          <a:prstGeom prst="roundRect">
            <a:avLst>
              <a:gd name="adj" fmla="val 9925"/>
            </a:avLst>
          </a:prstGeom>
          <a:solidFill>
            <a:srgbClr val="EFEBE7"/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한눈에</a:t>
            </a:r>
            <a:br>
              <a:rPr lang="en-US" altLang="ko-KR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보기</a:t>
            </a:r>
            <a:endParaRPr lang="ko-KR" altLang="en-US" sz="90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" name="실행 단추: 앞으로 또는 다음 8">
            <a:hlinkClick r:id="rId3" action="ppaction://hlinksldjump" highlightClick="1"/>
          </p:cNvPr>
          <p:cNvSpPr/>
          <p:nvPr/>
        </p:nvSpPr>
        <p:spPr>
          <a:xfrm>
            <a:off x="11363750" y="3772120"/>
            <a:ext cx="213064" cy="213064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8" name="실행 단추: 앞으로 또는 다음 47">
            <a:hlinkClick r:id="rId4" action="ppaction://hlinksldjump" highlightClick="1"/>
          </p:cNvPr>
          <p:cNvSpPr/>
          <p:nvPr/>
        </p:nvSpPr>
        <p:spPr>
          <a:xfrm>
            <a:off x="11363750" y="5955101"/>
            <a:ext cx="213064" cy="213064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9" name="실행 단추: 앞으로 또는 다음 48">
            <a:hlinkClick r:id="rId5" action="ppaction://hlinksldjump" highlightClick="1"/>
          </p:cNvPr>
          <p:cNvSpPr/>
          <p:nvPr/>
        </p:nvSpPr>
        <p:spPr>
          <a:xfrm>
            <a:off x="11363750" y="4888368"/>
            <a:ext cx="213064" cy="213064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4079"/>
              </p:ext>
            </p:extLst>
          </p:nvPr>
        </p:nvGraphicFramePr>
        <p:xfrm>
          <a:off x="6418583" y="1799284"/>
          <a:ext cx="4958173" cy="1031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1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27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58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Processing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solidFill>
                            <a:srgbClr val="C00000"/>
                          </a:solidFill>
                          <a:latin typeface="Arial Narrow" panose="020B0606020202030204" pitchFamily="34" charset="0"/>
                        </a:rPr>
                        <a:t>QNED70A </a:t>
                      </a:r>
                      <a:endParaRPr lang="ko-KR" altLang="en-US" sz="1100">
                        <a:solidFill>
                          <a:srgbClr val="C0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28800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solidFill>
                            <a:srgbClr val="0070C0"/>
                          </a:solidFill>
                          <a:latin typeface="Arial Narrow" panose="020B0606020202030204" pitchFamily="34" charset="0"/>
                        </a:rPr>
                        <a:t>Q7F</a:t>
                      </a:r>
                      <a:endParaRPr lang="ko-KR" altLang="en-US" sz="1100">
                        <a:solidFill>
                          <a:srgbClr val="0070C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50400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i="0" dirty="0">
                          <a:solidFill>
                            <a:srgbClr val="C00000"/>
                          </a:solidFill>
                          <a:latin typeface="Arial Narrow" panose="020B0606020202030204" pitchFamily="34" charset="0"/>
                        </a:rPr>
                        <a:t>UA75</a:t>
                      </a:r>
                      <a:endParaRPr lang="ko-KR" altLang="en-US" sz="1100" b="0" i="0">
                        <a:solidFill>
                          <a:srgbClr val="C0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46800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55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Upscale /</a:t>
                      </a:r>
                      <a:b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</a:br>
                      <a: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Color /</a:t>
                      </a:r>
                      <a:b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</a:b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Tone</a:t>
                      </a:r>
                      <a: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 Mapping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4K</a:t>
                      </a:r>
                      <a: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 Super Upscaling /</a:t>
                      </a:r>
                      <a:b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</a:br>
                      <a: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Dynamic QNED Color /</a:t>
                      </a:r>
                      <a:b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</a:br>
                      <a: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Dynamic Tone Mapping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4K Upscaling /</a:t>
                      </a:r>
                      <a:br>
                        <a:rPr lang="en-US" altLang="ko-KR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</a:b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Color Booster Pro /</a:t>
                      </a:r>
                      <a:br>
                        <a:rPr lang="en-US" altLang="ko-KR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</a:b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Supreme UHD Dimming</a:t>
                      </a:r>
                      <a:endParaRPr lang="ko-KR" altLang="en-US" sz="1100" b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4K</a:t>
                      </a: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 Super Upscaling /</a:t>
                      </a:r>
                      <a:br>
                        <a:rPr lang="en-US" altLang="ko-KR" sz="1100" b="0" i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</a:b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4K Expression Enhancer /</a:t>
                      </a:r>
                      <a:br>
                        <a:rPr lang="en-US" altLang="ko-KR" sz="1100" b="0" i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</a:br>
                      <a:r>
                        <a:rPr lang="en-US" altLang="ko-KR" sz="1100" b="0" i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Dynamic Tone Mapping</a:t>
                      </a:r>
                      <a:endParaRPr lang="ko-KR" altLang="en-US" sz="1100" b="0" i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6144210" y="1271601"/>
            <a:ext cx="5361327" cy="406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82563" indent="-182563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Vivid Mode</a:t>
            </a:r>
            <a:r>
              <a:rPr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에서 동일 컨텐트로 화질 비교 시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Q7F</a:t>
            </a:r>
            <a:r>
              <a:rPr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는 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QNED70</a:t>
            </a:r>
            <a:r>
              <a:rPr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대비 화질 성능이 현저히 </a:t>
            </a:r>
            <a:b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떨어질 뿐 아니라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심지어 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UA75</a:t>
            </a:r>
            <a:r>
              <a:rPr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에도 뒤쳐지는데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이는 화질 프로세싱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수준차 때문임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endParaRPr lang="it-IT" altLang="ko-KR" sz="12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2" name="타원 51"/>
          <p:cNvSpPr/>
          <p:nvPr/>
        </p:nvSpPr>
        <p:spPr>
          <a:xfrm>
            <a:off x="8458661" y="1827309"/>
            <a:ext cx="235511" cy="235511"/>
          </a:xfrm>
          <a:prstGeom prst="ellipse">
            <a:avLst/>
          </a:prstGeom>
          <a:solidFill>
            <a:srgbClr val="006D00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&gt;</a:t>
            </a:r>
            <a:endParaRPr lang="ko-KR" altLang="en-US" b="1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9794894" y="1827309"/>
            <a:ext cx="235511" cy="235511"/>
          </a:xfrm>
          <a:prstGeom prst="ellipse">
            <a:avLst/>
          </a:prstGeom>
          <a:solidFill>
            <a:srgbClr val="006D00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&lt;</a:t>
            </a:r>
            <a:endParaRPr lang="ko-KR" altLang="en-US" b="1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>
          <a:blip r:embed="rId6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15146" y="1824424"/>
            <a:ext cx="226229" cy="229603"/>
          </a:xfrm>
          <a:prstGeom prst="rect">
            <a:avLst/>
          </a:prstGeom>
        </p:spPr>
      </p:pic>
      <p:pic>
        <p:nvPicPr>
          <p:cNvPr id="56" name="그림 55"/>
          <p:cNvPicPr>
            <a:picLocks noChangeAspect="1"/>
          </p:cNvPicPr>
          <p:nvPr/>
        </p:nvPicPr>
        <p:blipFill>
          <a:blip r:embed="rId7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5182" y="1815044"/>
            <a:ext cx="231791" cy="229603"/>
          </a:xfrm>
          <a:prstGeom prst="rect">
            <a:avLst/>
          </a:prstGeom>
        </p:spPr>
      </p:pic>
      <p:pic>
        <p:nvPicPr>
          <p:cNvPr id="57" name="그림 56"/>
          <p:cNvPicPr>
            <a:picLocks noChangeAspect="1"/>
          </p:cNvPicPr>
          <p:nvPr/>
        </p:nvPicPr>
        <p:blipFill>
          <a:blip r:embed="rId8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45782" y="1809416"/>
            <a:ext cx="271275" cy="262404"/>
          </a:xfrm>
          <a:prstGeom prst="rect">
            <a:avLst/>
          </a:prstGeom>
        </p:spPr>
      </p:pic>
      <p:pic>
        <p:nvPicPr>
          <p:cNvPr id="58" name="그림 57"/>
          <p:cNvPicPr>
            <a:picLocks noChangeAspect="1"/>
          </p:cNvPicPr>
          <p:nvPr/>
        </p:nvPicPr>
        <p:blipFill>
          <a:blip r:embed="rId9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4776" y="3156477"/>
            <a:ext cx="212946" cy="216122"/>
          </a:xfrm>
          <a:prstGeom prst="rect">
            <a:avLst/>
          </a:prstGeom>
        </p:spPr>
      </p:pic>
      <p:pic>
        <p:nvPicPr>
          <p:cNvPr id="59" name="그림 58"/>
          <p:cNvPicPr>
            <a:picLocks noChangeAspect="1"/>
          </p:cNvPicPr>
          <p:nvPr/>
        </p:nvPicPr>
        <p:blipFill>
          <a:blip r:embed="rId10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19106" y="3471889"/>
            <a:ext cx="218182" cy="216124"/>
          </a:xfrm>
          <a:prstGeom prst="rect">
            <a:avLst/>
          </a:prstGeom>
        </p:spPr>
      </p:pic>
      <p:pic>
        <p:nvPicPr>
          <p:cNvPr id="60" name="그림 59"/>
          <p:cNvPicPr>
            <a:picLocks noChangeAspect="1"/>
          </p:cNvPicPr>
          <p:nvPr/>
        </p:nvPicPr>
        <p:blipFill>
          <a:blip r:embed="rId11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0996" y="3781930"/>
            <a:ext cx="255348" cy="246998"/>
          </a:xfrm>
          <a:prstGeom prst="rect">
            <a:avLst/>
          </a:prstGeom>
        </p:spPr>
      </p:pic>
      <p:pic>
        <p:nvPicPr>
          <p:cNvPr id="61" name="그림 60"/>
          <p:cNvPicPr>
            <a:picLocks noChangeAspect="1"/>
          </p:cNvPicPr>
          <p:nvPr/>
        </p:nvPicPr>
        <p:blipFill>
          <a:blip r:embed="rId9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4776" y="4261411"/>
            <a:ext cx="212946" cy="216122"/>
          </a:xfrm>
          <a:prstGeom prst="rect">
            <a:avLst/>
          </a:prstGeom>
        </p:spPr>
      </p:pic>
      <p:pic>
        <p:nvPicPr>
          <p:cNvPr id="62" name="그림 61"/>
          <p:cNvPicPr>
            <a:picLocks noChangeAspect="1"/>
          </p:cNvPicPr>
          <p:nvPr/>
        </p:nvPicPr>
        <p:blipFill>
          <a:blip r:embed="rId10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19106" y="4576823"/>
            <a:ext cx="218182" cy="216124"/>
          </a:xfrm>
          <a:prstGeom prst="rect">
            <a:avLst/>
          </a:prstGeom>
        </p:spPr>
      </p:pic>
      <p:pic>
        <p:nvPicPr>
          <p:cNvPr id="63" name="그림 62"/>
          <p:cNvPicPr>
            <a:picLocks noChangeAspect="1"/>
          </p:cNvPicPr>
          <p:nvPr/>
        </p:nvPicPr>
        <p:blipFill>
          <a:blip r:embed="rId11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0996" y="4869280"/>
            <a:ext cx="255348" cy="246998"/>
          </a:xfrm>
          <a:prstGeom prst="rect">
            <a:avLst/>
          </a:prstGeom>
        </p:spPr>
      </p:pic>
      <p:pic>
        <p:nvPicPr>
          <p:cNvPr id="64" name="그림 63"/>
          <p:cNvPicPr>
            <a:picLocks noChangeAspect="1"/>
          </p:cNvPicPr>
          <p:nvPr/>
        </p:nvPicPr>
        <p:blipFill>
          <a:blip r:embed="rId9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4776" y="5307077"/>
            <a:ext cx="212946" cy="216122"/>
          </a:xfrm>
          <a:prstGeom prst="rect">
            <a:avLst/>
          </a:prstGeom>
        </p:spPr>
      </p:pic>
      <p:pic>
        <p:nvPicPr>
          <p:cNvPr id="65" name="그림 64"/>
          <p:cNvPicPr>
            <a:picLocks noChangeAspect="1"/>
          </p:cNvPicPr>
          <p:nvPr/>
        </p:nvPicPr>
        <p:blipFill>
          <a:blip r:embed="rId10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19106" y="5622489"/>
            <a:ext cx="218182" cy="216124"/>
          </a:xfrm>
          <a:prstGeom prst="rect">
            <a:avLst/>
          </a:prstGeom>
        </p:spPr>
      </p:pic>
      <p:pic>
        <p:nvPicPr>
          <p:cNvPr id="66" name="그림 65"/>
          <p:cNvPicPr>
            <a:picLocks noChangeAspect="1"/>
          </p:cNvPicPr>
          <p:nvPr/>
        </p:nvPicPr>
        <p:blipFill>
          <a:blip r:embed="rId11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0996" y="5923738"/>
            <a:ext cx="255348" cy="24699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521498" y="3186792"/>
            <a:ext cx="468000" cy="170259"/>
          </a:xfrm>
          <a:prstGeom prst="roundRect">
            <a:avLst/>
          </a:prstGeom>
          <a:solidFill>
            <a:srgbClr val="C00000">
              <a:alpha val="10000"/>
            </a:srgbClr>
          </a:solidFill>
          <a:ln w="9525">
            <a:solidFill>
              <a:srgbClr val="C00000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QNED70</a:t>
            </a:r>
            <a:endParaRPr lang="ko-KR" altLang="en-US" sz="1000" b="1">
              <a:solidFill>
                <a:srgbClr val="C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521498" y="3822880"/>
            <a:ext cx="468000" cy="170259"/>
          </a:xfrm>
          <a:prstGeom prst="roundRect">
            <a:avLst/>
          </a:prstGeom>
          <a:solidFill>
            <a:srgbClr val="0070C0">
              <a:alpha val="10000"/>
            </a:srgbClr>
          </a:solidFill>
          <a:ln w="9525">
            <a:solidFill>
              <a:srgbClr val="0070C0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70C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Q7F</a:t>
            </a:r>
            <a:endParaRPr lang="ko-KR" altLang="en-US" sz="1000" b="1">
              <a:solidFill>
                <a:srgbClr val="0070C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521498" y="3504836"/>
            <a:ext cx="468000" cy="170259"/>
          </a:xfrm>
          <a:prstGeom prst="roundRect">
            <a:avLst/>
          </a:prstGeom>
          <a:solidFill>
            <a:srgbClr val="C00000">
              <a:alpha val="10000"/>
            </a:srgbClr>
          </a:solidFill>
          <a:ln w="9525">
            <a:solidFill>
              <a:srgbClr val="C00000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UA75</a:t>
            </a:r>
            <a:endParaRPr lang="ko-KR" altLang="en-US" sz="1000" b="1">
              <a:solidFill>
                <a:srgbClr val="C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521498" y="4263214"/>
            <a:ext cx="468000" cy="170259"/>
          </a:xfrm>
          <a:prstGeom prst="roundRect">
            <a:avLst/>
          </a:prstGeom>
          <a:solidFill>
            <a:srgbClr val="C00000">
              <a:alpha val="10000"/>
            </a:srgbClr>
          </a:solidFill>
          <a:ln w="9525">
            <a:solidFill>
              <a:srgbClr val="C00000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QNED70</a:t>
            </a:r>
            <a:endParaRPr lang="ko-KR" altLang="en-US" sz="1000" b="1">
              <a:solidFill>
                <a:srgbClr val="C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521498" y="4916886"/>
            <a:ext cx="468000" cy="170259"/>
          </a:xfrm>
          <a:prstGeom prst="roundRect">
            <a:avLst/>
          </a:prstGeom>
          <a:solidFill>
            <a:srgbClr val="0070C0">
              <a:alpha val="10000"/>
            </a:srgbClr>
          </a:solidFill>
          <a:ln w="9525">
            <a:solidFill>
              <a:srgbClr val="0070C0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70C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Q7F</a:t>
            </a:r>
            <a:endParaRPr lang="ko-KR" altLang="en-US" sz="1000" b="1">
              <a:solidFill>
                <a:srgbClr val="0070C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521498" y="4590049"/>
            <a:ext cx="468000" cy="170259"/>
          </a:xfrm>
          <a:prstGeom prst="roundRect">
            <a:avLst/>
          </a:prstGeom>
          <a:solidFill>
            <a:srgbClr val="C00000">
              <a:alpha val="10000"/>
            </a:srgbClr>
          </a:solidFill>
          <a:ln w="9525">
            <a:solidFill>
              <a:srgbClr val="C00000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UA75</a:t>
            </a:r>
            <a:endParaRPr lang="ko-KR" altLang="en-US" sz="1000" b="1">
              <a:solidFill>
                <a:srgbClr val="C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521498" y="5317672"/>
            <a:ext cx="468000" cy="170259"/>
          </a:xfrm>
          <a:prstGeom prst="roundRect">
            <a:avLst/>
          </a:prstGeom>
          <a:solidFill>
            <a:srgbClr val="C00000">
              <a:alpha val="10000"/>
            </a:srgbClr>
          </a:solidFill>
          <a:ln w="9525">
            <a:solidFill>
              <a:srgbClr val="C00000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QNED70</a:t>
            </a:r>
            <a:endParaRPr lang="ko-KR" altLang="en-US" sz="1000" b="1">
              <a:solidFill>
                <a:srgbClr val="C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521498" y="5962552"/>
            <a:ext cx="468000" cy="170259"/>
          </a:xfrm>
          <a:prstGeom prst="roundRect">
            <a:avLst/>
          </a:prstGeom>
          <a:solidFill>
            <a:srgbClr val="0070C0">
              <a:alpha val="10000"/>
            </a:srgbClr>
          </a:solidFill>
          <a:ln w="9525">
            <a:solidFill>
              <a:srgbClr val="0070C0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70C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Q7F</a:t>
            </a:r>
            <a:endParaRPr lang="ko-KR" altLang="en-US" sz="1000" b="1">
              <a:solidFill>
                <a:srgbClr val="0070C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521498" y="5640111"/>
            <a:ext cx="468000" cy="170259"/>
          </a:xfrm>
          <a:prstGeom prst="roundRect">
            <a:avLst/>
          </a:prstGeom>
          <a:solidFill>
            <a:srgbClr val="C00000">
              <a:alpha val="10000"/>
            </a:srgbClr>
          </a:solidFill>
          <a:ln w="9525">
            <a:solidFill>
              <a:srgbClr val="C00000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UA75</a:t>
            </a:r>
            <a:endParaRPr lang="ko-KR" altLang="en-US" sz="1000" b="1">
              <a:solidFill>
                <a:srgbClr val="C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128880" y="3269595"/>
            <a:ext cx="3944893" cy="33855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87313" indent="-87313">
              <a:buFont typeface="Wingdings" panose="05000000000000000000" pitchFamily="2" charset="2"/>
              <a:buChar char="§"/>
            </a:pPr>
            <a:r>
              <a:rPr lang="el-GR" altLang="ko-KR" sz="1100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α</a:t>
            </a:r>
            <a:r>
              <a:rPr lang="en-US" altLang="ko-KR" sz="1100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7 AI Processor</a:t>
            </a:r>
            <a:r>
              <a:rPr lang="ko-KR" altLang="en-US" sz="110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가 </a:t>
            </a:r>
            <a:r>
              <a:rPr lang="en-US" altLang="ko-KR" sz="1100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4K Super Upscaling</a:t>
            </a:r>
            <a:r>
              <a:rPr lang="ko-KR" altLang="en-US" sz="110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으로 밝은 곳은 더 밝게</a:t>
            </a:r>
            <a:r>
              <a:rPr lang="en-US" altLang="ko-KR" sz="1100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br>
              <a:rPr lang="en-US" altLang="ko-KR" sz="1100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ko-KR" altLang="en-US" sz="110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어두운 곳은 더 어둡게 프로세싱 하여 </a:t>
            </a:r>
            <a:r>
              <a:rPr lang="en-US" altLang="ko-KR" sz="1100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picture detail</a:t>
            </a:r>
            <a:r>
              <a:rPr lang="ko-KR" altLang="en-US" sz="110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을 확실하게 표현함   </a:t>
            </a:r>
            <a:endParaRPr lang="it-IT" altLang="ko-KR" sz="1100" dirty="0">
              <a:solidFill>
                <a:srgbClr val="006D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128880" y="3735978"/>
            <a:ext cx="3775924" cy="33855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87313" indent="-87313">
              <a:buFont typeface="Wingdings" panose="05000000000000000000" pitchFamily="2" charset="2"/>
              <a:buChar char="§"/>
            </a:pPr>
            <a:r>
              <a:rPr lang="en-US" altLang="ko-KR" sz="11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4K Upscaling </a:t>
            </a:r>
            <a:r>
              <a:rPr lang="ko-KR" altLang="en-US" sz="110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기능을 소구 중이나</a:t>
            </a:r>
            <a:r>
              <a:rPr lang="en-US" altLang="ko-KR" sz="11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10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정교한 프로세싱이 이루어지지 </a:t>
            </a:r>
            <a:br>
              <a:rPr lang="en-US" altLang="ko-KR" sz="11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ko-KR" altLang="en-US" sz="110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않아</a:t>
            </a:r>
            <a:r>
              <a:rPr lang="en-US" altLang="ko-KR" sz="11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picture detail</a:t>
            </a:r>
            <a:r>
              <a:rPr lang="ko-KR" altLang="en-US" sz="110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을 충분히 표현하지 못하여 디테일이 사라짐</a:t>
            </a:r>
            <a:endParaRPr lang="it-IT" altLang="ko-KR" sz="1100" dirty="0">
              <a:solidFill>
                <a:srgbClr val="FF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128880" y="4253598"/>
            <a:ext cx="3944893" cy="169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87313" indent="-87313">
              <a:buFont typeface="Wingdings" panose="05000000000000000000" pitchFamily="2" charset="2"/>
              <a:buChar char="§"/>
            </a:pPr>
            <a:r>
              <a:rPr lang="en-US" altLang="ko-KR" sz="1100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Dynamic QNED Color</a:t>
            </a:r>
            <a:r>
              <a:rPr lang="ko-KR" altLang="en-US" sz="110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가 보다 밝고 순도 높고 자연스러운 색을 표현함 </a:t>
            </a:r>
            <a:endParaRPr lang="it-IT" altLang="ko-KR" sz="1100" dirty="0">
              <a:solidFill>
                <a:srgbClr val="006D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7128879" y="4832745"/>
            <a:ext cx="4063317" cy="33855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87313" indent="-87313"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정교하지 못한 </a:t>
            </a:r>
            <a:r>
              <a:rPr lang="en-US" altLang="ko-KR" sz="11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Color Booster Pro</a:t>
            </a:r>
            <a:r>
              <a:rPr lang="ko-KR" altLang="en-US" sz="110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의</a:t>
            </a:r>
            <a:r>
              <a:rPr lang="en-US" altLang="ko-KR" sz="11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10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컬러 프로세싱</a:t>
            </a:r>
            <a:r>
              <a:rPr lang="en-US" altLang="ko-KR" sz="11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10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기술로</a:t>
            </a:r>
            <a:r>
              <a:rPr lang="en-US" altLang="ko-KR" sz="11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QNED70 </a:t>
            </a:r>
            <a:r>
              <a:rPr lang="ko-KR" altLang="en-US" sz="110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대비 색이 바래 보이는 경우가 많음 </a:t>
            </a:r>
            <a:r>
              <a:rPr lang="en-US" altLang="ko-KR" sz="11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(UA75</a:t>
            </a:r>
            <a:r>
              <a:rPr lang="ko-KR" altLang="en-US" sz="110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의 색이 더 좋아보이는 경우도 발생</a:t>
            </a:r>
            <a:r>
              <a:rPr lang="en-US" altLang="ko-KR" sz="11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endParaRPr lang="it-IT" altLang="ko-KR" sz="1100" dirty="0">
              <a:solidFill>
                <a:srgbClr val="FF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128880" y="4561638"/>
            <a:ext cx="4063317" cy="169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87313" indent="-87313">
              <a:buFont typeface="Wingdings" panose="05000000000000000000" pitchFamily="2" charset="2"/>
              <a:buChar char="§"/>
            </a:pPr>
            <a:r>
              <a:rPr lang="en-US" altLang="ko-KR" sz="1100" dirty="0">
                <a:solidFill>
                  <a:srgbClr val="F1734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4K Expression Enhancer</a:t>
            </a:r>
            <a:r>
              <a:rPr lang="ko-KR" altLang="en-US" sz="1100">
                <a:solidFill>
                  <a:srgbClr val="F1734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가 자연스러운 피부표현과 순도 높은 색을 구현함</a:t>
            </a:r>
            <a:endParaRPr lang="it-IT" altLang="ko-KR" sz="1100" dirty="0">
              <a:solidFill>
                <a:srgbClr val="F17341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7128880" y="5374136"/>
            <a:ext cx="4182034" cy="33855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87313" indent="-87313">
              <a:buFont typeface="Wingdings" panose="05000000000000000000" pitchFamily="2" charset="2"/>
              <a:buChar char="§"/>
            </a:pPr>
            <a:r>
              <a:rPr lang="en-US" altLang="ko-KR" sz="1100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Dynamic</a:t>
            </a:r>
            <a:r>
              <a:rPr lang="ko-KR" altLang="en-US" sz="110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1100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Tone Mapping</a:t>
            </a:r>
            <a:r>
              <a:rPr lang="ko-KR" altLang="en-US" sz="110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이 화면을 분석하여</a:t>
            </a:r>
            <a:r>
              <a:rPr lang="en-US" altLang="ko-KR" sz="1100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10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다양한 범위의 밝기와 색상을</a:t>
            </a:r>
            <a:br>
              <a:rPr lang="en-US" altLang="ko-KR" sz="1100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ko-KR" altLang="en-US" sz="110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세밀하게 표현하여 현실적인 색상 디테일과 선명한 밝기 디테일을 표현함  </a:t>
            </a:r>
            <a:endParaRPr lang="it-IT" altLang="ko-KR" sz="1100" dirty="0">
              <a:solidFill>
                <a:srgbClr val="006D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7128880" y="5873147"/>
            <a:ext cx="3775924" cy="33855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87313" indent="-87313">
              <a:buFont typeface="Wingdings" panose="05000000000000000000" pitchFamily="2" charset="2"/>
              <a:buChar char="§"/>
            </a:pPr>
            <a:r>
              <a:rPr lang="en-US" altLang="ko-KR" sz="11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Vivid Mode</a:t>
            </a:r>
            <a:r>
              <a:rPr lang="ko-KR" altLang="en-US" sz="110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에서 화면 전체 밝기를 높여 </a:t>
            </a:r>
            <a:r>
              <a:rPr lang="en-US" altLang="ko-KR" sz="11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“</a:t>
            </a:r>
            <a:r>
              <a:rPr lang="ko-KR" altLang="en-US" sz="110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쨍함</a:t>
            </a:r>
            <a:r>
              <a:rPr lang="en-US" altLang="ko-KR" sz="11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＂</a:t>
            </a:r>
            <a:r>
              <a:rPr lang="ko-KR" altLang="en-US" sz="110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을 노렸으나</a:t>
            </a:r>
            <a:r>
              <a:rPr lang="en-US" altLang="ko-KR" sz="11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Tone Mapping </a:t>
            </a:r>
            <a:r>
              <a:rPr lang="ko-KR" altLang="en-US" sz="110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기술력 부족으로 색과 디테일이 사라지는 부작용만 남게 됨 </a:t>
            </a:r>
            <a:endParaRPr lang="it-IT" altLang="ko-KR" sz="1100" dirty="0">
              <a:solidFill>
                <a:srgbClr val="FF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643121" y="5499834"/>
            <a:ext cx="4166270" cy="843522"/>
          </a:xfrm>
          <a:prstGeom prst="roundRect">
            <a:avLst>
              <a:gd name="adj" fmla="val 23071"/>
            </a:avLst>
          </a:prstGeom>
          <a:solidFill>
            <a:srgbClr val="E6E1DE"/>
          </a:solidFill>
          <a:ln w="12700">
            <a:solidFill>
              <a:schemeClr val="tx1"/>
            </a:solidFill>
            <a:prstDash val="sysDash"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300" b="1" i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그렇다면 과연 성능 측면에서도 두 제품이 동일하게 프리미엄 </a:t>
            </a:r>
            <a:br>
              <a:rPr lang="en-US" altLang="ko-KR" sz="1300" b="1" i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ko-KR" altLang="en-US" sz="1300" b="1" i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화질을 </a:t>
            </a:r>
            <a:r>
              <a:rPr lang="ko-KR" altLang="en-US" sz="1300" b="1" i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구현해 내는지</a:t>
            </a:r>
            <a:r>
              <a:rPr lang="en-US" altLang="ko-KR" sz="1300" b="1" i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300" b="1" i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그리도 </a:t>
            </a:r>
            <a:r>
              <a:rPr lang="en-US" altLang="ko-KR" sz="1300" b="1" i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Affordable Premium </a:t>
            </a:r>
            <a:r>
              <a:rPr lang="ko-KR" altLang="en-US" sz="1300" b="1" i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제품군인 </a:t>
            </a:r>
            <a:br>
              <a:rPr lang="en-US" altLang="ko-KR" sz="1300" b="1" i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300" b="1" i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UA75 </a:t>
            </a:r>
            <a:r>
              <a:rPr lang="ko-KR" altLang="en-US" sz="1300" b="1" i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대비하여 확연한 성능 차이가 있는지 살펴보자 </a:t>
            </a:r>
            <a:endParaRPr lang="it-IT" altLang="ko-KR" sz="1300" b="1" i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517442" y="5283933"/>
            <a:ext cx="576000" cy="936000"/>
          </a:xfrm>
          <a:prstGeom prst="roundRect">
            <a:avLst>
              <a:gd name="adj" fmla="val 9925"/>
            </a:avLst>
          </a:prstGeom>
          <a:solidFill>
            <a:schemeClr val="bg1">
              <a:alpha val="79000"/>
            </a:schemeClr>
          </a:solidFill>
          <a:ln w="952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Tone</a:t>
            </a:r>
            <a:br>
              <a:rPr lang="en-US" altLang="ko-KR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Mapping</a:t>
            </a:r>
            <a:endParaRPr lang="ko-KR" altLang="en-US" sz="105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6" name="타원 85"/>
          <p:cNvSpPr/>
          <p:nvPr/>
        </p:nvSpPr>
        <p:spPr>
          <a:xfrm>
            <a:off x="2654546" y="2926446"/>
            <a:ext cx="235511" cy="235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≥</a:t>
            </a:r>
          </a:p>
        </p:txBody>
      </p:sp>
      <p:sp>
        <p:nvSpPr>
          <p:cNvPr id="87" name="타원 86"/>
          <p:cNvSpPr/>
          <p:nvPr/>
        </p:nvSpPr>
        <p:spPr>
          <a:xfrm>
            <a:off x="3686900" y="2926446"/>
            <a:ext cx="235511" cy="235511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&gt;</a:t>
            </a:r>
            <a:endParaRPr lang="ko-KR" altLang="en-US" b="1">
              <a:solidFill>
                <a:schemeClr val="tx1">
                  <a:lumMod val="50000"/>
                  <a:lumOff val="50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8" name="타원 87"/>
          <p:cNvSpPr/>
          <p:nvPr/>
        </p:nvSpPr>
        <p:spPr>
          <a:xfrm>
            <a:off x="3686900" y="3679158"/>
            <a:ext cx="235511" cy="235511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=</a:t>
            </a:r>
            <a:endParaRPr lang="ko-KR" altLang="en-US" b="1">
              <a:solidFill>
                <a:schemeClr val="tx1">
                  <a:lumMod val="50000"/>
                  <a:lumOff val="50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9" name="타원 88"/>
          <p:cNvSpPr/>
          <p:nvPr/>
        </p:nvSpPr>
        <p:spPr>
          <a:xfrm>
            <a:off x="3686900" y="4431870"/>
            <a:ext cx="235511" cy="235511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&lt;</a:t>
            </a:r>
            <a:endParaRPr lang="ko-KR" altLang="en-US" b="1">
              <a:solidFill>
                <a:schemeClr val="tx1">
                  <a:lumMod val="50000"/>
                  <a:lumOff val="50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200996" y="6352129"/>
            <a:ext cx="3900329" cy="169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it-IT" altLang="ko-KR" sz="1100" i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* </a:t>
            </a:r>
            <a:r>
              <a:rPr lang="en-US" altLang="ko-KR" sz="1100" i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Picture performance analysis applies to Vivid Mode (@Store Mode) </a:t>
            </a:r>
            <a:r>
              <a:rPr lang="en-US" altLang="ko-KR" sz="1100" b="1" i="1" u="sng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ONLY</a:t>
            </a:r>
            <a:r>
              <a:rPr lang="en-US" altLang="ko-KR" sz="1100" i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endParaRPr lang="it-IT" altLang="ko-KR" sz="1200" i="1" dirty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418583" y="2878440"/>
            <a:ext cx="3900329" cy="169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it-IT" altLang="ko-KR" sz="1100" i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* </a:t>
            </a:r>
            <a:r>
              <a:rPr lang="en-US" altLang="ko-KR" sz="1100" i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Picture performance analysis applies to Vivid Mode (@Store Mode) </a:t>
            </a:r>
            <a:r>
              <a:rPr lang="en-US" altLang="ko-KR" sz="1100" b="1" i="1" u="sng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ONLY</a:t>
            </a:r>
            <a:r>
              <a:rPr lang="en-US" altLang="ko-KR" sz="1100" i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endParaRPr lang="it-IT" altLang="ko-KR" sz="1200" i="1" dirty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35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모서리가 둥근 직사각형 46"/>
          <p:cNvSpPr/>
          <p:nvPr/>
        </p:nvSpPr>
        <p:spPr>
          <a:xfrm>
            <a:off x="0" y="1521457"/>
            <a:ext cx="12191999" cy="479173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rgbClr val="EFEB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92579" y="873684"/>
            <a:ext cx="3700450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6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Upscaling</a:t>
            </a:r>
            <a:endParaRPr lang="it-IT" altLang="ko-KR" sz="1400" dirty="0">
              <a:solidFill>
                <a:srgbClr val="FF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3864909" y="-17092"/>
            <a:ext cx="4462183" cy="468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altLang="ko-KR" sz="32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2.Performance</a:t>
            </a:r>
            <a:endParaRPr lang="en-US" altLang="ko-KR" sz="3200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92111" y="1145621"/>
            <a:ext cx="11145619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※ Condition : All TVs set to Vivid Mode(Store Mode), with 4K HDR @60Hz video input from YouTube </a:t>
            </a:r>
            <a:r>
              <a:rPr lang="en-US" altLang="ko-KR" sz="1400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(Video :               at 00:50) </a:t>
            </a:r>
            <a:endParaRPr lang="it-IT" altLang="ko-KR" sz="1200" dirty="0">
              <a:solidFill>
                <a:srgbClr val="006D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" name="실행 단추: 홈 12">
            <a:hlinkClick r:id="rId3" action="ppaction://hlinksldjump" highlightClick="1"/>
          </p:cNvPr>
          <p:cNvSpPr/>
          <p:nvPr/>
        </p:nvSpPr>
        <p:spPr>
          <a:xfrm>
            <a:off x="11538857" y="733695"/>
            <a:ext cx="312079" cy="307777"/>
          </a:xfrm>
          <a:prstGeom prst="actionButtonHom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08850" y="119596"/>
            <a:ext cx="1681872" cy="3103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ts val="1700"/>
              </a:lnSpc>
            </a:pPr>
            <a:r>
              <a:rPr lang="en-US" altLang="ko-KR" b="1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QNED70 vs. Q7F</a:t>
            </a:r>
            <a:endParaRPr lang="ko-KR" altLang="en-US" b="1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8101153" y="1622503"/>
            <a:ext cx="3651121" cy="1768397"/>
            <a:chOff x="7929222" y="1651078"/>
            <a:chExt cx="3651121" cy="1768397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929222" y="1651078"/>
              <a:ext cx="3651121" cy="1768397"/>
            </a:xfrm>
            <a:prstGeom prst="rect">
              <a:avLst/>
            </a:prstGeom>
          </p:spPr>
        </p:pic>
        <p:sp>
          <p:nvSpPr>
            <p:cNvPr id="34" name="타원 33"/>
            <p:cNvSpPr/>
            <p:nvPr/>
          </p:nvSpPr>
          <p:spPr>
            <a:xfrm>
              <a:off x="10071533" y="1769797"/>
              <a:ext cx="639192" cy="639192"/>
            </a:xfrm>
            <a:prstGeom prst="ellipse">
              <a:avLst/>
            </a:prstGeom>
            <a:noFill/>
            <a:ln w="25400">
              <a:solidFill>
                <a:srgbClr val="F1734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5" name="타원 34"/>
            <p:cNvSpPr/>
            <p:nvPr/>
          </p:nvSpPr>
          <p:spPr>
            <a:xfrm>
              <a:off x="9350979" y="2002285"/>
              <a:ext cx="639192" cy="639192"/>
            </a:xfrm>
            <a:prstGeom prst="ellipse">
              <a:avLst/>
            </a:prstGeom>
            <a:noFill/>
            <a:ln w="25400">
              <a:solidFill>
                <a:srgbClr val="F1734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2" name="그룹 21"/>
          <p:cNvGrpSpPr/>
          <p:nvPr/>
        </p:nvGrpSpPr>
        <p:grpSpPr>
          <a:xfrm>
            <a:off x="4283737" y="1617496"/>
            <a:ext cx="3618304" cy="1782930"/>
            <a:chOff x="4364616" y="1646071"/>
            <a:chExt cx="3618304" cy="1782930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364616" y="1646071"/>
              <a:ext cx="3618304" cy="1782930"/>
            </a:xfrm>
            <a:prstGeom prst="rect">
              <a:avLst/>
            </a:prstGeom>
          </p:spPr>
        </p:pic>
        <p:sp>
          <p:nvSpPr>
            <p:cNvPr id="33" name="타원 32"/>
            <p:cNvSpPr/>
            <p:nvPr/>
          </p:nvSpPr>
          <p:spPr>
            <a:xfrm>
              <a:off x="6617101" y="1817422"/>
              <a:ext cx="639192" cy="639192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" name="타원 35"/>
            <p:cNvSpPr/>
            <p:nvPr/>
          </p:nvSpPr>
          <p:spPr>
            <a:xfrm>
              <a:off x="5915360" y="1971583"/>
              <a:ext cx="639192" cy="639192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31" name="그룹 30"/>
          <p:cNvGrpSpPr/>
          <p:nvPr/>
        </p:nvGrpSpPr>
        <p:grpSpPr>
          <a:xfrm>
            <a:off x="414143" y="1615211"/>
            <a:ext cx="3657323" cy="1775689"/>
            <a:chOff x="644744" y="1643786"/>
            <a:chExt cx="3657323" cy="1775689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44744" y="1643786"/>
              <a:ext cx="3657323" cy="1775689"/>
            </a:xfrm>
            <a:prstGeom prst="rect">
              <a:avLst/>
            </a:prstGeom>
          </p:spPr>
        </p:pic>
        <p:sp>
          <p:nvSpPr>
            <p:cNvPr id="11" name="타원 10"/>
            <p:cNvSpPr/>
            <p:nvPr/>
          </p:nvSpPr>
          <p:spPr>
            <a:xfrm>
              <a:off x="2849732" y="1769797"/>
              <a:ext cx="639192" cy="639192"/>
            </a:xfrm>
            <a:prstGeom prst="ellipse">
              <a:avLst/>
            </a:prstGeom>
            <a:noFill/>
            <a:ln w="25400">
              <a:solidFill>
                <a:srgbClr val="006D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" name="타원 36"/>
            <p:cNvSpPr/>
            <p:nvPr/>
          </p:nvSpPr>
          <p:spPr>
            <a:xfrm>
              <a:off x="2129178" y="1910047"/>
              <a:ext cx="639192" cy="639192"/>
            </a:xfrm>
            <a:prstGeom prst="ellipse">
              <a:avLst/>
            </a:prstGeom>
            <a:noFill/>
            <a:ln w="25400">
              <a:solidFill>
                <a:srgbClr val="006D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8108713" y="3780692"/>
            <a:ext cx="3636000" cy="2420082"/>
            <a:chOff x="7933796" y="4009292"/>
            <a:chExt cx="3636000" cy="2420082"/>
          </a:xfrm>
        </p:grpSpPr>
        <p:sp>
          <p:nvSpPr>
            <p:cNvPr id="12" name="모서리가 둥근 직사각형 11"/>
            <p:cNvSpPr/>
            <p:nvPr/>
          </p:nvSpPr>
          <p:spPr>
            <a:xfrm>
              <a:off x="7933796" y="4009292"/>
              <a:ext cx="3636000" cy="2420082"/>
            </a:xfrm>
            <a:prstGeom prst="roundRect">
              <a:avLst>
                <a:gd name="adj" fmla="val 8295"/>
              </a:avLst>
            </a:prstGeom>
            <a:solidFill>
              <a:srgbClr val="D8D2CE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40" name="그림 39"/>
            <p:cNvPicPr>
              <a:picLocks noChangeAspect="1"/>
            </p:cNvPicPr>
            <p:nvPr/>
          </p:nvPicPr>
          <p:blipFill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809637" y="4177941"/>
              <a:ext cx="1477342" cy="1477342"/>
            </a:xfrm>
            <a:custGeom>
              <a:avLst/>
              <a:gdLst>
                <a:gd name="connsiteX0" fmla="*/ 738671 w 1477342"/>
                <a:gd name="connsiteY0" fmla="*/ 0 h 1477342"/>
                <a:gd name="connsiteX1" fmla="*/ 1477342 w 1477342"/>
                <a:gd name="connsiteY1" fmla="*/ 738671 h 1477342"/>
                <a:gd name="connsiteX2" fmla="*/ 738671 w 1477342"/>
                <a:gd name="connsiteY2" fmla="*/ 1477342 h 1477342"/>
                <a:gd name="connsiteX3" fmla="*/ 0 w 1477342"/>
                <a:gd name="connsiteY3" fmla="*/ 738671 h 1477342"/>
                <a:gd name="connsiteX4" fmla="*/ 738671 w 1477342"/>
                <a:gd name="connsiteY4" fmla="*/ 0 h 1477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7342" h="1477342">
                  <a:moveTo>
                    <a:pt x="738671" y="0"/>
                  </a:moveTo>
                  <a:cubicBezTo>
                    <a:pt x="1146628" y="0"/>
                    <a:pt x="1477342" y="330714"/>
                    <a:pt x="1477342" y="738671"/>
                  </a:cubicBezTo>
                  <a:cubicBezTo>
                    <a:pt x="1477342" y="1146628"/>
                    <a:pt x="1146628" y="1477342"/>
                    <a:pt x="738671" y="1477342"/>
                  </a:cubicBezTo>
                  <a:cubicBezTo>
                    <a:pt x="330714" y="1477342"/>
                    <a:pt x="0" y="1146628"/>
                    <a:pt x="0" y="738671"/>
                  </a:cubicBezTo>
                  <a:cubicBezTo>
                    <a:pt x="0" y="330714"/>
                    <a:pt x="330714" y="0"/>
                    <a:pt x="738671" y="0"/>
                  </a:cubicBezTo>
                  <a:close/>
                </a:path>
              </a:pathLst>
            </a:custGeom>
            <a:ln w="25400">
              <a:solidFill>
                <a:srgbClr val="F17341"/>
              </a:solidFill>
              <a:prstDash val="sysDash"/>
            </a:ln>
          </p:spPr>
        </p:pic>
        <p:pic>
          <p:nvPicPr>
            <p:cNvPr id="39" name="그림 38"/>
            <p:cNvPicPr>
              <a:picLocks noChangeAspect="1"/>
            </p:cNvPicPr>
            <p:nvPr/>
          </p:nvPicPr>
          <p:blipFill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184442" y="4177941"/>
              <a:ext cx="1468953" cy="1477342"/>
            </a:xfrm>
            <a:custGeom>
              <a:avLst/>
              <a:gdLst>
                <a:gd name="connsiteX0" fmla="*/ 738671 w 1468953"/>
                <a:gd name="connsiteY0" fmla="*/ 0 h 1477342"/>
                <a:gd name="connsiteX1" fmla="*/ 1462335 w 1468953"/>
                <a:gd name="connsiteY1" fmla="*/ 589803 h 1477342"/>
                <a:gd name="connsiteX2" fmla="*/ 1468953 w 1468953"/>
                <a:gd name="connsiteY2" fmla="*/ 633167 h 1477342"/>
                <a:gd name="connsiteX3" fmla="*/ 1468953 w 1468953"/>
                <a:gd name="connsiteY3" fmla="*/ 844175 h 1477342"/>
                <a:gd name="connsiteX4" fmla="*/ 1462335 w 1468953"/>
                <a:gd name="connsiteY4" fmla="*/ 887539 h 1477342"/>
                <a:gd name="connsiteX5" fmla="*/ 738671 w 1468953"/>
                <a:gd name="connsiteY5" fmla="*/ 1477342 h 1477342"/>
                <a:gd name="connsiteX6" fmla="*/ 0 w 1468953"/>
                <a:gd name="connsiteY6" fmla="*/ 738671 h 1477342"/>
                <a:gd name="connsiteX7" fmla="*/ 738671 w 1468953"/>
                <a:gd name="connsiteY7" fmla="*/ 0 h 1477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68953" h="1477342">
                  <a:moveTo>
                    <a:pt x="738671" y="0"/>
                  </a:moveTo>
                  <a:cubicBezTo>
                    <a:pt x="1095633" y="0"/>
                    <a:pt x="1393457" y="253203"/>
                    <a:pt x="1462335" y="589803"/>
                  </a:cubicBezTo>
                  <a:lnTo>
                    <a:pt x="1468953" y="633167"/>
                  </a:lnTo>
                  <a:lnTo>
                    <a:pt x="1468953" y="844175"/>
                  </a:lnTo>
                  <a:lnTo>
                    <a:pt x="1462335" y="887539"/>
                  </a:lnTo>
                  <a:cubicBezTo>
                    <a:pt x="1393457" y="1224139"/>
                    <a:pt x="1095633" y="1477342"/>
                    <a:pt x="738671" y="1477342"/>
                  </a:cubicBezTo>
                  <a:cubicBezTo>
                    <a:pt x="330714" y="1477342"/>
                    <a:pt x="0" y="1146628"/>
                    <a:pt x="0" y="738671"/>
                  </a:cubicBezTo>
                  <a:cubicBezTo>
                    <a:pt x="0" y="330714"/>
                    <a:pt x="330714" y="0"/>
                    <a:pt x="738671" y="0"/>
                  </a:cubicBezTo>
                  <a:close/>
                </a:path>
              </a:pathLst>
            </a:custGeom>
            <a:ln w="25400">
              <a:solidFill>
                <a:srgbClr val="F17341"/>
              </a:solidFill>
              <a:prstDash val="sysDash"/>
            </a:ln>
          </p:spPr>
        </p:pic>
      </p:grpSp>
      <p:grpSp>
        <p:nvGrpSpPr>
          <p:cNvPr id="19" name="그룹 18"/>
          <p:cNvGrpSpPr/>
          <p:nvPr/>
        </p:nvGrpSpPr>
        <p:grpSpPr>
          <a:xfrm>
            <a:off x="4266041" y="3780692"/>
            <a:ext cx="3636000" cy="2420082"/>
            <a:chOff x="4346920" y="4009292"/>
            <a:chExt cx="3636000" cy="2420082"/>
          </a:xfrm>
        </p:grpSpPr>
        <p:sp>
          <p:nvSpPr>
            <p:cNvPr id="52" name="모서리가 둥근 직사각형 51"/>
            <p:cNvSpPr/>
            <p:nvPr/>
          </p:nvSpPr>
          <p:spPr>
            <a:xfrm>
              <a:off x="4346920" y="4009292"/>
              <a:ext cx="3636000" cy="2420082"/>
            </a:xfrm>
            <a:prstGeom prst="roundRect">
              <a:avLst>
                <a:gd name="adj" fmla="val 8295"/>
              </a:avLst>
            </a:prstGeom>
            <a:solidFill>
              <a:srgbClr val="D8D2CE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50" name="그림 49"/>
            <p:cNvPicPr>
              <a:picLocks noChangeAspect="1"/>
            </p:cNvPicPr>
            <p:nvPr/>
          </p:nvPicPr>
          <p:blipFill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556215" y="4174987"/>
              <a:ext cx="1477342" cy="1477342"/>
            </a:xfrm>
            <a:custGeom>
              <a:avLst/>
              <a:gdLst>
                <a:gd name="connsiteX0" fmla="*/ 738671 w 1477342"/>
                <a:gd name="connsiteY0" fmla="*/ 0 h 1477342"/>
                <a:gd name="connsiteX1" fmla="*/ 1477342 w 1477342"/>
                <a:gd name="connsiteY1" fmla="*/ 738671 h 1477342"/>
                <a:gd name="connsiteX2" fmla="*/ 738671 w 1477342"/>
                <a:gd name="connsiteY2" fmla="*/ 1477342 h 1477342"/>
                <a:gd name="connsiteX3" fmla="*/ 0 w 1477342"/>
                <a:gd name="connsiteY3" fmla="*/ 738671 h 1477342"/>
                <a:gd name="connsiteX4" fmla="*/ 738671 w 1477342"/>
                <a:gd name="connsiteY4" fmla="*/ 0 h 1477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7342" h="1477342">
                  <a:moveTo>
                    <a:pt x="738671" y="0"/>
                  </a:moveTo>
                  <a:cubicBezTo>
                    <a:pt x="1146628" y="0"/>
                    <a:pt x="1477342" y="330714"/>
                    <a:pt x="1477342" y="738671"/>
                  </a:cubicBezTo>
                  <a:cubicBezTo>
                    <a:pt x="1477342" y="1146628"/>
                    <a:pt x="1146628" y="1477342"/>
                    <a:pt x="738671" y="1477342"/>
                  </a:cubicBezTo>
                  <a:cubicBezTo>
                    <a:pt x="330714" y="1477342"/>
                    <a:pt x="0" y="1146628"/>
                    <a:pt x="0" y="738671"/>
                  </a:cubicBezTo>
                  <a:cubicBezTo>
                    <a:pt x="0" y="330714"/>
                    <a:pt x="330714" y="0"/>
                    <a:pt x="738671" y="0"/>
                  </a:cubicBezTo>
                  <a:close/>
                </a:path>
              </a:pathLst>
            </a:custGeom>
            <a:ln w="25400">
              <a:solidFill>
                <a:srgbClr val="FF0000"/>
              </a:solidFill>
              <a:prstDash val="sysDash"/>
            </a:ln>
          </p:spPr>
        </p:pic>
        <p:pic>
          <p:nvPicPr>
            <p:cNvPr id="51" name="그림 50"/>
            <p:cNvPicPr>
              <a:picLocks noChangeAspect="1"/>
            </p:cNvPicPr>
            <p:nvPr/>
          </p:nvPicPr>
          <p:blipFill rotWithShape="1"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196209" y="4174987"/>
              <a:ext cx="1477342" cy="1477342"/>
            </a:xfrm>
            <a:custGeom>
              <a:avLst/>
              <a:gdLst>
                <a:gd name="connsiteX0" fmla="*/ 738671 w 1477342"/>
                <a:gd name="connsiteY0" fmla="*/ 0 h 1477342"/>
                <a:gd name="connsiteX1" fmla="*/ 1477342 w 1477342"/>
                <a:gd name="connsiteY1" fmla="*/ 738671 h 1477342"/>
                <a:gd name="connsiteX2" fmla="*/ 738671 w 1477342"/>
                <a:gd name="connsiteY2" fmla="*/ 1477342 h 1477342"/>
                <a:gd name="connsiteX3" fmla="*/ 0 w 1477342"/>
                <a:gd name="connsiteY3" fmla="*/ 738671 h 1477342"/>
                <a:gd name="connsiteX4" fmla="*/ 738671 w 1477342"/>
                <a:gd name="connsiteY4" fmla="*/ 0 h 1477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7342" h="1477342">
                  <a:moveTo>
                    <a:pt x="738671" y="0"/>
                  </a:moveTo>
                  <a:cubicBezTo>
                    <a:pt x="1146628" y="0"/>
                    <a:pt x="1477342" y="330714"/>
                    <a:pt x="1477342" y="738671"/>
                  </a:cubicBezTo>
                  <a:cubicBezTo>
                    <a:pt x="1477342" y="1146628"/>
                    <a:pt x="1146628" y="1477342"/>
                    <a:pt x="738671" y="1477342"/>
                  </a:cubicBezTo>
                  <a:cubicBezTo>
                    <a:pt x="330714" y="1477342"/>
                    <a:pt x="0" y="1146628"/>
                    <a:pt x="0" y="738671"/>
                  </a:cubicBezTo>
                  <a:cubicBezTo>
                    <a:pt x="0" y="330714"/>
                    <a:pt x="330714" y="0"/>
                    <a:pt x="738671" y="0"/>
                  </a:cubicBezTo>
                  <a:close/>
                </a:path>
              </a:pathLst>
            </a:custGeom>
            <a:ln w="25400">
              <a:solidFill>
                <a:srgbClr val="FF0000"/>
              </a:solidFill>
              <a:prstDash val="sysDash"/>
            </a:ln>
          </p:spPr>
        </p:pic>
      </p:grpSp>
      <p:grpSp>
        <p:nvGrpSpPr>
          <p:cNvPr id="27" name="그룹 26"/>
          <p:cNvGrpSpPr/>
          <p:nvPr/>
        </p:nvGrpSpPr>
        <p:grpSpPr>
          <a:xfrm>
            <a:off x="433487" y="3780691"/>
            <a:ext cx="3636000" cy="2420083"/>
            <a:chOff x="653531" y="4009291"/>
            <a:chExt cx="3636000" cy="2420083"/>
          </a:xfrm>
        </p:grpSpPr>
        <p:sp>
          <p:nvSpPr>
            <p:cNvPr id="63" name="모서리가 둥근 직사각형 62"/>
            <p:cNvSpPr/>
            <p:nvPr/>
          </p:nvSpPr>
          <p:spPr>
            <a:xfrm>
              <a:off x="653531" y="4009291"/>
              <a:ext cx="3636000" cy="2420083"/>
            </a:xfrm>
            <a:prstGeom prst="roundRect">
              <a:avLst>
                <a:gd name="adj" fmla="val 8295"/>
              </a:avLst>
            </a:prstGeom>
            <a:solidFill>
              <a:srgbClr val="D8D2CE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56" name="그림 55"/>
            <p:cNvPicPr>
              <a:picLocks noChangeAspect="1"/>
            </p:cNvPicPr>
            <p:nvPr/>
          </p:nvPicPr>
          <p:blipFill rotWithShape="1"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89709" y="4191046"/>
              <a:ext cx="1477342" cy="1477342"/>
            </a:xfrm>
            <a:custGeom>
              <a:avLst/>
              <a:gdLst>
                <a:gd name="connsiteX0" fmla="*/ 738671 w 1477342"/>
                <a:gd name="connsiteY0" fmla="*/ 0 h 1477342"/>
                <a:gd name="connsiteX1" fmla="*/ 1477342 w 1477342"/>
                <a:gd name="connsiteY1" fmla="*/ 738671 h 1477342"/>
                <a:gd name="connsiteX2" fmla="*/ 738671 w 1477342"/>
                <a:gd name="connsiteY2" fmla="*/ 1477342 h 1477342"/>
                <a:gd name="connsiteX3" fmla="*/ 0 w 1477342"/>
                <a:gd name="connsiteY3" fmla="*/ 738671 h 1477342"/>
                <a:gd name="connsiteX4" fmla="*/ 738671 w 1477342"/>
                <a:gd name="connsiteY4" fmla="*/ 0 h 1477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7342" h="1477342">
                  <a:moveTo>
                    <a:pt x="738671" y="0"/>
                  </a:moveTo>
                  <a:cubicBezTo>
                    <a:pt x="1146628" y="0"/>
                    <a:pt x="1477342" y="330714"/>
                    <a:pt x="1477342" y="738671"/>
                  </a:cubicBezTo>
                  <a:cubicBezTo>
                    <a:pt x="1477342" y="1146628"/>
                    <a:pt x="1146628" y="1477342"/>
                    <a:pt x="738671" y="1477342"/>
                  </a:cubicBezTo>
                  <a:cubicBezTo>
                    <a:pt x="330714" y="1477342"/>
                    <a:pt x="0" y="1146628"/>
                    <a:pt x="0" y="738671"/>
                  </a:cubicBezTo>
                  <a:cubicBezTo>
                    <a:pt x="0" y="330714"/>
                    <a:pt x="330714" y="0"/>
                    <a:pt x="738671" y="0"/>
                  </a:cubicBezTo>
                  <a:close/>
                </a:path>
              </a:pathLst>
            </a:custGeom>
            <a:ln w="25400">
              <a:solidFill>
                <a:srgbClr val="006D00"/>
              </a:solidFill>
              <a:prstDash val="sysDash"/>
            </a:ln>
          </p:spPr>
        </p:pic>
        <p:pic>
          <p:nvPicPr>
            <p:cNvPr id="57" name="그림 56"/>
            <p:cNvPicPr>
              <a:picLocks noChangeAspect="1"/>
            </p:cNvPicPr>
            <p:nvPr/>
          </p:nvPicPr>
          <p:blipFill rotWithShape="1"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526795" y="4191046"/>
              <a:ext cx="1477342" cy="1477342"/>
            </a:xfrm>
            <a:custGeom>
              <a:avLst/>
              <a:gdLst>
                <a:gd name="connsiteX0" fmla="*/ 738671 w 1477342"/>
                <a:gd name="connsiteY0" fmla="*/ 0 h 1477342"/>
                <a:gd name="connsiteX1" fmla="*/ 1477342 w 1477342"/>
                <a:gd name="connsiteY1" fmla="*/ 738671 h 1477342"/>
                <a:gd name="connsiteX2" fmla="*/ 738671 w 1477342"/>
                <a:gd name="connsiteY2" fmla="*/ 1477342 h 1477342"/>
                <a:gd name="connsiteX3" fmla="*/ 0 w 1477342"/>
                <a:gd name="connsiteY3" fmla="*/ 738671 h 1477342"/>
                <a:gd name="connsiteX4" fmla="*/ 738671 w 1477342"/>
                <a:gd name="connsiteY4" fmla="*/ 0 h 1477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7342" h="1477342">
                  <a:moveTo>
                    <a:pt x="738671" y="0"/>
                  </a:moveTo>
                  <a:cubicBezTo>
                    <a:pt x="1146628" y="0"/>
                    <a:pt x="1477342" y="330714"/>
                    <a:pt x="1477342" y="738671"/>
                  </a:cubicBezTo>
                  <a:cubicBezTo>
                    <a:pt x="1477342" y="1146628"/>
                    <a:pt x="1146628" y="1477342"/>
                    <a:pt x="738671" y="1477342"/>
                  </a:cubicBezTo>
                  <a:cubicBezTo>
                    <a:pt x="330714" y="1477342"/>
                    <a:pt x="0" y="1146628"/>
                    <a:pt x="0" y="738671"/>
                  </a:cubicBezTo>
                  <a:cubicBezTo>
                    <a:pt x="0" y="330714"/>
                    <a:pt x="330714" y="0"/>
                    <a:pt x="738671" y="0"/>
                  </a:cubicBezTo>
                  <a:close/>
                </a:path>
              </a:pathLst>
            </a:custGeom>
            <a:ln w="25400">
              <a:solidFill>
                <a:srgbClr val="006D00"/>
              </a:solidFill>
              <a:prstDash val="sysDash"/>
            </a:ln>
          </p:spPr>
        </p:pic>
      </p:grpSp>
      <p:pic>
        <p:nvPicPr>
          <p:cNvPr id="29" name="그림 28">
            <a:hlinkClick r:id="rId13"/>
          </p:cNvPr>
          <p:cNvPicPr>
            <a:picLocks noChangeAspect="1"/>
          </p:cNvPicPr>
          <p:nvPr/>
        </p:nvPicPr>
        <p:blipFill>
          <a:blip r:embed="rId1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7763" y="1095674"/>
            <a:ext cx="531091" cy="398979"/>
          </a:xfrm>
          <a:prstGeom prst="rect">
            <a:avLst/>
          </a:prstGeom>
          <a:noFill/>
        </p:spPr>
      </p:pic>
      <p:sp>
        <p:nvSpPr>
          <p:cNvPr id="66" name="TextBox 65"/>
          <p:cNvSpPr txBox="1"/>
          <p:nvPr/>
        </p:nvSpPr>
        <p:spPr>
          <a:xfrm>
            <a:off x="794435" y="5598746"/>
            <a:ext cx="3264934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it-IT" altLang="ko-KR" sz="1200" b="1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Detailed representation of the mountain folds and </a:t>
            </a:r>
            <a:br>
              <a:rPr lang="it-IT" altLang="ko-KR" sz="1200" b="1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it-IT" altLang="ko-KR" sz="1200" b="1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the clouds, along with clear contrast expression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2222" y="5640668"/>
            <a:ext cx="5148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★★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10997" y="5659717"/>
            <a:ext cx="271349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it-IT" altLang="ko-KR" sz="1200" b="1" dirty="0">
                <a:solidFill>
                  <a:srgbClr val="F1734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Better details and contrast than Q7F</a:t>
            </a:r>
            <a:br>
              <a:rPr lang="it-IT" altLang="ko-KR" sz="1200" b="1" dirty="0">
                <a:solidFill>
                  <a:srgbClr val="F1734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it-IT" altLang="ko-KR" sz="1200" b="1" dirty="0">
                <a:solidFill>
                  <a:srgbClr val="F1734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(even the grass look greener on UA75!!)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04984" y="5640668"/>
            <a:ext cx="349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1734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★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19061" y="5598746"/>
            <a:ext cx="3481626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it-IT" altLang="ko-KR" sz="1200" b="1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Boosted brightenss erases the details of the mountain folds and the entire cloud. Bad contrast performance. </a:t>
            </a:r>
          </a:p>
        </p:txBody>
      </p:sp>
      <p:sp>
        <p:nvSpPr>
          <p:cNvPr id="64" name="직사각형 63"/>
          <p:cNvSpPr/>
          <p:nvPr/>
        </p:nvSpPr>
        <p:spPr>
          <a:xfrm>
            <a:off x="4321837" y="5810250"/>
            <a:ext cx="108000" cy="36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9" name="그룹 78"/>
          <p:cNvGrpSpPr/>
          <p:nvPr/>
        </p:nvGrpSpPr>
        <p:grpSpPr>
          <a:xfrm>
            <a:off x="1384890" y="3421870"/>
            <a:ext cx="1715829" cy="327852"/>
            <a:chOff x="1425209" y="3421870"/>
            <a:chExt cx="1715829" cy="327852"/>
          </a:xfrm>
        </p:grpSpPr>
        <p:sp>
          <p:nvSpPr>
            <p:cNvPr id="20" name="TextBox 19"/>
            <p:cNvSpPr txBox="1"/>
            <p:nvPr/>
          </p:nvSpPr>
          <p:spPr>
            <a:xfrm>
              <a:off x="2637374" y="3441945"/>
              <a:ext cx="5036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Clr>
                  <a:srgbClr val="006D00"/>
                </a:buClr>
              </a:pPr>
              <a:r>
                <a:rPr lang="en-US" altLang="ko-KR" sz="1400" b="1" dirty="0">
                  <a:solidFill>
                    <a:srgbClr val="006D00"/>
                  </a:solidFill>
                  <a:latin typeface="Arial Narrow" panose="020B0606020202030204" pitchFamily="34" charset="0"/>
                </a:rPr>
                <a:t>Best</a:t>
              </a:r>
              <a:endParaRPr lang="ko-KR" altLang="en-US" sz="1400" b="1">
                <a:solidFill>
                  <a:srgbClr val="006D00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65" name="그림 64"/>
            <p:cNvPicPr>
              <a:picLocks noChangeAspect="1"/>
            </p:cNvPicPr>
            <p:nvPr/>
          </p:nvPicPr>
          <p:blipFill>
            <a:blip r:embed="rId15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25209" y="3421870"/>
              <a:ext cx="323032" cy="327852"/>
            </a:xfrm>
            <a:prstGeom prst="rect">
              <a:avLst/>
            </a:prstGeom>
          </p:spPr>
        </p:pic>
        <p:sp>
          <p:nvSpPr>
            <p:cNvPr id="76" name="TextBox 75"/>
            <p:cNvSpPr txBox="1"/>
            <p:nvPr/>
          </p:nvSpPr>
          <p:spPr>
            <a:xfrm>
              <a:off x="1796807" y="3459114"/>
              <a:ext cx="792000" cy="272415"/>
            </a:xfrm>
            <a:prstGeom prst="roundRect">
              <a:avLst/>
            </a:prstGeom>
            <a:solidFill>
              <a:srgbClr val="C00000">
                <a:alpha val="10000"/>
              </a:srgbClr>
            </a:solidFill>
            <a:ln w="19050">
              <a:solidFill>
                <a:srgbClr val="C00000"/>
              </a:solidFill>
            </a:ln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rgbClr val="C00000"/>
                  </a:solidFill>
                  <a:latin typeface="Arial Narrow" panose="020B0606020202030204" pitchFamily="34" charset="0"/>
                </a:rPr>
                <a:t>QNED70</a:t>
              </a:r>
              <a:endParaRPr lang="ko-KR" altLang="en-US" sz="1600" b="1">
                <a:solidFill>
                  <a:srgbClr val="C00000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80" name="그룹 79"/>
          <p:cNvGrpSpPr/>
          <p:nvPr/>
        </p:nvGrpSpPr>
        <p:grpSpPr>
          <a:xfrm>
            <a:off x="5236776" y="3374652"/>
            <a:ext cx="1712226" cy="392457"/>
            <a:chOff x="5194294" y="3374652"/>
            <a:chExt cx="1712226" cy="392457"/>
          </a:xfrm>
        </p:grpSpPr>
        <p:sp>
          <p:nvSpPr>
            <p:cNvPr id="53" name="TextBox 52"/>
            <p:cNvSpPr txBox="1"/>
            <p:nvPr/>
          </p:nvSpPr>
          <p:spPr>
            <a:xfrm>
              <a:off x="6444534" y="3441945"/>
              <a:ext cx="4619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Clr>
                  <a:srgbClr val="006D00"/>
                </a:buClr>
              </a:pPr>
              <a:r>
                <a:rPr lang="en-US" altLang="ko-KR" sz="1400" b="1" dirty="0">
                  <a:solidFill>
                    <a:srgbClr val="FF0000"/>
                  </a:solidFill>
                  <a:latin typeface="Arial Narrow" panose="020B0606020202030204" pitchFamily="34" charset="0"/>
                </a:rPr>
                <a:t>Bad</a:t>
              </a:r>
              <a:endParaRPr lang="ko-KR" altLang="en-US" sz="1400" b="1">
                <a:solidFill>
                  <a:srgbClr val="FF0000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74" name="그림 73"/>
            <p:cNvPicPr>
              <a:picLocks noChangeAspect="1"/>
            </p:cNvPicPr>
            <p:nvPr/>
          </p:nvPicPr>
          <p:blipFill>
            <a:blip r:embed="rId16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94294" y="3374652"/>
              <a:ext cx="405728" cy="392457"/>
            </a:xfrm>
            <a:prstGeom prst="rect">
              <a:avLst/>
            </a:prstGeom>
          </p:spPr>
        </p:pic>
        <p:sp>
          <p:nvSpPr>
            <p:cNvPr id="77" name="TextBox 76"/>
            <p:cNvSpPr txBox="1"/>
            <p:nvPr/>
          </p:nvSpPr>
          <p:spPr>
            <a:xfrm>
              <a:off x="5626278" y="3459114"/>
              <a:ext cx="792000" cy="272415"/>
            </a:xfrm>
            <a:prstGeom prst="roundRect">
              <a:avLst/>
            </a:prstGeom>
            <a:solidFill>
              <a:srgbClr val="0070C0">
                <a:alpha val="10000"/>
              </a:srgbClr>
            </a:solidFill>
            <a:ln w="19050">
              <a:solidFill>
                <a:srgbClr val="0070C0"/>
              </a:solidFill>
            </a:ln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rgbClr val="0070C0"/>
                  </a:solidFill>
                  <a:latin typeface="Arial Narrow" panose="020B0606020202030204" pitchFamily="34" charset="0"/>
                </a:rPr>
                <a:t>Q7F</a:t>
              </a:r>
              <a:endParaRPr lang="ko-KR" altLang="en-US" sz="1600" b="1">
                <a:solidFill>
                  <a:srgbClr val="0070C0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81" name="그룹 80"/>
          <p:cNvGrpSpPr/>
          <p:nvPr/>
        </p:nvGrpSpPr>
        <p:grpSpPr>
          <a:xfrm>
            <a:off x="9023227" y="3392060"/>
            <a:ext cx="1806972" cy="358821"/>
            <a:chOff x="9090988" y="3392060"/>
            <a:chExt cx="1806972" cy="358821"/>
          </a:xfrm>
        </p:grpSpPr>
        <p:sp>
          <p:nvSpPr>
            <p:cNvPr id="54" name="TextBox 53"/>
            <p:cNvSpPr txBox="1"/>
            <p:nvPr/>
          </p:nvSpPr>
          <p:spPr>
            <a:xfrm>
              <a:off x="10330176" y="3441945"/>
              <a:ext cx="5677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Clr>
                  <a:srgbClr val="006D00"/>
                </a:buClr>
              </a:pPr>
              <a:r>
                <a:rPr lang="en-US" altLang="ko-KR" sz="1400" b="1" dirty="0">
                  <a:solidFill>
                    <a:srgbClr val="F17341"/>
                  </a:solidFill>
                  <a:latin typeface="Arial Narrow" panose="020B0606020202030204" pitchFamily="34" charset="0"/>
                </a:rPr>
                <a:t>Good</a:t>
              </a:r>
              <a:endParaRPr lang="ko-KR" altLang="en-US" sz="1400" b="1">
                <a:solidFill>
                  <a:srgbClr val="F1734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67" name="그림 66"/>
            <p:cNvPicPr>
              <a:picLocks noChangeAspect="1"/>
            </p:cNvPicPr>
            <p:nvPr/>
          </p:nvPicPr>
          <p:blipFill>
            <a:blip r:embed="rId17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90988" y="3392060"/>
              <a:ext cx="362238" cy="358821"/>
            </a:xfrm>
            <a:prstGeom prst="rect">
              <a:avLst/>
            </a:prstGeom>
          </p:spPr>
        </p:pic>
        <p:sp>
          <p:nvSpPr>
            <p:cNvPr id="78" name="TextBox 77"/>
            <p:cNvSpPr txBox="1"/>
            <p:nvPr/>
          </p:nvSpPr>
          <p:spPr>
            <a:xfrm>
              <a:off x="9495701" y="3459114"/>
              <a:ext cx="792000" cy="272415"/>
            </a:xfrm>
            <a:prstGeom prst="roundRect">
              <a:avLst/>
            </a:prstGeom>
            <a:solidFill>
              <a:srgbClr val="C00000">
                <a:alpha val="10000"/>
              </a:srgbClr>
            </a:solidFill>
            <a:ln w="19050">
              <a:solidFill>
                <a:srgbClr val="C00000"/>
              </a:solidFill>
            </a:ln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rgbClr val="C00000"/>
                  </a:solidFill>
                  <a:latin typeface="Arial Narrow" panose="020B0606020202030204" pitchFamily="34" charset="0"/>
                </a:rPr>
                <a:t>UA75</a:t>
              </a:r>
              <a:endParaRPr lang="ko-KR" altLang="en-US" sz="1600" b="1">
                <a:solidFill>
                  <a:srgbClr val="C00000"/>
                </a:solidFill>
                <a:latin typeface="Arial Narrow" panose="020B0606020202030204" pitchFamily="34" charset="0"/>
              </a:endParaRP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454244" y="6313195"/>
            <a:ext cx="103936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 Internal demo. Use the guided TV mode </a:t>
            </a:r>
            <a:r>
              <a:rPr lang="en-US" altLang="ko-KR" sz="1100" b="1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ONLY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with content similar to the samples used. Not to be used for anything other than LGE internal training!! </a:t>
            </a: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7317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모서리가 둥근 직사각형 46"/>
          <p:cNvSpPr/>
          <p:nvPr/>
        </p:nvSpPr>
        <p:spPr>
          <a:xfrm>
            <a:off x="0" y="1521457"/>
            <a:ext cx="12191999" cy="479173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rgbClr val="EFEB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92579" y="873684"/>
            <a:ext cx="3700450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6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Color</a:t>
            </a:r>
            <a:endParaRPr lang="it-IT" altLang="ko-KR" sz="1400" dirty="0">
              <a:solidFill>
                <a:srgbClr val="FF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3864909" y="-17092"/>
            <a:ext cx="4462183" cy="468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altLang="ko-KR" sz="32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2.Performance</a:t>
            </a:r>
            <a:endParaRPr lang="en-US" altLang="ko-KR" sz="3200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92111" y="1145621"/>
            <a:ext cx="11145619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※ Condition : All TVs set to Vivid Mode(Store Mode), with 4K HDR @60Hz video input from YouTube </a:t>
            </a:r>
            <a:r>
              <a:rPr lang="en-US" altLang="ko-KR" sz="1400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(Video :               at 00:48)</a:t>
            </a:r>
            <a:endParaRPr lang="it-IT" altLang="ko-KR" sz="1200" dirty="0">
              <a:solidFill>
                <a:srgbClr val="006D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8850" y="119596"/>
            <a:ext cx="1681872" cy="3103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ts val="1700"/>
              </a:lnSpc>
            </a:pPr>
            <a:r>
              <a:rPr lang="en-US" altLang="ko-KR" b="1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QNED70 vs. Q7F</a:t>
            </a:r>
            <a:endParaRPr lang="ko-KR" altLang="en-US" b="1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29" name="그림 28">
            <a:hlinkClick r:id="rId3"/>
          </p:cNvPr>
          <p:cNvPicPr>
            <a:picLocks noChangeAspect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28238" y="1095674"/>
            <a:ext cx="531091" cy="398979"/>
          </a:xfrm>
          <a:prstGeom prst="rect">
            <a:avLst/>
          </a:prstGeom>
          <a:noFill/>
        </p:spPr>
      </p:pic>
      <p:grpSp>
        <p:nvGrpSpPr>
          <p:cNvPr id="32" name="그룹 31"/>
          <p:cNvGrpSpPr/>
          <p:nvPr/>
        </p:nvGrpSpPr>
        <p:grpSpPr>
          <a:xfrm>
            <a:off x="292553" y="1694833"/>
            <a:ext cx="3767932" cy="1588356"/>
            <a:chOff x="288934" y="1847233"/>
            <a:chExt cx="3767932" cy="1588356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8934" y="1847233"/>
              <a:ext cx="3767932" cy="1588356"/>
            </a:xfrm>
            <a:prstGeom prst="rect">
              <a:avLst/>
            </a:prstGeom>
          </p:spPr>
        </p:pic>
        <p:sp>
          <p:nvSpPr>
            <p:cNvPr id="11" name="타원 10"/>
            <p:cNvSpPr/>
            <p:nvPr/>
          </p:nvSpPr>
          <p:spPr>
            <a:xfrm>
              <a:off x="3099182" y="1923886"/>
              <a:ext cx="734586" cy="734586"/>
            </a:xfrm>
            <a:prstGeom prst="ellipse">
              <a:avLst/>
            </a:prstGeom>
            <a:noFill/>
            <a:ln w="25400">
              <a:solidFill>
                <a:srgbClr val="006D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" name="타원 36"/>
            <p:cNvSpPr/>
            <p:nvPr/>
          </p:nvSpPr>
          <p:spPr>
            <a:xfrm>
              <a:off x="946167" y="2338085"/>
              <a:ext cx="531702" cy="531702"/>
            </a:xfrm>
            <a:prstGeom prst="ellipse">
              <a:avLst/>
            </a:prstGeom>
            <a:noFill/>
            <a:ln w="25400">
              <a:solidFill>
                <a:srgbClr val="006D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38" name="그룹 37"/>
          <p:cNvGrpSpPr/>
          <p:nvPr/>
        </p:nvGrpSpPr>
        <p:grpSpPr>
          <a:xfrm>
            <a:off x="4220062" y="1694833"/>
            <a:ext cx="3773330" cy="1588356"/>
            <a:chOff x="4220062" y="1847233"/>
            <a:chExt cx="3773330" cy="1588356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220062" y="1847233"/>
              <a:ext cx="3773330" cy="1588356"/>
            </a:xfrm>
            <a:prstGeom prst="rect">
              <a:avLst/>
            </a:prstGeom>
          </p:spPr>
        </p:pic>
        <p:sp>
          <p:nvSpPr>
            <p:cNvPr id="46" name="타원 45"/>
            <p:cNvSpPr/>
            <p:nvPr/>
          </p:nvSpPr>
          <p:spPr>
            <a:xfrm>
              <a:off x="7135119" y="1923886"/>
              <a:ext cx="734586" cy="734586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" name="타원 47"/>
            <p:cNvSpPr/>
            <p:nvPr/>
          </p:nvSpPr>
          <p:spPr>
            <a:xfrm>
              <a:off x="4980206" y="2323951"/>
              <a:ext cx="531702" cy="531702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41" name="그룹 40"/>
          <p:cNvGrpSpPr/>
          <p:nvPr/>
        </p:nvGrpSpPr>
        <p:grpSpPr>
          <a:xfrm>
            <a:off x="8156588" y="1694833"/>
            <a:ext cx="3711562" cy="1588356"/>
            <a:chOff x="8156588" y="1847233"/>
            <a:chExt cx="3711562" cy="1588356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156588" y="1847233"/>
              <a:ext cx="3711562" cy="1588356"/>
            </a:xfrm>
            <a:prstGeom prst="rect">
              <a:avLst/>
            </a:prstGeom>
          </p:spPr>
        </p:pic>
        <p:sp>
          <p:nvSpPr>
            <p:cNvPr id="55" name="타원 54"/>
            <p:cNvSpPr/>
            <p:nvPr/>
          </p:nvSpPr>
          <p:spPr>
            <a:xfrm>
              <a:off x="10908449" y="1923886"/>
              <a:ext cx="734586" cy="734586"/>
            </a:xfrm>
            <a:prstGeom prst="ellipse">
              <a:avLst/>
            </a:prstGeom>
            <a:noFill/>
            <a:ln w="25400">
              <a:solidFill>
                <a:srgbClr val="F1734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8" name="타원 57"/>
            <p:cNvSpPr/>
            <p:nvPr/>
          </p:nvSpPr>
          <p:spPr>
            <a:xfrm>
              <a:off x="8814265" y="2387600"/>
              <a:ext cx="493430" cy="493430"/>
            </a:xfrm>
            <a:prstGeom prst="ellipse">
              <a:avLst/>
            </a:prstGeom>
            <a:noFill/>
            <a:ln w="25400">
              <a:solidFill>
                <a:srgbClr val="F1734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2" name="모서리가 둥근 직사각형 11"/>
          <p:cNvSpPr/>
          <p:nvPr/>
        </p:nvSpPr>
        <p:spPr>
          <a:xfrm>
            <a:off x="8168263" y="3657613"/>
            <a:ext cx="3726312" cy="2520000"/>
          </a:xfrm>
          <a:prstGeom prst="roundRect">
            <a:avLst>
              <a:gd name="adj" fmla="val 8295"/>
            </a:avLst>
          </a:prstGeom>
          <a:solidFill>
            <a:srgbClr val="D8D2CE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5" name="그림 64"/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96219" y="3754607"/>
            <a:ext cx="1487968" cy="1487968"/>
          </a:xfrm>
          <a:custGeom>
            <a:avLst/>
            <a:gdLst>
              <a:gd name="connsiteX0" fmla="*/ 743984 w 1487968"/>
              <a:gd name="connsiteY0" fmla="*/ 0 h 1487968"/>
              <a:gd name="connsiteX1" fmla="*/ 1487968 w 1487968"/>
              <a:gd name="connsiteY1" fmla="*/ 743984 h 1487968"/>
              <a:gd name="connsiteX2" fmla="*/ 743984 w 1487968"/>
              <a:gd name="connsiteY2" fmla="*/ 1487968 h 1487968"/>
              <a:gd name="connsiteX3" fmla="*/ 0 w 1487968"/>
              <a:gd name="connsiteY3" fmla="*/ 743984 h 1487968"/>
              <a:gd name="connsiteX4" fmla="*/ 743984 w 1487968"/>
              <a:gd name="connsiteY4" fmla="*/ 0 h 1487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7968" h="1487968">
                <a:moveTo>
                  <a:pt x="743984" y="0"/>
                </a:moveTo>
                <a:cubicBezTo>
                  <a:pt x="1154875" y="0"/>
                  <a:pt x="1487968" y="333093"/>
                  <a:pt x="1487968" y="743984"/>
                </a:cubicBezTo>
                <a:cubicBezTo>
                  <a:pt x="1487968" y="1154875"/>
                  <a:pt x="1154875" y="1487968"/>
                  <a:pt x="743984" y="1487968"/>
                </a:cubicBezTo>
                <a:cubicBezTo>
                  <a:pt x="333093" y="1487968"/>
                  <a:pt x="0" y="1154875"/>
                  <a:pt x="0" y="743984"/>
                </a:cubicBezTo>
                <a:cubicBezTo>
                  <a:pt x="0" y="333093"/>
                  <a:pt x="333093" y="0"/>
                  <a:pt x="743984" y="0"/>
                </a:cubicBezTo>
                <a:close/>
              </a:path>
            </a:pathLst>
          </a:custGeom>
          <a:ln w="25400">
            <a:solidFill>
              <a:srgbClr val="F17341"/>
            </a:solidFill>
            <a:prstDash val="sysDash"/>
          </a:ln>
        </p:spPr>
      </p:pic>
      <p:sp>
        <p:nvSpPr>
          <p:cNvPr id="52" name="모서리가 둥근 직사각형 51"/>
          <p:cNvSpPr/>
          <p:nvPr/>
        </p:nvSpPr>
        <p:spPr>
          <a:xfrm>
            <a:off x="4243571" y="3657613"/>
            <a:ext cx="3726312" cy="2520000"/>
          </a:xfrm>
          <a:prstGeom prst="roundRect">
            <a:avLst>
              <a:gd name="adj" fmla="val 8295"/>
            </a:avLst>
          </a:prstGeom>
          <a:solidFill>
            <a:srgbClr val="D8D2CE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7" name="그림 76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10376" y="3754607"/>
            <a:ext cx="1447376" cy="1447376"/>
          </a:xfrm>
          <a:custGeom>
            <a:avLst/>
            <a:gdLst>
              <a:gd name="connsiteX0" fmla="*/ 723688 w 1447376"/>
              <a:gd name="connsiteY0" fmla="*/ 0 h 1447376"/>
              <a:gd name="connsiteX1" fmla="*/ 1447376 w 1447376"/>
              <a:gd name="connsiteY1" fmla="*/ 723688 h 1447376"/>
              <a:gd name="connsiteX2" fmla="*/ 723688 w 1447376"/>
              <a:gd name="connsiteY2" fmla="*/ 1447376 h 1447376"/>
              <a:gd name="connsiteX3" fmla="*/ 0 w 1447376"/>
              <a:gd name="connsiteY3" fmla="*/ 723688 h 1447376"/>
              <a:gd name="connsiteX4" fmla="*/ 723688 w 1447376"/>
              <a:gd name="connsiteY4" fmla="*/ 0 h 1447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7376" h="1447376">
                <a:moveTo>
                  <a:pt x="723688" y="0"/>
                </a:moveTo>
                <a:cubicBezTo>
                  <a:pt x="1123370" y="0"/>
                  <a:pt x="1447376" y="324006"/>
                  <a:pt x="1447376" y="723688"/>
                </a:cubicBezTo>
                <a:cubicBezTo>
                  <a:pt x="1447376" y="1123370"/>
                  <a:pt x="1123370" y="1447376"/>
                  <a:pt x="723688" y="1447376"/>
                </a:cubicBezTo>
                <a:cubicBezTo>
                  <a:pt x="324006" y="1447376"/>
                  <a:pt x="0" y="1123370"/>
                  <a:pt x="0" y="723688"/>
                </a:cubicBezTo>
                <a:cubicBezTo>
                  <a:pt x="0" y="324006"/>
                  <a:pt x="324006" y="0"/>
                  <a:pt x="723688" y="0"/>
                </a:cubicBezTo>
                <a:close/>
              </a:path>
            </a:pathLst>
          </a:custGeom>
          <a:ln w="25400">
            <a:solidFill>
              <a:srgbClr val="FF0000"/>
            </a:solidFill>
            <a:prstDash val="sysDash"/>
          </a:ln>
        </p:spPr>
      </p:pic>
      <p:sp>
        <p:nvSpPr>
          <p:cNvPr id="63" name="모서리가 둥근 직사각형 62"/>
          <p:cNvSpPr/>
          <p:nvPr/>
        </p:nvSpPr>
        <p:spPr>
          <a:xfrm>
            <a:off x="313363" y="3657613"/>
            <a:ext cx="3726312" cy="2520000"/>
          </a:xfrm>
          <a:prstGeom prst="roundRect">
            <a:avLst>
              <a:gd name="adj" fmla="val 8295"/>
            </a:avLst>
          </a:prstGeom>
          <a:solidFill>
            <a:srgbClr val="D8D2CE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1" name="그림 80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06457" y="3754607"/>
            <a:ext cx="1447376" cy="1447376"/>
          </a:xfrm>
          <a:custGeom>
            <a:avLst/>
            <a:gdLst>
              <a:gd name="connsiteX0" fmla="*/ 723688 w 1447376"/>
              <a:gd name="connsiteY0" fmla="*/ 0 h 1447376"/>
              <a:gd name="connsiteX1" fmla="*/ 1447376 w 1447376"/>
              <a:gd name="connsiteY1" fmla="*/ 723688 h 1447376"/>
              <a:gd name="connsiteX2" fmla="*/ 723688 w 1447376"/>
              <a:gd name="connsiteY2" fmla="*/ 1447376 h 1447376"/>
              <a:gd name="connsiteX3" fmla="*/ 0 w 1447376"/>
              <a:gd name="connsiteY3" fmla="*/ 723688 h 1447376"/>
              <a:gd name="connsiteX4" fmla="*/ 723688 w 1447376"/>
              <a:gd name="connsiteY4" fmla="*/ 0 h 1447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7376" h="1447376">
                <a:moveTo>
                  <a:pt x="723688" y="0"/>
                </a:moveTo>
                <a:cubicBezTo>
                  <a:pt x="1123370" y="0"/>
                  <a:pt x="1447376" y="324006"/>
                  <a:pt x="1447376" y="723688"/>
                </a:cubicBezTo>
                <a:cubicBezTo>
                  <a:pt x="1447376" y="1123370"/>
                  <a:pt x="1123370" y="1447376"/>
                  <a:pt x="723688" y="1447376"/>
                </a:cubicBezTo>
                <a:cubicBezTo>
                  <a:pt x="324006" y="1447376"/>
                  <a:pt x="0" y="1123370"/>
                  <a:pt x="0" y="723688"/>
                </a:cubicBezTo>
                <a:cubicBezTo>
                  <a:pt x="0" y="324006"/>
                  <a:pt x="324006" y="0"/>
                  <a:pt x="723688" y="0"/>
                </a:cubicBezTo>
                <a:close/>
              </a:path>
            </a:pathLst>
          </a:custGeom>
          <a:ln w="25400">
            <a:solidFill>
              <a:srgbClr val="006D00"/>
            </a:solidFill>
            <a:prstDash val="sysDash"/>
          </a:ln>
        </p:spPr>
      </p:pic>
      <p:pic>
        <p:nvPicPr>
          <p:cNvPr id="84" name="그림 83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07628" y="3754607"/>
            <a:ext cx="1447376" cy="1447376"/>
          </a:xfrm>
          <a:custGeom>
            <a:avLst/>
            <a:gdLst>
              <a:gd name="connsiteX0" fmla="*/ 723688 w 1447376"/>
              <a:gd name="connsiteY0" fmla="*/ 0 h 1447376"/>
              <a:gd name="connsiteX1" fmla="*/ 1447376 w 1447376"/>
              <a:gd name="connsiteY1" fmla="*/ 723688 h 1447376"/>
              <a:gd name="connsiteX2" fmla="*/ 723688 w 1447376"/>
              <a:gd name="connsiteY2" fmla="*/ 1447376 h 1447376"/>
              <a:gd name="connsiteX3" fmla="*/ 0 w 1447376"/>
              <a:gd name="connsiteY3" fmla="*/ 723688 h 1447376"/>
              <a:gd name="connsiteX4" fmla="*/ 723688 w 1447376"/>
              <a:gd name="connsiteY4" fmla="*/ 0 h 1447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7376" h="1447376">
                <a:moveTo>
                  <a:pt x="723688" y="0"/>
                </a:moveTo>
                <a:cubicBezTo>
                  <a:pt x="1123370" y="0"/>
                  <a:pt x="1447376" y="324006"/>
                  <a:pt x="1447376" y="723688"/>
                </a:cubicBezTo>
                <a:cubicBezTo>
                  <a:pt x="1447376" y="1123370"/>
                  <a:pt x="1123370" y="1447376"/>
                  <a:pt x="723688" y="1447376"/>
                </a:cubicBezTo>
                <a:cubicBezTo>
                  <a:pt x="324006" y="1447376"/>
                  <a:pt x="0" y="1123370"/>
                  <a:pt x="0" y="723688"/>
                </a:cubicBezTo>
                <a:cubicBezTo>
                  <a:pt x="0" y="324006"/>
                  <a:pt x="324006" y="0"/>
                  <a:pt x="723688" y="0"/>
                </a:cubicBezTo>
                <a:close/>
              </a:path>
            </a:pathLst>
          </a:custGeom>
          <a:ln w="25400">
            <a:solidFill>
              <a:srgbClr val="F17341"/>
            </a:solidFill>
            <a:prstDash val="sysDash"/>
          </a:ln>
        </p:spPr>
      </p:pic>
      <p:pic>
        <p:nvPicPr>
          <p:cNvPr id="87" name="그림 86"/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9576" y="3754607"/>
            <a:ext cx="1447376" cy="1447376"/>
          </a:xfrm>
          <a:custGeom>
            <a:avLst/>
            <a:gdLst>
              <a:gd name="connsiteX0" fmla="*/ 723688 w 1447376"/>
              <a:gd name="connsiteY0" fmla="*/ 0 h 1447376"/>
              <a:gd name="connsiteX1" fmla="*/ 1447376 w 1447376"/>
              <a:gd name="connsiteY1" fmla="*/ 723688 h 1447376"/>
              <a:gd name="connsiteX2" fmla="*/ 723688 w 1447376"/>
              <a:gd name="connsiteY2" fmla="*/ 1447376 h 1447376"/>
              <a:gd name="connsiteX3" fmla="*/ 0 w 1447376"/>
              <a:gd name="connsiteY3" fmla="*/ 723688 h 1447376"/>
              <a:gd name="connsiteX4" fmla="*/ 723688 w 1447376"/>
              <a:gd name="connsiteY4" fmla="*/ 0 h 1447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7376" h="1447376">
                <a:moveTo>
                  <a:pt x="723688" y="0"/>
                </a:moveTo>
                <a:cubicBezTo>
                  <a:pt x="1123370" y="0"/>
                  <a:pt x="1447376" y="324006"/>
                  <a:pt x="1447376" y="723688"/>
                </a:cubicBezTo>
                <a:cubicBezTo>
                  <a:pt x="1447376" y="1123370"/>
                  <a:pt x="1123370" y="1447376"/>
                  <a:pt x="723688" y="1447376"/>
                </a:cubicBezTo>
                <a:cubicBezTo>
                  <a:pt x="324006" y="1447376"/>
                  <a:pt x="0" y="1123370"/>
                  <a:pt x="0" y="723688"/>
                </a:cubicBezTo>
                <a:cubicBezTo>
                  <a:pt x="0" y="324006"/>
                  <a:pt x="324006" y="0"/>
                  <a:pt x="723688" y="0"/>
                </a:cubicBezTo>
                <a:close/>
              </a:path>
            </a:pathLst>
          </a:custGeom>
          <a:ln w="25400">
            <a:solidFill>
              <a:srgbClr val="006D00"/>
            </a:solidFill>
            <a:prstDash val="sysDash"/>
          </a:ln>
        </p:spPr>
      </p:pic>
      <p:pic>
        <p:nvPicPr>
          <p:cNvPr id="89" name="그림 88"/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32728" y="3754607"/>
            <a:ext cx="1447376" cy="1447376"/>
          </a:xfrm>
          <a:custGeom>
            <a:avLst/>
            <a:gdLst>
              <a:gd name="connsiteX0" fmla="*/ 723688 w 1447376"/>
              <a:gd name="connsiteY0" fmla="*/ 0 h 1447376"/>
              <a:gd name="connsiteX1" fmla="*/ 1447376 w 1447376"/>
              <a:gd name="connsiteY1" fmla="*/ 723688 h 1447376"/>
              <a:gd name="connsiteX2" fmla="*/ 723688 w 1447376"/>
              <a:gd name="connsiteY2" fmla="*/ 1447376 h 1447376"/>
              <a:gd name="connsiteX3" fmla="*/ 0 w 1447376"/>
              <a:gd name="connsiteY3" fmla="*/ 723688 h 1447376"/>
              <a:gd name="connsiteX4" fmla="*/ 723688 w 1447376"/>
              <a:gd name="connsiteY4" fmla="*/ 0 h 1447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7376" h="1447376">
                <a:moveTo>
                  <a:pt x="723688" y="0"/>
                </a:moveTo>
                <a:cubicBezTo>
                  <a:pt x="1123370" y="0"/>
                  <a:pt x="1447376" y="324006"/>
                  <a:pt x="1447376" y="723688"/>
                </a:cubicBezTo>
                <a:cubicBezTo>
                  <a:pt x="1447376" y="1123370"/>
                  <a:pt x="1123370" y="1447376"/>
                  <a:pt x="723688" y="1447376"/>
                </a:cubicBezTo>
                <a:cubicBezTo>
                  <a:pt x="324006" y="1447376"/>
                  <a:pt x="0" y="1123370"/>
                  <a:pt x="0" y="723688"/>
                </a:cubicBezTo>
                <a:cubicBezTo>
                  <a:pt x="0" y="324006"/>
                  <a:pt x="324006" y="0"/>
                  <a:pt x="723688" y="0"/>
                </a:cubicBezTo>
                <a:close/>
              </a:path>
            </a:pathLst>
          </a:custGeom>
          <a:ln w="25400">
            <a:solidFill>
              <a:srgbClr val="FF0000"/>
            </a:solidFill>
            <a:prstDash val="sysDash"/>
          </a:ln>
        </p:spPr>
      </p:pic>
      <p:sp>
        <p:nvSpPr>
          <p:cNvPr id="90" name="TextBox 89"/>
          <p:cNvSpPr txBox="1"/>
          <p:nvPr/>
        </p:nvSpPr>
        <p:spPr>
          <a:xfrm>
            <a:off x="699785" y="5427296"/>
            <a:ext cx="3360699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it-IT" altLang="ko-KR" sz="1200" b="1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Natural skin tone and detailed expresssion of different range of colors (representing more details)</a:t>
            </a:r>
            <a:br>
              <a:rPr lang="it-IT" altLang="ko-KR" sz="1200" b="1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it-IT" altLang="ko-KR" sz="1200" b="1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Also, recognize the DHL logo with the rich yellow?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98523" y="5593358"/>
            <a:ext cx="5148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★★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86002" y="5459692"/>
            <a:ext cx="3264934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it-IT" altLang="ko-KR" sz="1200" b="1" dirty="0">
                <a:solidFill>
                  <a:srgbClr val="F1734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More natural skin tone and color details than Q7F,</a:t>
            </a:r>
            <a:br>
              <a:rPr lang="it-IT" altLang="ko-KR" sz="1200" b="1" dirty="0">
                <a:solidFill>
                  <a:srgbClr val="F1734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it-IT" altLang="ko-KR" sz="1200" b="1" dirty="0">
                <a:solidFill>
                  <a:srgbClr val="F1734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with good color intensity.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327864" y="5516843"/>
            <a:ext cx="349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1734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★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33360" y="5456001"/>
            <a:ext cx="3427363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it-IT" altLang="ko-KR" sz="1200" b="1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Due to crude color processing, overall picture looks </a:t>
            </a:r>
            <a:br>
              <a:rPr lang="it-IT" altLang="ko-KR" sz="1200" b="1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it-IT" altLang="ko-KR" sz="1200" b="1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washed with lifeless skin tone and lack of color details. </a:t>
            </a:r>
            <a:br>
              <a:rPr lang="it-IT" altLang="ko-KR" sz="1200" b="1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it-IT" altLang="ko-KR" sz="1200" b="1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The DHL logo is unrecognizable, if not invisible!!</a:t>
            </a:r>
          </a:p>
        </p:txBody>
      </p:sp>
      <p:sp>
        <p:nvSpPr>
          <p:cNvPr id="95" name="직사각형 94"/>
          <p:cNvSpPr/>
          <p:nvPr/>
        </p:nvSpPr>
        <p:spPr>
          <a:xfrm>
            <a:off x="4350412" y="5715000"/>
            <a:ext cx="108000" cy="36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03" name="그룹 102"/>
          <p:cNvGrpSpPr/>
          <p:nvPr/>
        </p:nvGrpSpPr>
        <p:grpSpPr>
          <a:xfrm>
            <a:off x="1349994" y="3317095"/>
            <a:ext cx="1653050" cy="327852"/>
            <a:chOff x="1446132" y="3317095"/>
            <a:chExt cx="1653050" cy="327852"/>
          </a:xfrm>
        </p:grpSpPr>
        <p:sp>
          <p:nvSpPr>
            <p:cNvPr id="20" name="TextBox 19"/>
            <p:cNvSpPr txBox="1"/>
            <p:nvPr/>
          </p:nvSpPr>
          <p:spPr>
            <a:xfrm>
              <a:off x="2595518" y="3318868"/>
              <a:ext cx="5036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Clr>
                  <a:srgbClr val="006D00"/>
                </a:buClr>
              </a:pPr>
              <a:r>
                <a:rPr lang="en-US" altLang="ko-KR" sz="1400" b="1" dirty="0">
                  <a:solidFill>
                    <a:srgbClr val="006D00"/>
                  </a:solidFill>
                  <a:latin typeface="Arial Narrow" panose="020B0606020202030204" pitchFamily="34" charset="0"/>
                </a:rPr>
                <a:t>Best</a:t>
              </a:r>
              <a:endParaRPr lang="ko-KR" altLang="en-US" sz="1400" b="1">
                <a:solidFill>
                  <a:srgbClr val="006D00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97" name="그림 96"/>
            <p:cNvPicPr>
              <a:picLocks noChangeAspect="1"/>
            </p:cNvPicPr>
            <p:nvPr/>
          </p:nvPicPr>
          <p:blipFill>
            <a:blip r:embed="rId14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46132" y="3317095"/>
              <a:ext cx="323032" cy="327852"/>
            </a:xfrm>
            <a:prstGeom prst="rect">
              <a:avLst/>
            </a:prstGeom>
          </p:spPr>
        </p:pic>
        <p:sp>
          <p:nvSpPr>
            <p:cNvPr id="100" name="TextBox 99"/>
            <p:cNvSpPr txBox="1"/>
            <p:nvPr/>
          </p:nvSpPr>
          <p:spPr>
            <a:xfrm>
              <a:off x="1786341" y="3336538"/>
              <a:ext cx="792000" cy="272415"/>
            </a:xfrm>
            <a:prstGeom prst="roundRect">
              <a:avLst/>
            </a:prstGeom>
            <a:solidFill>
              <a:srgbClr val="C00000">
                <a:alpha val="10000"/>
              </a:srgbClr>
            </a:solidFill>
            <a:ln w="19050">
              <a:solidFill>
                <a:srgbClr val="C00000"/>
              </a:solidFill>
            </a:ln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rgbClr val="C00000"/>
                  </a:solidFill>
                  <a:latin typeface="Arial Narrow" panose="020B0606020202030204" pitchFamily="34" charset="0"/>
                </a:rPr>
                <a:t>QNED70</a:t>
              </a:r>
              <a:endParaRPr lang="ko-KR" altLang="en-US" sz="1600" b="1">
                <a:solidFill>
                  <a:srgbClr val="C00000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5244788" y="3279402"/>
            <a:ext cx="1723879" cy="392457"/>
            <a:chOff x="5204763" y="3279402"/>
            <a:chExt cx="1723879" cy="392457"/>
          </a:xfrm>
        </p:grpSpPr>
        <p:sp>
          <p:nvSpPr>
            <p:cNvPr id="53" name="TextBox 52"/>
            <p:cNvSpPr txBox="1"/>
            <p:nvPr/>
          </p:nvSpPr>
          <p:spPr>
            <a:xfrm>
              <a:off x="6466656" y="3318868"/>
              <a:ext cx="4619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Clr>
                  <a:srgbClr val="006D00"/>
                </a:buClr>
              </a:pPr>
              <a:r>
                <a:rPr lang="en-US" altLang="ko-KR" sz="1400" b="1" dirty="0">
                  <a:solidFill>
                    <a:srgbClr val="FF0000"/>
                  </a:solidFill>
                  <a:latin typeface="Arial Narrow" panose="020B0606020202030204" pitchFamily="34" charset="0"/>
                </a:rPr>
                <a:t>Bad</a:t>
              </a:r>
              <a:endParaRPr lang="ko-KR" altLang="en-US" sz="1400" b="1">
                <a:solidFill>
                  <a:srgbClr val="FF0000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99" name="그림 98"/>
            <p:cNvPicPr>
              <a:picLocks noChangeAspect="1"/>
            </p:cNvPicPr>
            <p:nvPr/>
          </p:nvPicPr>
          <p:blipFill>
            <a:blip r:embed="rId15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204763" y="3279402"/>
              <a:ext cx="405728" cy="392457"/>
            </a:xfrm>
            <a:prstGeom prst="rect">
              <a:avLst/>
            </a:prstGeom>
          </p:spPr>
        </p:pic>
        <p:sp>
          <p:nvSpPr>
            <p:cNvPr id="101" name="TextBox 100"/>
            <p:cNvSpPr txBox="1"/>
            <p:nvPr/>
          </p:nvSpPr>
          <p:spPr>
            <a:xfrm>
              <a:off x="5642574" y="3336538"/>
              <a:ext cx="792000" cy="272415"/>
            </a:xfrm>
            <a:prstGeom prst="roundRect">
              <a:avLst/>
            </a:prstGeom>
            <a:solidFill>
              <a:srgbClr val="0070C0">
                <a:alpha val="10000"/>
              </a:srgbClr>
            </a:solidFill>
            <a:ln w="19050">
              <a:solidFill>
                <a:srgbClr val="0070C0"/>
              </a:solidFill>
            </a:ln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rgbClr val="0070C0"/>
                  </a:solidFill>
                  <a:latin typeface="Arial Narrow" panose="020B0606020202030204" pitchFamily="34" charset="0"/>
                </a:rPr>
                <a:t>Q7F</a:t>
              </a:r>
              <a:endParaRPr lang="ko-KR" altLang="en-US" sz="1600" b="1">
                <a:solidFill>
                  <a:srgbClr val="0070C0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05" name="그룹 104"/>
          <p:cNvGrpSpPr/>
          <p:nvPr/>
        </p:nvGrpSpPr>
        <p:grpSpPr>
          <a:xfrm>
            <a:off x="9116843" y="3277760"/>
            <a:ext cx="1791053" cy="358821"/>
            <a:chOff x="9126576" y="3277760"/>
            <a:chExt cx="1791053" cy="358821"/>
          </a:xfrm>
        </p:grpSpPr>
        <p:sp>
          <p:nvSpPr>
            <p:cNvPr id="54" name="TextBox 53"/>
            <p:cNvSpPr txBox="1"/>
            <p:nvPr/>
          </p:nvSpPr>
          <p:spPr>
            <a:xfrm>
              <a:off x="10349845" y="3318868"/>
              <a:ext cx="5677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Clr>
                  <a:srgbClr val="006D00"/>
                </a:buClr>
              </a:pPr>
              <a:r>
                <a:rPr lang="en-US" altLang="ko-KR" sz="1400" b="1" dirty="0">
                  <a:solidFill>
                    <a:srgbClr val="F17341"/>
                  </a:solidFill>
                  <a:latin typeface="Arial Narrow" panose="020B0606020202030204" pitchFamily="34" charset="0"/>
                </a:rPr>
                <a:t>Good</a:t>
              </a:r>
              <a:endParaRPr lang="ko-KR" altLang="en-US" sz="1400" b="1">
                <a:solidFill>
                  <a:srgbClr val="F1734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98" name="그림 97"/>
            <p:cNvPicPr>
              <a:picLocks noChangeAspect="1"/>
            </p:cNvPicPr>
            <p:nvPr/>
          </p:nvPicPr>
          <p:blipFill>
            <a:blip r:embed="rId16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126576" y="3277760"/>
              <a:ext cx="362238" cy="358821"/>
            </a:xfrm>
            <a:prstGeom prst="rect">
              <a:avLst/>
            </a:prstGeom>
          </p:spPr>
        </p:pic>
        <p:sp>
          <p:nvSpPr>
            <p:cNvPr id="102" name="TextBox 101"/>
            <p:cNvSpPr txBox="1"/>
            <p:nvPr/>
          </p:nvSpPr>
          <p:spPr>
            <a:xfrm>
              <a:off x="9523330" y="3336538"/>
              <a:ext cx="792000" cy="272415"/>
            </a:xfrm>
            <a:prstGeom prst="roundRect">
              <a:avLst/>
            </a:prstGeom>
            <a:solidFill>
              <a:srgbClr val="C00000">
                <a:alpha val="10000"/>
              </a:srgbClr>
            </a:solidFill>
            <a:ln w="19050">
              <a:solidFill>
                <a:srgbClr val="C00000"/>
              </a:solidFill>
            </a:ln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rgbClr val="C00000"/>
                  </a:solidFill>
                  <a:latin typeface="Arial Narrow" panose="020B0606020202030204" pitchFamily="34" charset="0"/>
                </a:rPr>
                <a:t>UA75</a:t>
              </a:r>
              <a:endParaRPr lang="ko-KR" altLang="en-US" sz="1600" b="1">
                <a:solidFill>
                  <a:srgbClr val="C00000"/>
                </a:solidFill>
                <a:latin typeface="Arial Narrow" panose="020B0606020202030204" pitchFamily="34" charset="0"/>
              </a:endParaRPr>
            </a:p>
          </p:txBody>
        </p:sp>
      </p:grpSp>
      <p:sp>
        <p:nvSpPr>
          <p:cNvPr id="49" name="실행 단추: 홈 48">
            <a:hlinkClick r:id="rId17" action="ppaction://hlinksldjump" highlightClick="1"/>
          </p:cNvPr>
          <p:cNvSpPr/>
          <p:nvPr/>
        </p:nvSpPr>
        <p:spPr>
          <a:xfrm>
            <a:off x="11538857" y="733695"/>
            <a:ext cx="312079" cy="307777"/>
          </a:xfrm>
          <a:prstGeom prst="actionButtonHom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454244" y="6313195"/>
            <a:ext cx="103936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 Internal demo. Use the guided TV mode </a:t>
            </a:r>
            <a:r>
              <a:rPr lang="en-US" altLang="ko-KR" sz="1100" b="1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ONLY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with content similar to the samples used. Not to be used for anything other than LGE internal training!! </a:t>
            </a: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0643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모서리가 둥근 직사각형 46"/>
          <p:cNvSpPr/>
          <p:nvPr/>
        </p:nvSpPr>
        <p:spPr>
          <a:xfrm>
            <a:off x="0" y="1521458"/>
            <a:ext cx="12191999" cy="483299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rgbClr val="EFEB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92579" y="873684"/>
            <a:ext cx="3700450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6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Tone Mapping</a:t>
            </a:r>
            <a:endParaRPr lang="it-IT" altLang="ko-KR" sz="1400" dirty="0">
              <a:solidFill>
                <a:srgbClr val="FF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3864909" y="-17092"/>
            <a:ext cx="4462183" cy="468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altLang="ko-KR" sz="32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2.Performance</a:t>
            </a:r>
            <a:endParaRPr lang="en-US" altLang="ko-KR" sz="3200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92111" y="1145621"/>
            <a:ext cx="11145619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※ Condition : All TVs set to Vivid Mode(Store Mode), with 4K HDR @60Hz video input from YouTube </a:t>
            </a:r>
            <a:r>
              <a:rPr lang="en-US" altLang="ko-KR" sz="1400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(Video :               at 00:25 /                 at 00:17) </a:t>
            </a:r>
            <a:endParaRPr lang="it-IT" altLang="ko-KR" sz="1200" dirty="0">
              <a:solidFill>
                <a:srgbClr val="006D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8850" y="119596"/>
            <a:ext cx="1681872" cy="3103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ts val="1700"/>
              </a:lnSpc>
            </a:pPr>
            <a:r>
              <a:rPr lang="en-US" altLang="ko-KR" b="1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QNED70 vs. Q7F</a:t>
            </a:r>
            <a:endParaRPr lang="ko-KR" altLang="en-US" b="1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8043691" y="3571888"/>
            <a:ext cx="3969769" cy="2736000"/>
          </a:xfrm>
          <a:prstGeom prst="roundRect">
            <a:avLst>
              <a:gd name="adj" fmla="val 8295"/>
            </a:avLst>
          </a:prstGeom>
          <a:solidFill>
            <a:srgbClr val="D8D2CE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2" name="모서리가 둥근 직사각형 51"/>
          <p:cNvSpPr/>
          <p:nvPr/>
        </p:nvSpPr>
        <p:spPr>
          <a:xfrm>
            <a:off x="4006044" y="3571888"/>
            <a:ext cx="3903602" cy="2736000"/>
          </a:xfrm>
          <a:prstGeom prst="roundRect">
            <a:avLst>
              <a:gd name="adj" fmla="val 8295"/>
            </a:avLst>
          </a:prstGeom>
          <a:solidFill>
            <a:srgbClr val="D8D2CE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3" name="모서리가 둥근 직사각형 62"/>
          <p:cNvSpPr/>
          <p:nvPr/>
        </p:nvSpPr>
        <p:spPr>
          <a:xfrm>
            <a:off x="142740" y="3571888"/>
            <a:ext cx="3723774" cy="2736000"/>
          </a:xfrm>
          <a:prstGeom prst="roundRect">
            <a:avLst>
              <a:gd name="adj" fmla="val 8295"/>
            </a:avLst>
          </a:prstGeom>
          <a:solidFill>
            <a:srgbClr val="D8D2CE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9" name="그림 28">
            <a:hlinkClick r:id="rId3"/>
          </p:cNvPr>
          <p:cNvPicPr>
            <a:picLocks noChangeAspect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28238" y="1095674"/>
            <a:ext cx="531091" cy="398979"/>
          </a:xfrm>
          <a:prstGeom prst="rect">
            <a:avLst/>
          </a:prstGeom>
          <a:noFill/>
        </p:spPr>
      </p:pic>
      <p:pic>
        <p:nvPicPr>
          <p:cNvPr id="55" name="그림 54">
            <a:hlinkClick r:id="rId5"/>
          </p:cNvPr>
          <p:cNvPicPr>
            <a:picLocks noChangeAspect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62899" y="1095674"/>
            <a:ext cx="531091" cy="398979"/>
          </a:xfrm>
          <a:prstGeom prst="rect">
            <a:avLst/>
          </a:prstGeom>
          <a:noFill/>
        </p:spPr>
      </p:pic>
      <p:grpSp>
        <p:nvGrpSpPr>
          <p:cNvPr id="22" name="그룹 21"/>
          <p:cNvGrpSpPr/>
          <p:nvPr/>
        </p:nvGrpSpPr>
        <p:grpSpPr>
          <a:xfrm>
            <a:off x="111624" y="1665704"/>
            <a:ext cx="3786006" cy="1503372"/>
            <a:chOff x="111624" y="1903829"/>
            <a:chExt cx="3786006" cy="1503372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1624" y="1903830"/>
              <a:ext cx="2344162" cy="1503371"/>
            </a:xfrm>
            <a:prstGeom prst="rect">
              <a:avLst/>
            </a:prstGeom>
          </p:spPr>
        </p:pic>
        <p:pic>
          <p:nvPicPr>
            <p:cNvPr id="15" name="그림 14"/>
            <p:cNvPicPr>
              <a:picLocks noChangeAspect="1"/>
            </p:cNvPicPr>
            <p:nvPr/>
          </p:nvPicPr>
          <p:blipFill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450636" y="1903829"/>
              <a:ext cx="1446994" cy="1503371"/>
            </a:xfrm>
            <a:prstGeom prst="rect">
              <a:avLst/>
            </a:prstGeom>
          </p:spPr>
        </p:pic>
        <p:sp>
          <p:nvSpPr>
            <p:cNvPr id="11" name="타원 10"/>
            <p:cNvSpPr/>
            <p:nvPr/>
          </p:nvSpPr>
          <p:spPr>
            <a:xfrm>
              <a:off x="2704792" y="2136281"/>
              <a:ext cx="971857" cy="971857"/>
            </a:xfrm>
            <a:prstGeom prst="ellipse">
              <a:avLst/>
            </a:prstGeom>
            <a:noFill/>
            <a:ln w="25400">
              <a:solidFill>
                <a:srgbClr val="006D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" name="타원 36"/>
            <p:cNvSpPr/>
            <p:nvPr/>
          </p:nvSpPr>
          <p:spPr>
            <a:xfrm>
              <a:off x="1491758" y="2251644"/>
              <a:ext cx="884182" cy="884182"/>
            </a:xfrm>
            <a:prstGeom prst="ellipse">
              <a:avLst/>
            </a:prstGeom>
            <a:noFill/>
            <a:ln w="25400">
              <a:solidFill>
                <a:srgbClr val="006D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4014624" y="1662436"/>
            <a:ext cx="3886442" cy="1507592"/>
            <a:chOff x="4007878" y="1900561"/>
            <a:chExt cx="3886442" cy="1507592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424899" y="1900561"/>
              <a:ext cx="1469421" cy="1506639"/>
            </a:xfrm>
            <a:prstGeom prst="rect">
              <a:avLst/>
            </a:prstGeom>
          </p:spPr>
        </p:pic>
        <p:pic>
          <p:nvPicPr>
            <p:cNvPr id="21" name="그림 20"/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007878" y="1900561"/>
              <a:ext cx="2418255" cy="1507592"/>
            </a:xfrm>
            <a:prstGeom prst="rect">
              <a:avLst/>
            </a:prstGeom>
          </p:spPr>
        </p:pic>
        <p:sp>
          <p:nvSpPr>
            <p:cNvPr id="33" name="타원 32"/>
            <p:cNvSpPr/>
            <p:nvPr/>
          </p:nvSpPr>
          <p:spPr>
            <a:xfrm>
              <a:off x="6684665" y="2147569"/>
              <a:ext cx="957164" cy="957164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" name="타원 35"/>
            <p:cNvSpPr/>
            <p:nvPr/>
          </p:nvSpPr>
          <p:spPr>
            <a:xfrm>
              <a:off x="5471570" y="2251643"/>
              <a:ext cx="890989" cy="890989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8036601" y="1654705"/>
            <a:ext cx="3983949" cy="1514370"/>
            <a:chOff x="8036601" y="1892830"/>
            <a:chExt cx="3983949" cy="1514370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36601" y="1892830"/>
              <a:ext cx="2532610" cy="1514370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 rotWithShape="1"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69211" y="1898649"/>
              <a:ext cx="1451339" cy="1508551"/>
            </a:xfrm>
            <a:prstGeom prst="rect">
              <a:avLst/>
            </a:prstGeom>
          </p:spPr>
        </p:pic>
        <p:sp>
          <p:nvSpPr>
            <p:cNvPr id="34" name="타원 33"/>
            <p:cNvSpPr/>
            <p:nvPr/>
          </p:nvSpPr>
          <p:spPr>
            <a:xfrm>
              <a:off x="10847922" y="2147906"/>
              <a:ext cx="908858" cy="908858"/>
            </a:xfrm>
            <a:prstGeom prst="ellipse">
              <a:avLst/>
            </a:prstGeom>
            <a:noFill/>
            <a:ln w="25400">
              <a:solidFill>
                <a:srgbClr val="F1734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5" name="타원 34"/>
            <p:cNvSpPr/>
            <p:nvPr/>
          </p:nvSpPr>
          <p:spPr>
            <a:xfrm>
              <a:off x="9548941" y="2204847"/>
              <a:ext cx="930978" cy="930978"/>
            </a:xfrm>
            <a:prstGeom prst="ellipse">
              <a:avLst/>
            </a:prstGeom>
            <a:noFill/>
            <a:ln w="25400">
              <a:solidFill>
                <a:srgbClr val="F1734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61" name="그림 60"/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1391" y="3662410"/>
            <a:ext cx="1447376" cy="1447376"/>
          </a:xfrm>
          <a:custGeom>
            <a:avLst/>
            <a:gdLst>
              <a:gd name="connsiteX0" fmla="*/ 723688 w 1447376"/>
              <a:gd name="connsiteY0" fmla="*/ 0 h 1447376"/>
              <a:gd name="connsiteX1" fmla="*/ 1447376 w 1447376"/>
              <a:gd name="connsiteY1" fmla="*/ 723688 h 1447376"/>
              <a:gd name="connsiteX2" fmla="*/ 723688 w 1447376"/>
              <a:gd name="connsiteY2" fmla="*/ 1447376 h 1447376"/>
              <a:gd name="connsiteX3" fmla="*/ 0 w 1447376"/>
              <a:gd name="connsiteY3" fmla="*/ 723688 h 1447376"/>
              <a:gd name="connsiteX4" fmla="*/ 723688 w 1447376"/>
              <a:gd name="connsiteY4" fmla="*/ 0 h 1447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7376" h="1447376">
                <a:moveTo>
                  <a:pt x="723688" y="0"/>
                </a:moveTo>
                <a:cubicBezTo>
                  <a:pt x="1123370" y="0"/>
                  <a:pt x="1447376" y="324006"/>
                  <a:pt x="1447376" y="723688"/>
                </a:cubicBezTo>
                <a:cubicBezTo>
                  <a:pt x="1447376" y="1123370"/>
                  <a:pt x="1123370" y="1447376"/>
                  <a:pt x="723688" y="1447376"/>
                </a:cubicBezTo>
                <a:cubicBezTo>
                  <a:pt x="324006" y="1447376"/>
                  <a:pt x="0" y="1123370"/>
                  <a:pt x="0" y="723688"/>
                </a:cubicBezTo>
                <a:cubicBezTo>
                  <a:pt x="0" y="324006"/>
                  <a:pt x="324006" y="0"/>
                  <a:pt x="723688" y="0"/>
                </a:cubicBezTo>
                <a:close/>
              </a:path>
            </a:pathLst>
          </a:custGeom>
          <a:ln w="25400">
            <a:solidFill>
              <a:srgbClr val="006D00"/>
            </a:solidFill>
            <a:prstDash val="sysDash"/>
          </a:ln>
        </p:spPr>
      </p:pic>
      <p:pic>
        <p:nvPicPr>
          <p:cNvPr id="64" name="그림 63"/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06508" y="3662410"/>
            <a:ext cx="1447376" cy="1447376"/>
          </a:xfrm>
          <a:custGeom>
            <a:avLst/>
            <a:gdLst>
              <a:gd name="connsiteX0" fmla="*/ 723688 w 1447376"/>
              <a:gd name="connsiteY0" fmla="*/ 0 h 1447376"/>
              <a:gd name="connsiteX1" fmla="*/ 1447376 w 1447376"/>
              <a:gd name="connsiteY1" fmla="*/ 723688 h 1447376"/>
              <a:gd name="connsiteX2" fmla="*/ 723688 w 1447376"/>
              <a:gd name="connsiteY2" fmla="*/ 1447376 h 1447376"/>
              <a:gd name="connsiteX3" fmla="*/ 0 w 1447376"/>
              <a:gd name="connsiteY3" fmla="*/ 723688 h 1447376"/>
              <a:gd name="connsiteX4" fmla="*/ 723688 w 1447376"/>
              <a:gd name="connsiteY4" fmla="*/ 0 h 1447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7376" h="1447376">
                <a:moveTo>
                  <a:pt x="723688" y="0"/>
                </a:moveTo>
                <a:cubicBezTo>
                  <a:pt x="1123370" y="0"/>
                  <a:pt x="1447376" y="324006"/>
                  <a:pt x="1447376" y="723688"/>
                </a:cubicBezTo>
                <a:cubicBezTo>
                  <a:pt x="1447376" y="1123370"/>
                  <a:pt x="1123370" y="1447376"/>
                  <a:pt x="723688" y="1447376"/>
                </a:cubicBezTo>
                <a:cubicBezTo>
                  <a:pt x="324006" y="1447376"/>
                  <a:pt x="0" y="1123370"/>
                  <a:pt x="0" y="723688"/>
                </a:cubicBezTo>
                <a:cubicBezTo>
                  <a:pt x="0" y="324006"/>
                  <a:pt x="324006" y="0"/>
                  <a:pt x="723688" y="0"/>
                </a:cubicBezTo>
                <a:close/>
              </a:path>
            </a:pathLst>
          </a:custGeom>
          <a:ln w="25400">
            <a:solidFill>
              <a:srgbClr val="FF0000"/>
            </a:solidFill>
            <a:prstDash val="sysDash"/>
          </a:ln>
        </p:spPr>
      </p:pic>
      <p:pic>
        <p:nvPicPr>
          <p:cNvPr id="65" name="그림 64"/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08601" y="3662410"/>
            <a:ext cx="1447376" cy="1447376"/>
          </a:xfrm>
          <a:custGeom>
            <a:avLst/>
            <a:gdLst>
              <a:gd name="connsiteX0" fmla="*/ 723688 w 1447376"/>
              <a:gd name="connsiteY0" fmla="*/ 0 h 1447376"/>
              <a:gd name="connsiteX1" fmla="*/ 1447376 w 1447376"/>
              <a:gd name="connsiteY1" fmla="*/ 723688 h 1447376"/>
              <a:gd name="connsiteX2" fmla="*/ 723688 w 1447376"/>
              <a:gd name="connsiteY2" fmla="*/ 1447376 h 1447376"/>
              <a:gd name="connsiteX3" fmla="*/ 0 w 1447376"/>
              <a:gd name="connsiteY3" fmla="*/ 723688 h 1447376"/>
              <a:gd name="connsiteX4" fmla="*/ 723688 w 1447376"/>
              <a:gd name="connsiteY4" fmla="*/ 0 h 1447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7376" h="1447376">
                <a:moveTo>
                  <a:pt x="723688" y="0"/>
                </a:moveTo>
                <a:cubicBezTo>
                  <a:pt x="1123370" y="0"/>
                  <a:pt x="1447376" y="324006"/>
                  <a:pt x="1447376" y="723688"/>
                </a:cubicBezTo>
                <a:cubicBezTo>
                  <a:pt x="1447376" y="1123370"/>
                  <a:pt x="1123370" y="1447376"/>
                  <a:pt x="723688" y="1447376"/>
                </a:cubicBezTo>
                <a:cubicBezTo>
                  <a:pt x="324006" y="1447376"/>
                  <a:pt x="0" y="1123370"/>
                  <a:pt x="0" y="723688"/>
                </a:cubicBezTo>
                <a:cubicBezTo>
                  <a:pt x="0" y="324006"/>
                  <a:pt x="324006" y="0"/>
                  <a:pt x="723688" y="0"/>
                </a:cubicBezTo>
                <a:close/>
              </a:path>
            </a:pathLst>
          </a:custGeom>
          <a:ln w="25400">
            <a:solidFill>
              <a:srgbClr val="F17341"/>
            </a:solidFill>
            <a:prstDash val="sysDash"/>
          </a:ln>
        </p:spPr>
      </p:pic>
      <p:pic>
        <p:nvPicPr>
          <p:cNvPr id="79" name="그림 78"/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16226" y="3658396"/>
            <a:ext cx="1451390" cy="1451390"/>
          </a:xfrm>
          <a:custGeom>
            <a:avLst/>
            <a:gdLst>
              <a:gd name="connsiteX0" fmla="*/ 725695 w 1451390"/>
              <a:gd name="connsiteY0" fmla="*/ 0 h 1451390"/>
              <a:gd name="connsiteX1" fmla="*/ 1451390 w 1451390"/>
              <a:gd name="connsiteY1" fmla="*/ 725695 h 1451390"/>
              <a:gd name="connsiteX2" fmla="*/ 725695 w 1451390"/>
              <a:gd name="connsiteY2" fmla="*/ 1451390 h 1451390"/>
              <a:gd name="connsiteX3" fmla="*/ 0 w 1451390"/>
              <a:gd name="connsiteY3" fmla="*/ 725695 h 1451390"/>
              <a:gd name="connsiteX4" fmla="*/ 725695 w 1451390"/>
              <a:gd name="connsiteY4" fmla="*/ 0 h 1451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1390" h="1451390">
                <a:moveTo>
                  <a:pt x="725695" y="0"/>
                </a:moveTo>
                <a:cubicBezTo>
                  <a:pt x="1126485" y="0"/>
                  <a:pt x="1451390" y="324905"/>
                  <a:pt x="1451390" y="725695"/>
                </a:cubicBezTo>
                <a:cubicBezTo>
                  <a:pt x="1451390" y="1126485"/>
                  <a:pt x="1126485" y="1451390"/>
                  <a:pt x="725695" y="1451390"/>
                </a:cubicBezTo>
                <a:cubicBezTo>
                  <a:pt x="324905" y="1451390"/>
                  <a:pt x="0" y="1126485"/>
                  <a:pt x="0" y="725695"/>
                </a:cubicBezTo>
                <a:cubicBezTo>
                  <a:pt x="0" y="324905"/>
                  <a:pt x="324905" y="0"/>
                  <a:pt x="725695" y="0"/>
                </a:cubicBezTo>
                <a:close/>
              </a:path>
            </a:pathLst>
          </a:custGeom>
          <a:ln w="25400">
            <a:solidFill>
              <a:srgbClr val="F17341"/>
            </a:solidFill>
            <a:prstDash val="sysDash"/>
          </a:ln>
        </p:spPr>
      </p:pic>
      <p:pic>
        <p:nvPicPr>
          <p:cNvPr id="82" name="그림 81"/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56505" y="3658396"/>
            <a:ext cx="1451390" cy="1451390"/>
          </a:xfrm>
          <a:custGeom>
            <a:avLst/>
            <a:gdLst>
              <a:gd name="connsiteX0" fmla="*/ 725695 w 1451390"/>
              <a:gd name="connsiteY0" fmla="*/ 0 h 1451390"/>
              <a:gd name="connsiteX1" fmla="*/ 1451390 w 1451390"/>
              <a:gd name="connsiteY1" fmla="*/ 725695 h 1451390"/>
              <a:gd name="connsiteX2" fmla="*/ 725695 w 1451390"/>
              <a:gd name="connsiteY2" fmla="*/ 1451390 h 1451390"/>
              <a:gd name="connsiteX3" fmla="*/ 0 w 1451390"/>
              <a:gd name="connsiteY3" fmla="*/ 725695 h 1451390"/>
              <a:gd name="connsiteX4" fmla="*/ 725695 w 1451390"/>
              <a:gd name="connsiteY4" fmla="*/ 0 h 1451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1390" h="1451390">
                <a:moveTo>
                  <a:pt x="725695" y="0"/>
                </a:moveTo>
                <a:cubicBezTo>
                  <a:pt x="1126485" y="0"/>
                  <a:pt x="1451390" y="324905"/>
                  <a:pt x="1451390" y="725695"/>
                </a:cubicBezTo>
                <a:cubicBezTo>
                  <a:pt x="1451390" y="1126485"/>
                  <a:pt x="1126485" y="1451390"/>
                  <a:pt x="725695" y="1451390"/>
                </a:cubicBezTo>
                <a:cubicBezTo>
                  <a:pt x="324905" y="1451390"/>
                  <a:pt x="0" y="1126485"/>
                  <a:pt x="0" y="725695"/>
                </a:cubicBezTo>
                <a:cubicBezTo>
                  <a:pt x="0" y="324905"/>
                  <a:pt x="324905" y="0"/>
                  <a:pt x="725695" y="0"/>
                </a:cubicBezTo>
                <a:close/>
              </a:path>
            </a:pathLst>
          </a:custGeom>
          <a:ln w="25400">
            <a:solidFill>
              <a:srgbClr val="FF0000"/>
            </a:solidFill>
            <a:prstDash val="sysDash"/>
          </a:ln>
        </p:spPr>
      </p:pic>
      <p:pic>
        <p:nvPicPr>
          <p:cNvPr id="84" name="그림 83"/>
          <p:cNvPicPr>
            <a:picLocks noChangeAspect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74400" y="3658396"/>
            <a:ext cx="1451390" cy="1451390"/>
          </a:xfrm>
          <a:custGeom>
            <a:avLst/>
            <a:gdLst>
              <a:gd name="connsiteX0" fmla="*/ 725695 w 1451390"/>
              <a:gd name="connsiteY0" fmla="*/ 0 h 1451390"/>
              <a:gd name="connsiteX1" fmla="*/ 1451390 w 1451390"/>
              <a:gd name="connsiteY1" fmla="*/ 725695 h 1451390"/>
              <a:gd name="connsiteX2" fmla="*/ 725695 w 1451390"/>
              <a:gd name="connsiteY2" fmla="*/ 1451390 h 1451390"/>
              <a:gd name="connsiteX3" fmla="*/ 0 w 1451390"/>
              <a:gd name="connsiteY3" fmla="*/ 725695 h 1451390"/>
              <a:gd name="connsiteX4" fmla="*/ 725695 w 1451390"/>
              <a:gd name="connsiteY4" fmla="*/ 0 h 1451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1390" h="1451390">
                <a:moveTo>
                  <a:pt x="725695" y="0"/>
                </a:moveTo>
                <a:cubicBezTo>
                  <a:pt x="1126485" y="0"/>
                  <a:pt x="1451390" y="324905"/>
                  <a:pt x="1451390" y="725695"/>
                </a:cubicBezTo>
                <a:cubicBezTo>
                  <a:pt x="1451390" y="1126485"/>
                  <a:pt x="1126485" y="1451390"/>
                  <a:pt x="725695" y="1451390"/>
                </a:cubicBezTo>
                <a:cubicBezTo>
                  <a:pt x="324905" y="1451390"/>
                  <a:pt x="0" y="1126485"/>
                  <a:pt x="0" y="725695"/>
                </a:cubicBezTo>
                <a:cubicBezTo>
                  <a:pt x="0" y="324905"/>
                  <a:pt x="324905" y="0"/>
                  <a:pt x="725695" y="0"/>
                </a:cubicBezTo>
                <a:close/>
              </a:path>
            </a:pathLst>
          </a:custGeom>
          <a:ln w="25400">
            <a:solidFill>
              <a:srgbClr val="006D00"/>
            </a:solidFill>
            <a:prstDash val="sysDash"/>
          </a:ln>
        </p:spPr>
      </p:pic>
      <p:sp>
        <p:nvSpPr>
          <p:cNvPr id="86" name="TextBox 85"/>
          <p:cNvSpPr txBox="1"/>
          <p:nvPr/>
        </p:nvSpPr>
        <p:spPr>
          <a:xfrm>
            <a:off x="633110" y="5160596"/>
            <a:ext cx="3126327" cy="110799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1200" b="1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Dynamic</a:t>
            </a:r>
            <a:r>
              <a:rPr lang="ko-KR" altLang="en-US" sz="1200" b="1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1200" b="1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Tone Mapping makes sure the fine color </a:t>
            </a:r>
            <a:br>
              <a:rPr lang="en-US" altLang="ko-KR" sz="1200" b="1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200" b="1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and brightness details are clearly represented.</a:t>
            </a:r>
            <a:br>
              <a:rPr lang="en-US" altLang="ko-KR" sz="1200" b="1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200" b="1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The contrast on the wing pattern and the sleeve</a:t>
            </a:r>
            <a:br>
              <a:rPr lang="en-US" altLang="ko-KR" sz="1200" b="1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200" b="1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as well as the deep forest in the background</a:t>
            </a:r>
            <a:br>
              <a:rPr lang="en-US" altLang="ko-KR" sz="1200" b="1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200" b="1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Well preserved deep blacks on the helmet while </a:t>
            </a:r>
            <a:br>
              <a:rPr lang="en-US" altLang="ko-KR" sz="1200" b="1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200" b="1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the fine facial details are clearly visible</a:t>
            </a:r>
            <a:endParaRPr lang="it-IT" altLang="ko-KR" sz="1200" b="1" dirty="0">
              <a:solidFill>
                <a:srgbClr val="006D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46123" y="5469533"/>
            <a:ext cx="5148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006D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★★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50892" y="5364442"/>
            <a:ext cx="3686367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it-IT" altLang="ko-KR" sz="1200" b="1" dirty="0">
                <a:solidFill>
                  <a:srgbClr val="F1734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Compared to Q7F, UA75 has ;</a:t>
            </a:r>
            <a:br>
              <a:rPr lang="it-IT" altLang="ko-KR" sz="1200" b="1" dirty="0">
                <a:solidFill>
                  <a:srgbClr val="F1734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it-IT" altLang="ko-KR" sz="1200" b="1" dirty="0">
                <a:solidFill>
                  <a:srgbClr val="F1734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better contrast and color &amp; brightness range representaiton</a:t>
            </a:r>
            <a:br>
              <a:rPr lang="it-IT" altLang="ko-KR" sz="1200" b="1" dirty="0">
                <a:solidFill>
                  <a:srgbClr val="F1734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it-IT" altLang="ko-KR" sz="1200" b="1" dirty="0">
                <a:solidFill>
                  <a:srgbClr val="F1734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 (leading to more detailed and vibrant pictures)</a:t>
            </a:r>
            <a:br>
              <a:rPr lang="it-IT" altLang="ko-KR" sz="1200" b="1" dirty="0">
                <a:solidFill>
                  <a:srgbClr val="F1734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it-IT" altLang="ko-KR" sz="1200" b="1" dirty="0">
                <a:solidFill>
                  <a:srgbClr val="F1734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better blacks, natural skin tone and facial details expression.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975613" y="5581650"/>
            <a:ext cx="349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1734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★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361911" y="5274896"/>
            <a:ext cx="3457802" cy="9233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it-IT" altLang="ko-KR" sz="1200" b="1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Due to boosted brightness, yet crude tone mapping,</a:t>
            </a:r>
            <a:br>
              <a:rPr lang="it-IT" altLang="ko-KR" sz="1200" b="1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it-IT" altLang="ko-KR" sz="1200" b="1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the overall picture brightness is raised without compensation, hampering contrast and color details</a:t>
            </a:r>
            <a:br>
              <a:rPr lang="it-IT" altLang="ko-KR" sz="1200" b="1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it-IT" altLang="ko-KR" sz="1200" b="1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details of the wing and sleeve blurred, colors washed</a:t>
            </a:r>
            <a:br>
              <a:rPr lang="it-IT" altLang="ko-KR" sz="1200" b="1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it-IT" altLang="ko-KR" sz="1200" b="1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raised blacks, pale skin tone and facial details gone.</a:t>
            </a:r>
          </a:p>
        </p:txBody>
      </p:sp>
      <p:sp>
        <p:nvSpPr>
          <p:cNvPr id="91" name="직사각형 90"/>
          <p:cNvSpPr/>
          <p:nvPr/>
        </p:nvSpPr>
        <p:spPr>
          <a:xfrm>
            <a:off x="4112287" y="5610225"/>
            <a:ext cx="108000" cy="36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98" name="그룹 97"/>
          <p:cNvGrpSpPr/>
          <p:nvPr/>
        </p:nvGrpSpPr>
        <p:grpSpPr>
          <a:xfrm>
            <a:off x="1148063" y="3212320"/>
            <a:ext cx="1713128" cy="328600"/>
            <a:chOff x="1442464" y="3212320"/>
            <a:chExt cx="1713128" cy="328600"/>
          </a:xfrm>
        </p:grpSpPr>
        <p:sp>
          <p:nvSpPr>
            <p:cNvPr id="20" name="TextBox 19"/>
            <p:cNvSpPr txBox="1"/>
            <p:nvPr/>
          </p:nvSpPr>
          <p:spPr>
            <a:xfrm>
              <a:off x="2651928" y="3233143"/>
              <a:ext cx="5036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Clr>
                  <a:srgbClr val="006D00"/>
                </a:buClr>
              </a:pPr>
              <a:r>
                <a:rPr lang="en-US" altLang="ko-KR" sz="1400" b="1" dirty="0">
                  <a:solidFill>
                    <a:srgbClr val="006D00"/>
                  </a:solidFill>
                  <a:latin typeface="Arial Narrow" panose="020B0606020202030204" pitchFamily="34" charset="0"/>
                </a:rPr>
                <a:t>Best</a:t>
              </a:r>
              <a:endParaRPr lang="ko-KR" altLang="en-US" sz="1400" b="1">
                <a:solidFill>
                  <a:srgbClr val="006D00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92" name="그림 91"/>
            <p:cNvPicPr>
              <a:picLocks noChangeAspect="1"/>
            </p:cNvPicPr>
            <p:nvPr/>
          </p:nvPicPr>
          <p:blipFill>
            <a:blip r:embed="rId18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42464" y="3212320"/>
              <a:ext cx="323032" cy="327852"/>
            </a:xfrm>
            <a:prstGeom prst="rect">
              <a:avLst/>
            </a:prstGeom>
          </p:spPr>
        </p:pic>
        <p:sp>
          <p:nvSpPr>
            <p:cNvPr id="95" name="TextBox 94"/>
            <p:cNvSpPr txBox="1"/>
            <p:nvPr/>
          </p:nvSpPr>
          <p:spPr>
            <a:xfrm>
              <a:off x="1812712" y="3248618"/>
              <a:ext cx="792000" cy="27241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C00000"/>
              </a:solidFill>
            </a:ln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rgbClr val="C00000"/>
                  </a:solidFill>
                  <a:latin typeface="Arial Narrow" panose="020B0606020202030204" pitchFamily="34" charset="0"/>
                </a:rPr>
                <a:t>QNED70</a:t>
              </a:r>
              <a:endParaRPr lang="ko-KR" altLang="en-US" sz="1600" b="1">
                <a:solidFill>
                  <a:srgbClr val="C00000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99" name="그룹 98"/>
          <p:cNvGrpSpPr/>
          <p:nvPr/>
        </p:nvGrpSpPr>
        <p:grpSpPr>
          <a:xfrm>
            <a:off x="5093711" y="3193677"/>
            <a:ext cx="1728269" cy="392457"/>
            <a:chOff x="5196700" y="3193677"/>
            <a:chExt cx="1728269" cy="392457"/>
          </a:xfrm>
        </p:grpSpPr>
        <p:sp>
          <p:nvSpPr>
            <p:cNvPr id="53" name="TextBox 52"/>
            <p:cNvSpPr txBox="1"/>
            <p:nvPr/>
          </p:nvSpPr>
          <p:spPr>
            <a:xfrm>
              <a:off x="6462983" y="3233143"/>
              <a:ext cx="4619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Clr>
                  <a:srgbClr val="006D00"/>
                </a:buClr>
              </a:pPr>
              <a:r>
                <a:rPr lang="en-US" altLang="ko-KR" sz="1400" b="1" dirty="0">
                  <a:solidFill>
                    <a:srgbClr val="FF0000"/>
                  </a:solidFill>
                  <a:latin typeface="Arial Narrow" panose="020B0606020202030204" pitchFamily="34" charset="0"/>
                </a:rPr>
                <a:t>Bad</a:t>
              </a:r>
              <a:endParaRPr lang="ko-KR" altLang="en-US" sz="1400" b="1">
                <a:solidFill>
                  <a:srgbClr val="FF0000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94" name="그림 93"/>
            <p:cNvPicPr>
              <a:picLocks noChangeAspect="1"/>
            </p:cNvPicPr>
            <p:nvPr/>
          </p:nvPicPr>
          <p:blipFill>
            <a:blip r:embed="rId19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96700" y="3193677"/>
              <a:ext cx="405728" cy="392457"/>
            </a:xfrm>
            <a:prstGeom prst="rect">
              <a:avLst/>
            </a:prstGeom>
          </p:spPr>
        </p:pic>
        <p:sp>
          <p:nvSpPr>
            <p:cNvPr id="96" name="TextBox 95"/>
            <p:cNvSpPr txBox="1"/>
            <p:nvPr/>
          </p:nvSpPr>
          <p:spPr>
            <a:xfrm>
              <a:off x="5636705" y="3248618"/>
              <a:ext cx="792000" cy="27241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0070C0"/>
              </a:solidFill>
            </a:ln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rgbClr val="0070C0"/>
                  </a:solidFill>
                  <a:latin typeface="Arial Narrow" panose="020B0606020202030204" pitchFamily="34" charset="0"/>
                </a:rPr>
                <a:t>Q7F</a:t>
              </a:r>
              <a:endParaRPr lang="ko-KR" altLang="en-US" sz="1600" b="1">
                <a:solidFill>
                  <a:srgbClr val="0070C0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00" name="그룹 99"/>
          <p:cNvGrpSpPr/>
          <p:nvPr/>
        </p:nvGrpSpPr>
        <p:grpSpPr>
          <a:xfrm>
            <a:off x="9094218" y="3192035"/>
            <a:ext cx="1868715" cy="358821"/>
            <a:chOff x="9056240" y="3192035"/>
            <a:chExt cx="1868715" cy="358821"/>
          </a:xfrm>
        </p:grpSpPr>
        <p:sp>
          <p:nvSpPr>
            <p:cNvPr id="54" name="TextBox 53"/>
            <p:cNvSpPr txBox="1"/>
            <p:nvPr/>
          </p:nvSpPr>
          <p:spPr>
            <a:xfrm>
              <a:off x="10357171" y="3233143"/>
              <a:ext cx="5677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Clr>
                  <a:srgbClr val="006D00"/>
                </a:buClr>
              </a:pPr>
              <a:r>
                <a:rPr lang="en-US" altLang="ko-KR" sz="1400" b="1" dirty="0">
                  <a:solidFill>
                    <a:srgbClr val="F17341"/>
                  </a:solidFill>
                  <a:latin typeface="Arial Narrow" panose="020B0606020202030204" pitchFamily="34" charset="0"/>
                </a:rPr>
                <a:t>Good</a:t>
              </a:r>
              <a:endParaRPr lang="ko-KR" altLang="en-US" sz="1400" b="1">
                <a:solidFill>
                  <a:srgbClr val="F1734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93" name="그림 92"/>
            <p:cNvPicPr>
              <a:picLocks noChangeAspect="1"/>
            </p:cNvPicPr>
            <p:nvPr/>
          </p:nvPicPr>
          <p:blipFill>
            <a:blip r:embed="rId20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56240" y="3192035"/>
              <a:ext cx="362238" cy="358821"/>
            </a:xfrm>
            <a:prstGeom prst="rect">
              <a:avLst/>
            </a:prstGeom>
          </p:spPr>
        </p:pic>
        <p:sp>
          <p:nvSpPr>
            <p:cNvPr id="97" name="TextBox 96"/>
            <p:cNvSpPr txBox="1"/>
            <p:nvPr/>
          </p:nvSpPr>
          <p:spPr>
            <a:xfrm>
              <a:off x="9491824" y="3248618"/>
              <a:ext cx="792000" cy="27241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C00000"/>
              </a:solidFill>
            </a:ln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rgbClr val="C00000"/>
                  </a:solidFill>
                  <a:latin typeface="Arial Narrow" panose="020B0606020202030204" pitchFamily="34" charset="0"/>
                </a:rPr>
                <a:t>UA75</a:t>
              </a:r>
              <a:endParaRPr lang="ko-KR" altLang="en-US" sz="1600" b="1">
                <a:solidFill>
                  <a:srgbClr val="C00000"/>
                </a:solidFill>
                <a:latin typeface="Arial Narrow" panose="020B0606020202030204" pitchFamily="34" charset="0"/>
              </a:endParaRPr>
            </a:p>
          </p:txBody>
        </p:sp>
      </p:grpSp>
      <p:sp>
        <p:nvSpPr>
          <p:cNvPr id="56" name="실행 단추: 홈 55">
            <a:hlinkClick r:id="rId21" action="ppaction://hlinksldjump" highlightClick="1"/>
          </p:cNvPr>
          <p:cNvSpPr/>
          <p:nvPr/>
        </p:nvSpPr>
        <p:spPr>
          <a:xfrm>
            <a:off x="11538857" y="733695"/>
            <a:ext cx="312079" cy="307777"/>
          </a:xfrm>
          <a:prstGeom prst="actionButtonHom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454244" y="6313195"/>
            <a:ext cx="103936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 Internal demo. Use the guided TV mode </a:t>
            </a:r>
            <a:r>
              <a:rPr lang="en-US" altLang="ko-KR" sz="1100" b="1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ONLY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with content similar to the samples used. Not to be used for anything other than LGE internal training!! </a:t>
            </a: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3424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3300" y="3019177"/>
            <a:ext cx="5105400" cy="819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4000" b="1" dirty="0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38051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C9288FA1DE3BB4AB812FB0C051D4950" ma:contentTypeVersion="14" ma:contentTypeDescription="새 문서를 만듭니다." ma:contentTypeScope="" ma:versionID="ba189a90aeba7cee6168f12d2317856b">
  <xsd:schema xmlns:xsd="http://www.w3.org/2001/XMLSchema" xmlns:xs="http://www.w3.org/2001/XMLSchema" xmlns:p="http://schemas.microsoft.com/office/2006/metadata/properties" xmlns:ns2="3f256e1a-09f4-4ca7-acff-709cf501cfcf" xmlns:ns3="d89727d7-8dd1-46bc-aefa-00378b6ab1ba" targetNamespace="http://schemas.microsoft.com/office/2006/metadata/properties" ma:root="true" ma:fieldsID="c9e74d7592de05a1ad3ca73a5b196da4" ns2:_="" ns3:_="">
    <xsd:import namespace="3f256e1a-09f4-4ca7-acff-709cf501cfcf"/>
    <xsd:import namespace="d89727d7-8dd1-46bc-aefa-00378b6ab1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_xc81c__xc791_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256e1a-09f4-4ca7-acff-709cf501cf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xc81c__xc791_" ma:index="17" nillable="true" ma:displayName="제작" ma:description="만든사람" ma:format="Dropdown" ma:internalName="_xc81c__xc791_">
      <xsd:simpleType>
        <xsd:restriction base="dms:Text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이미지 태그" ma:readOnly="false" ma:fieldId="{5cf76f15-5ced-4ddc-b409-7134ff3c332f}" ma:taxonomyMulti="true" ma:sspId="7fbd4038-13c0-4266-8e70-5a68fe662a0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9727d7-8dd1-46bc-aefa-00378b6ab1ba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feb58fbb-0efc-40a1-95ab-b5660e1fbfee}" ma:internalName="TaxCatchAll" ma:showField="CatchAllData" ma:web="d89727d7-8dd1-46bc-aefa-00378b6ab1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f256e1a-09f4-4ca7-acff-709cf501cfcf">
      <Terms xmlns="http://schemas.microsoft.com/office/infopath/2007/PartnerControls"/>
    </lcf76f155ced4ddcb4097134ff3c332f>
    <_xc81c__xc791_ xmlns="3f256e1a-09f4-4ca7-acff-709cf501cfcf" xsi:nil="true"/>
    <TaxCatchAll xmlns="d89727d7-8dd1-46bc-aefa-00378b6ab1ba" xsi:nil="true"/>
  </documentManagement>
</p:properties>
</file>

<file path=customXml/itemProps1.xml><?xml version="1.0" encoding="utf-8"?>
<ds:datastoreItem xmlns:ds="http://schemas.openxmlformats.org/officeDocument/2006/customXml" ds:itemID="{04299B2E-6C3C-4C61-89F2-0FFDCE5409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AF20C3-A875-48AC-BE51-991B89EC32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f256e1a-09f4-4ca7-acff-709cf501cfcf"/>
    <ds:schemaRef ds:uri="d89727d7-8dd1-46bc-aefa-00378b6ab1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653E319-D723-40CE-BA67-B3E58ECA8BA6}">
  <ds:schemaRefs>
    <ds:schemaRef ds:uri="http://schemas.microsoft.com/office/2006/metadata/properties"/>
    <ds:schemaRef ds:uri="http://schemas.microsoft.com/office/infopath/2007/PartnerControls"/>
    <ds:schemaRef ds:uri="3f256e1a-09f4-4ca7-acff-709cf501cfcf"/>
    <ds:schemaRef ds:uri="d89727d7-8dd1-46bc-aefa-00378b6ab1b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6088</TotalTime>
  <Words>1067</Words>
  <Application>Microsoft Office PowerPoint</Application>
  <PresentationFormat>와이드스크린</PresentationFormat>
  <Paragraphs>137</Paragraphs>
  <Slides>7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Arial</vt:lpstr>
      <vt:lpstr>Calibri</vt:lpstr>
      <vt:lpstr>Wingdings</vt:lpstr>
      <vt:lpstr>맑은 고딕</vt:lpstr>
      <vt:lpstr>Arial Narrow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윤혜민/책임/오픈이노베이션팀(mina.yun@lge.com)</dc:creator>
  <cp:lastModifiedBy>구임준/팀장/TV GTM실행팀</cp:lastModifiedBy>
  <cp:revision>470</cp:revision>
  <cp:lastPrinted>2025-07-23T00:50:53Z</cp:lastPrinted>
  <dcterms:created xsi:type="dcterms:W3CDTF">2025-03-17T04:28:44Z</dcterms:created>
  <dcterms:modified xsi:type="dcterms:W3CDTF">2025-11-25T08:01:18Z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2025-07-25T04:16:13Z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b30a905d-0114-4419-8242-4026c3428fc9</vt:lpwstr>
  </property>
  <property fmtid="{D5CDD505-2E9C-101B-9397-08002B2CF9AE}" pid="8" name="MSIP_Label_cc6ed9fc-fefc-4a0c-a6d6-10cf236c0d4f_ContentBits">
    <vt:lpwstr>1</vt:lpwstr>
  </property>
  <property fmtid="{D5CDD505-2E9C-101B-9397-08002B2CF9AE}" pid="9" name="ContentTypeId">
    <vt:lpwstr>0x010100AC9288FA1DE3BB4AB812FB0C051D4950</vt:lpwstr>
  </property>
</Properties>
</file>