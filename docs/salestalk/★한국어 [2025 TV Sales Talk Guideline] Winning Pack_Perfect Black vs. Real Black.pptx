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362" r:id="rId4"/>
    <p:sldId id="294" r:id="rId5"/>
    <p:sldId id="357" r:id="rId6"/>
    <p:sldId id="363" r:id="rId7"/>
    <p:sldId id="360" r:id="rId8"/>
    <p:sldId id="323" r:id="rId9"/>
  </p:sldIdLst>
  <p:sldSz cx="12192000" cy="6858000"/>
  <p:notesSz cx="6807200" cy="9939338"/>
  <p:embeddedFontLst>
    <p:embeddedFont>
      <p:font typeface="LG스마트체 Regular" panose="020B0604020202020204" charset="-127"/>
      <p:regular r:id="rId11"/>
    </p:embeddedFont>
    <p:embeddedFont>
      <p:font typeface="맑은 고딕" panose="020B0503020000020004" pitchFamily="34" charset="-127"/>
      <p:regular r:id="rId12"/>
      <p:bold r:id="rId13"/>
    </p:embeddedFont>
    <p:embeddedFont>
      <p:font typeface="Arial Narrow" panose="020B0606020202030204" pitchFamily="34" charset="0"/>
      <p:regular r:id="rId14"/>
      <p:bold r:id="rId15"/>
      <p:italic r:id="rId16"/>
      <p:boldItalic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591" userDrawn="1">
          <p15:clr>
            <a:srgbClr val="A4A3A4"/>
          </p15:clr>
        </p15:guide>
        <p15:guide id="3" pos="4089" userDrawn="1">
          <p15:clr>
            <a:srgbClr val="A4A3A4"/>
          </p15:clr>
        </p15:guide>
        <p15:guide id="4" pos="4475" userDrawn="1">
          <p15:clr>
            <a:srgbClr val="A4A3A4"/>
          </p15:clr>
        </p15:guide>
        <p15:guide id="5" pos="3205" userDrawn="1">
          <p15:clr>
            <a:srgbClr val="A4A3A4"/>
          </p15:clr>
        </p15:guide>
        <p15:guide id="6" pos="2751" userDrawn="1">
          <p15:clr>
            <a:srgbClr val="A4A3A4"/>
          </p15:clr>
        </p15:guide>
        <p15:guide id="7" pos="4929" userDrawn="1">
          <p15:clr>
            <a:srgbClr val="A4A3A4"/>
          </p15:clr>
        </p15:guide>
        <p15:guide id="8" orient="horz" pos="2160">
          <p15:clr>
            <a:srgbClr val="A4A3A4"/>
          </p15:clr>
        </p15:guide>
        <p15:guide id="9" pos="2502" userDrawn="1">
          <p15:clr>
            <a:srgbClr val="A4A3A4"/>
          </p15:clr>
        </p15:guide>
        <p15:guide id="10" pos="51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FF4"/>
    <a:srgbClr val="F0F0F0"/>
    <a:srgbClr val="E6ECEF"/>
    <a:srgbClr val="D6E4F0"/>
    <a:srgbClr val="000000"/>
    <a:srgbClr val="E8ECEE"/>
    <a:srgbClr val="006D00"/>
    <a:srgbClr val="FFA6A6"/>
    <a:srgbClr val="EFEBE7"/>
    <a:srgbClr val="FCED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62" autoAdjust="0"/>
    <p:restoredTop sz="96449" autoAdjust="0"/>
  </p:normalViewPr>
  <p:slideViewPr>
    <p:cSldViewPr snapToGrid="0">
      <p:cViewPr varScale="1">
        <p:scale>
          <a:sx n="115" d="100"/>
          <a:sy n="115" d="100"/>
        </p:scale>
        <p:origin x="102" y="282"/>
      </p:cViewPr>
      <p:guideLst>
        <p:guide pos="3840"/>
        <p:guide pos="3591"/>
        <p:guide pos="4089"/>
        <p:guide pos="4475"/>
        <p:guide pos="3205"/>
        <p:guide pos="2751"/>
        <p:guide pos="4929"/>
        <p:guide orient="horz" pos="2160"/>
        <p:guide pos="2502"/>
        <p:guide pos="51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50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customXml" Target="../customXml/item2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9575" cy="498475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40" y="2"/>
            <a:ext cx="2949575" cy="498475"/>
          </a:xfrm>
          <a:prstGeom prst="rect">
            <a:avLst/>
          </a:prstGeom>
        </p:spPr>
        <p:txBody>
          <a:bodyPr vert="horz" lIns="91424" tIns="45712" rIns="91424" bIns="45712" rtlCol="0"/>
          <a:lstStyle>
            <a:lvl1pPr algn="r">
              <a:defRPr sz="1200"/>
            </a:lvl1pPr>
          </a:lstStyle>
          <a:p>
            <a:fld id="{19BF10AA-7990-4AEF-9B95-02E0F6480CE1}" type="datetimeFigureOut">
              <a:rPr lang="ko-KR" altLang="en-US" smtClean="0"/>
              <a:t>2025-11-12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4" tIns="45712" rIns="91424" bIns="4571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40" y="4783140"/>
            <a:ext cx="5445125" cy="3913187"/>
          </a:xfrm>
          <a:prstGeom prst="rect">
            <a:avLst/>
          </a:prstGeom>
        </p:spPr>
        <p:txBody>
          <a:bodyPr vert="horz" lIns="91424" tIns="45712" rIns="91424" bIns="4571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40863"/>
            <a:ext cx="2949575" cy="49847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40" y="9440863"/>
            <a:ext cx="2949575" cy="498475"/>
          </a:xfrm>
          <a:prstGeom prst="rect">
            <a:avLst/>
          </a:prstGeom>
        </p:spPr>
        <p:txBody>
          <a:bodyPr vert="horz" lIns="91424" tIns="45712" rIns="91424" bIns="45712" rtlCol="0" anchor="b"/>
          <a:lstStyle>
            <a:lvl1pPr algn="r">
              <a:defRPr sz="1200"/>
            </a:lvl1pPr>
          </a:lstStyle>
          <a:p>
            <a:fld id="{E6A3ED32-ECF3-42BB-ABFC-1B57AB679A4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91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D3B2-A639-FC49-BDAE-8EB585515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48BE73-D3AC-5758-31FE-F29D37FC5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71EA81-AE31-183B-A53B-0F0A49A61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4DE98-7C4A-4B5E-78B1-7329C0684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3ED32-ECF3-42BB-ABFC-1B57AB679A4C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205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60E3E-CA22-77AC-D2B1-74277A10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096D2E-9933-6123-E3F2-2538B0AEA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50CECA-96F4-89B6-D3C5-3CC4504B6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2F28F7-3CE7-4FFC-65D7-46CCAABD3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3ED32-ECF3-42BB-ABFC-1B57AB679A4C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59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07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822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 userDrawn="1"/>
        </p:nvSpPr>
        <p:spPr>
          <a:xfrm>
            <a:off x="-7168" y="-1185"/>
            <a:ext cx="12199168" cy="495839"/>
          </a:xfrm>
          <a:prstGeom prst="rect">
            <a:avLst/>
          </a:prstGeom>
          <a:solidFill>
            <a:srgbClr val="D8D2CE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n-US" sz="3200" b="1" dirty="0">
              <a:solidFill>
                <a:srgbClr val="EA0000">
                  <a:alpha val="50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양쪽 모서리가 둥근 사각형 2"/>
          <p:cNvSpPr/>
          <p:nvPr userDrawn="1"/>
        </p:nvSpPr>
        <p:spPr>
          <a:xfrm>
            <a:off x="10288883" y="0"/>
            <a:ext cx="1905000" cy="483577"/>
          </a:xfrm>
          <a:prstGeom prst="round2SameRect">
            <a:avLst>
              <a:gd name="adj1" fmla="val 0"/>
              <a:gd name="adj2" fmla="val 38095"/>
            </a:avLst>
          </a:prstGeom>
          <a:solidFill>
            <a:srgbClr val="E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0"/>
          <p:cNvSpPr/>
          <p:nvPr userDrawn="1"/>
        </p:nvSpPr>
        <p:spPr>
          <a:xfrm>
            <a:off x="10507958" y="51041"/>
            <a:ext cx="1466850" cy="368755"/>
          </a:xfrm>
          <a:prstGeom prst="rect">
            <a:avLst/>
          </a:prstGeom>
          <a:noFill/>
          <a:ln/>
        </p:spPr>
        <p:txBody>
          <a:bodyPr wrap="square" lIns="0" tIns="0" rIns="36000" bIns="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lang="ko-KR" altLang="en-US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분 톡</a:t>
            </a:r>
            <a:endParaRPr lang="en-US" sz="1600" b="1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99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 userDrawn="1"/>
        </p:nvSpPr>
        <p:spPr>
          <a:xfrm>
            <a:off x="-7168" y="-1185"/>
            <a:ext cx="12199168" cy="495839"/>
          </a:xfrm>
          <a:prstGeom prst="rect">
            <a:avLst/>
          </a:prstGeom>
          <a:solidFill>
            <a:srgbClr val="D8D2CE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n-US" sz="3200" b="1" dirty="0">
              <a:solidFill>
                <a:srgbClr val="EA0000">
                  <a:alpha val="50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양쪽 모서리가 둥근 사각형 2"/>
          <p:cNvSpPr/>
          <p:nvPr userDrawn="1"/>
        </p:nvSpPr>
        <p:spPr>
          <a:xfrm>
            <a:off x="10288883" y="0"/>
            <a:ext cx="1905000" cy="483577"/>
          </a:xfrm>
          <a:prstGeom prst="round2SameRect">
            <a:avLst>
              <a:gd name="adj1" fmla="val 0"/>
              <a:gd name="adj2" fmla="val 38095"/>
            </a:avLst>
          </a:prstGeom>
          <a:solidFill>
            <a:srgbClr val="EA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" name="Text 0"/>
          <p:cNvSpPr/>
          <p:nvPr userDrawn="1"/>
        </p:nvSpPr>
        <p:spPr>
          <a:xfrm>
            <a:off x="10507958" y="51041"/>
            <a:ext cx="1466850" cy="368755"/>
          </a:xfrm>
          <a:prstGeom prst="rect">
            <a:avLst/>
          </a:prstGeom>
          <a:noFill/>
          <a:ln/>
        </p:spPr>
        <p:txBody>
          <a:bodyPr wrap="square" lIns="0" tIns="0" rIns="36000" bIns="0" rtlCol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1</a:t>
            </a:r>
            <a:r>
              <a:rPr lang="en-US" altLang="ko-KR" b="1" dirty="0">
                <a:solidFill>
                  <a:srgbClr val="FFFFFF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min. Talk</a:t>
            </a:r>
            <a:endParaRPr lang="en-US" sz="1600" b="1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167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EFE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 userDrawn="1"/>
        </p:nvSpPr>
        <p:spPr>
          <a:xfrm>
            <a:off x="-7168" y="-1185"/>
            <a:ext cx="12199168" cy="495839"/>
          </a:xfrm>
          <a:prstGeom prst="rect">
            <a:avLst/>
          </a:prstGeom>
          <a:solidFill>
            <a:srgbClr val="D8D2CE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n-US" sz="3200" b="1" dirty="0">
              <a:solidFill>
                <a:srgbClr val="EA0000">
                  <a:alpha val="50000"/>
                </a:srgbClr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71610"/>
            <a:ext cx="12192000" cy="5891560"/>
          </a:xfrm>
          <a:prstGeom prst="rect">
            <a:avLst/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6" name="양쪽 모서리가 둥근 사각형 5"/>
          <p:cNvSpPr/>
          <p:nvPr userDrawn="1"/>
        </p:nvSpPr>
        <p:spPr>
          <a:xfrm>
            <a:off x="0" y="0"/>
            <a:ext cx="1905000" cy="483577"/>
          </a:xfrm>
          <a:prstGeom prst="round2SameRect">
            <a:avLst>
              <a:gd name="adj1" fmla="val 0"/>
              <a:gd name="adj2" fmla="val 380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FFFF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50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417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23880" y="6587770"/>
            <a:ext cx="1319592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LGE internal use, only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8" name="MSIPCMContentMarking" descr="{&quot;HashCode&quot;:966751382,&quot;Placement&quot;:&quot;Header&quot;,&quot;Top&quot;:0.0,&quot;Left&quot;:413.954651,&quot;SlideWidth&quot;:960,&quot;SlideHeight&quot;:540}"/>
          <p:cNvSpPr txBox="1"/>
          <p:nvPr userDrawn="1"/>
        </p:nvSpPr>
        <p:spPr>
          <a:xfrm>
            <a:off x="5257224" y="0"/>
            <a:ext cx="1677551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>
                <a:solidFill>
                  <a:srgbClr val="000000"/>
                </a:solidFill>
                <a:latin typeface="Calibri" panose="020F0502020204030204" pitchFamily="34" charset="0"/>
              </a:rPr>
              <a:t>LGE Internal Use Only</a:t>
            </a:r>
            <a:endParaRPr lang="ko-KR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99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12" Type="http://schemas.openxmlformats.org/officeDocument/2006/relationships/slide" Target="slide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hyperlink" Target="https://www.rtings.com/tv/reviews/samsung/s95f-oled#test_28332" TargetMode="External"/><Relationship Id="rId5" Type="http://schemas.openxmlformats.org/officeDocument/2006/relationships/image" Target="../media/image9.png"/><Relationship Id="rId10" Type="http://schemas.openxmlformats.org/officeDocument/2006/relationships/hyperlink" Target="https://www.rtings.com/tv/reviews/lg/g5-oled#test_28332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www.tomsguide.com/tvs/lg-g5-vs-samsung-s95f-which-flagship-oled-tv-is-the-better-pic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slide" Target="slide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zertreg-proxy.vde.com/documents/download?uuid=245efd9d-af10-46c6-9838-ae2fbaa620ed" TargetMode="Externa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.xml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936688" y="1613128"/>
            <a:ext cx="6635687" cy="148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LG TV Sales Talk Guideline</a:t>
            </a:r>
            <a:br>
              <a:rPr lang="en-US" sz="2800" b="1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</a:br>
            <a:r>
              <a:rPr lang="en-US" altLang="ko-KR" sz="2400" u="sng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Winning Pack</a:t>
            </a:r>
            <a:endParaRPr lang="en-US" sz="2400" u="sng" dirty="0">
              <a:solidFill>
                <a:prstClr val="black"/>
              </a:solidFill>
              <a:latin typeface="Arial Narrow" panose="020B0606020202030204"/>
              <a:ea typeface="LG스마트체 Regular" panose="020B0600000101010101"/>
              <a:cs typeface="Arial" panose="020B0604020202020204" pitchFamily="34" charset="0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7371097" y="1412776"/>
            <a:ext cx="3658373" cy="3638550"/>
            <a:chOff x="15381622" y="3924300"/>
            <a:chExt cx="5893537" cy="5861602"/>
          </a:xfrm>
        </p:grpSpPr>
        <p:pic>
          <p:nvPicPr>
            <p:cNvPr id="13" name="Image 2" descr=" 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185296" y="5346883"/>
              <a:ext cx="999717" cy="3010725"/>
            </a:xfrm>
            <a:prstGeom prst="rect">
              <a:avLst/>
            </a:prstGeom>
          </p:spPr>
        </p:pic>
        <p:pic>
          <p:nvPicPr>
            <p:cNvPr id="14" name="Image 3" descr=" 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381622" y="3924300"/>
              <a:ext cx="5893537" cy="5861602"/>
            </a:xfrm>
            <a:prstGeom prst="rect">
              <a:avLst/>
            </a:prstGeom>
          </p:spPr>
        </p:pic>
        <p:pic>
          <p:nvPicPr>
            <p:cNvPr id="15" name="Image 4" descr=" 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814979" y="5334107"/>
              <a:ext cx="823842" cy="823737"/>
            </a:xfrm>
            <a:prstGeom prst="rect">
              <a:avLst/>
            </a:prstGeom>
          </p:spPr>
        </p:pic>
      </p:grpSp>
      <p:sp>
        <p:nvSpPr>
          <p:cNvPr id="16" name="Text 0"/>
          <p:cNvSpPr/>
          <p:nvPr/>
        </p:nvSpPr>
        <p:spPr>
          <a:xfrm>
            <a:off x="936688" y="5625244"/>
            <a:ext cx="3587686" cy="329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[</a:t>
            </a:r>
            <a:r>
              <a:rPr lang="ko-KR" altLang="en-US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한국어</a:t>
            </a:r>
            <a:r>
              <a:rPr lang="en-US" altLang="ko-KR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] </a:t>
            </a:r>
            <a:r>
              <a:rPr lang="en-US" sz="1600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Version 1.0_2025 Oct.2</a:t>
            </a:r>
            <a:endParaRPr lang="en-US" sz="1400" dirty="0">
              <a:solidFill>
                <a:srgbClr val="00B0F0"/>
              </a:solidFill>
              <a:latin typeface="Arial Narrow" panose="020B0606020202030204"/>
              <a:ea typeface="LG스마트체 Regular" panose="020B0600000101010101"/>
              <a:cs typeface="Arial" panose="020B0604020202020204" pitchFamily="34" charset="0"/>
            </a:endParaRPr>
          </a:p>
        </p:txBody>
      </p:sp>
      <p:sp>
        <p:nvSpPr>
          <p:cNvPr id="17" name="Text 0"/>
          <p:cNvSpPr/>
          <p:nvPr/>
        </p:nvSpPr>
        <p:spPr>
          <a:xfrm>
            <a:off x="936688" y="3230278"/>
            <a:ext cx="5694848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FFFFFF">
                    <a:alpha val="100000"/>
                  </a:srgbClr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Perfect Black vs. Real Black</a:t>
            </a:r>
            <a:endParaRPr lang="en-US" sz="3600" dirty="0">
              <a:solidFill>
                <a:prstClr val="black"/>
              </a:solidFill>
              <a:latin typeface="Arial Narrow" panose="020B0606020202030204"/>
              <a:ea typeface="LG스마트체 Regular" panose="020B0600000101010101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40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0"/>
          <p:cNvSpPr txBox="1">
            <a:spLocks noChangeArrowheads="1"/>
          </p:cNvSpPr>
          <p:nvPr/>
        </p:nvSpPr>
        <p:spPr bwMode="auto">
          <a:xfrm>
            <a:off x="3569902" y="1265264"/>
            <a:ext cx="5052196" cy="646331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708688">
                <a:alpha val="50000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lnSpc>
                <a:spcPct val="90000"/>
              </a:lnSpc>
              <a:spcBef>
                <a:spcPts val="300"/>
              </a:spcBef>
            </a:pPr>
            <a:r>
              <a:rPr lang="en-US" altLang="ko-KR" sz="4000" b="0" u="sng" dirty="0">
                <a:solidFill>
                  <a:srgbClr val="C91452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Confidentiality Request</a:t>
            </a:r>
            <a:endParaRPr lang="ko-KR" altLang="en-US" sz="4000" b="0" u="sng" dirty="0">
              <a:solidFill>
                <a:srgbClr val="C91452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498076" y="2240310"/>
            <a:ext cx="9195849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>
            <a:spAutoFit/>
          </a:bodyPr>
          <a:lstStyle>
            <a:lvl1pPr marL="342900" indent="-3429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This material was developed for educational purposes only for LGE employees </a:t>
            </a:r>
            <a:b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and contains confidential information and contents that may cause copyright issues. 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C91452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Do not share this material externally or show directly to retailers or customers.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The images and videos used in this material have no rights for external applications.</a:t>
            </a:r>
          </a:p>
          <a:p>
            <a:pPr algn="ctr">
              <a:lnSpc>
                <a:spcPct val="150000"/>
              </a:lnSpc>
            </a:pPr>
            <a:endParaRPr lang="en-US" altLang="ko-KR" sz="2000" b="0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For additional questions regarding this document please contact MS Marketing Strategy Team. 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Contact : Mina Yun (mina.yun@lge.com), </a:t>
            </a:r>
          </a:p>
        </p:txBody>
      </p:sp>
    </p:spTree>
    <p:extLst>
      <p:ext uri="{BB962C8B-B14F-4D97-AF65-F5344CB8AC3E}">
        <p14:creationId xmlns:p14="http://schemas.microsoft.com/office/powerpoint/2010/main" val="243682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B30C-5BEC-0E0C-0146-8F22D15C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58B395D-D83F-B7F8-2FE8-9234EE6E46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0297" y="771974"/>
            <a:ext cx="11791406" cy="5503101"/>
          </a:xfrm>
          <a:prstGeom prst="roundRect">
            <a:avLst>
              <a:gd name="adj" fmla="val 1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65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8" name="모서리가 둥근 직사각형 94">
            <a:extLst>
              <a:ext uri="{FF2B5EF4-FFF2-40B4-BE49-F238E27FC236}">
                <a16:creationId xmlns:a16="http://schemas.microsoft.com/office/drawing/2014/main" id="{3476A2F6-B83B-B2D2-EC4F-E82214541244}"/>
              </a:ext>
            </a:extLst>
          </p:cNvPr>
          <p:cNvSpPr/>
          <p:nvPr/>
        </p:nvSpPr>
        <p:spPr>
          <a:xfrm>
            <a:off x="4672014" y="1898677"/>
            <a:ext cx="2847972" cy="4320955"/>
          </a:xfrm>
          <a:prstGeom prst="roundRect">
            <a:avLst>
              <a:gd name="adj" fmla="val 3504"/>
            </a:avLst>
          </a:prstGeom>
          <a:solidFill>
            <a:srgbClr val="EFEBE1"/>
          </a:solidFill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5" name="모서리가 둥근 직사각형 94">
            <a:extLst>
              <a:ext uri="{FF2B5EF4-FFF2-40B4-BE49-F238E27FC236}">
                <a16:creationId xmlns:a16="http://schemas.microsoft.com/office/drawing/2014/main" id="{6AEE329D-1945-8514-8F31-E52BC765B16A}"/>
              </a:ext>
            </a:extLst>
          </p:cNvPr>
          <p:cNvSpPr/>
          <p:nvPr/>
        </p:nvSpPr>
        <p:spPr>
          <a:xfrm>
            <a:off x="730470" y="4872810"/>
            <a:ext cx="10731058" cy="252000"/>
          </a:xfrm>
          <a:prstGeom prst="roundRect">
            <a:avLst>
              <a:gd name="adj" fmla="val 40028"/>
            </a:avLst>
          </a:prstGeom>
          <a:solidFill>
            <a:schemeClr val="bg1"/>
          </a:solidFill>
          <a:ln w="19050">
            <a:solidFill>
              <a:srgbClr val="D7CCB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4" name="모서리가 둥근 직사각형 94">
            <a:extLst>
              <a:ext uri="{FF2B5EF4-FFF2-40B4-BE49-F238E27FC236}">
                <a16:creationId xmlns:a16="http://schemas.microsoft.com/office/drawing/2014/main" id="{2CABF5A4-7D53-C0A6-BAAE-B9710FDC98CD}"/>
              </a:ext>
            </a:extLst>
          </p:cNvPr>
          <p:cNvSpPr/>
          <p:nvPr/>
        </p:nvSpPr>
        <p:spPr>
          <a:xfrm>
            <a:off x="730470" y="3219376"/>
            <a:ext cx="10731058" cy="252000"/>
          </a:xfrm>
          <a:prstGeom prst="roundRect">
            <a:avLst>
              <a:gd name="adj" fmla="val 37112"/>
            </a:avLst>
          </a:prstGeom>
          <a:solidFill>
            <a:schemeClr val="bg1"/>
          </a:solidFill>
          <a:ln w="19050">
            <a:solidFill>
              <a:srgbClr val="D7CCB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2" name="모서리가 둥근 직사각형 94">
            <a:extLst>
              <a:ext uri="{FF2B5EF4-FFF2-40B4-BE49-F238E27FC236}">
                <a16:creationId xmlns:a16="http://schemas.microsoft.com/office/drawing/2014/main" id="{2324EF88-183E-4212-FF4C-CA6545656465}"/>
              </a:ext>
            </a:extLst>
          </p:cNvPr>
          <p:cNvSpPr/>
          <p:nvPr/>
        </p:nvSpPr>
        <p:spPr>
          <a:xfrm>
            <a:off x="730470" y="1791274"/>
            <a:ext cx="10731058" cy="252000"/>
          </a:xfrm>
          <a:prstGeom prst="roundRect">
            <a:avLst>
              <a:gd name="adj" fmla="val 33656"/>
            </a:avLst>
          </a:prstGeom>
          <a:solidFill>
            <a:schemeClr val="bg1"/>
          </a:solidFill>
          <a:ln w="19050">
            <a:solidFill>
              <a:srgbClr val="D7CCB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endParaRPr lang="ko-KR" altLang="en-US" sz="1300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A25562-2076-22EB-4D12-068D404445A5}"/>
              </a:ext>
            </a:extLst>
          </p:cNvPr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1. Perfect Black vs. Real Black</a:t>
            </a:r>
            <a:endParaRPr lang="en-US" altLang="ko-KR" sz="3200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291662-E6A4-A75F-0B64-EC66642BC239}"/>
              </a:ext>
            </a:extLst>
          </p:cNvPr>
          <p:cNvSpPr txBox="1"/>
          <p:nvPr/>
        </p:nvSpPr>
        <p:spPr>
          <a:xfrm>
            <a:off x="150530" y="119596"/>
            <a:ext cx="1598515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/>
                <a:ea typeface="LG스마트체 Regular" panose="020B0600000101010101"/>
              </a:rPr>
              <a:t>Perfect vs. Real</a:t>
            </a:r>
            <a:endParaRPr lang="ko-KR" altLang="en-US" b="1" dirty="0">
              <a:solidFill>
                <a:prstClr val="white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01" name="모서리가 둥근 직사각형 100">
            <a:extLst>
              <a:ext uri="{FF2B5EF4-FFF2-40B4-BE49-F238E27FC236}">
                <a16:creationId xmlns:a16="http://schemas.microsoft.com/office/drawing/2014/main" id="{D467BCF8-384E-88F0-D475-FF12A181224A}"/>
              </a:ext>
            </a:extLst>
          </p:cNvPr>
          <p:cNvSpPr/>
          <p:nvPr/>
        </p:nvSpPr>
        <p:spPr>
          <a:xfrm>
            <a:off x="200297" y="771974"/>
            <a:ext cx="5148000" cy="216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LG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02" name="모서리가 둥근 직사각형 101">
            <a:extLst>
              <a:ext uri="{FF2B5EF4-FFF2-40B4-BE49-F238E27FC236}">
                <a16:creationId xmlns:a16="http://schemas.microsoft.com/office/drawing/2014/main" id="{DBC99F57-2635-ACAD-DEE3-93BCF203FAFB}"/>
              </a:ext>
            </a:extLst>
          </p:cNvPr>
          <p:cNvSpPr/>
          <p:nvPr/>
        </p:nvSpPr>
        <p:spPr>
          <a:xfrm>
            <a:off x="6843703" y="771974"/>
            <a:ext cx="5148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SS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0E0BD39-94C2-115F-DE59-72AD0AA073BC}"/>
              </a:ext>
            </a:extLst>
          </p:cNvPr>
          <p:cNvSpPr txBox="1"/>
          <p:nvPr/>
        </p:nvSpPr>
        <p:spPr>
          <a:xfrm>
            <a:off x="802031" y="1817246"/>
            <a:ext cx="2924226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88900"/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Unrivalled Perfect Black, Night &amp; Day</a:t>
            </a:r>
            <a:endParaRPr lang="ko-KR" altLang="en-US" sz="1300" dirty="0">
              <a:solidFill>
                <a:srgbClr val="C00000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2E8B7C-D2ED-63FA-B4AA-D9EDC068B218}"/>
              </a:ext>
            </a:extLst>
          </p:cNvPr>
          <p:cNvSpPr txBox="1"/>
          <p:nvPr/>
        </p:nvSpPr>
        <p:spPr>
          <a:xfrm>
            <a:off x="8954212" y="1817246"/>
            <a:ext cx="2397697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ko-KR" sz="1300" dirty="0">
                <a:solidFill>
                  <a:srgbClr val="2E75B6"/>
                </a:solidFill>
                <a:latin typeface="Arial Narrow" panose="020B0606020202030204"/>
                <a:ea typeface="LG스마트체 Regular" panose="020B0600000101010101"/>
              </a:rPr>
              <a:t>black at night, grey during the day</a:t>
            </a:r>
            <a:endParaRPr lang="ko-KR" altLang="en-US" sz="1300" dirty="0">
              <a:solidFill>
                <a:srgbClr val="2E75B6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6E5C20-7DE0-F64B-D33D-E267CFF9997D}"/>
              </a:ext>
            </a:extLst>
          </p:cNvPr>
          <p:cNvSpPr txBox="1"/>
          <p:nvPr/>
        </p:nvSpPr>
        <p:spPr>
          <a:xfrm>
            <a:off x="150529" y="6245995"/>
            <a:ext cx="73741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※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1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Not to be used for anything other than LGE internal training!! </a:t>
            </a:r>
            <a:endParaRPr lang="ko-KR" altLang="en-US" sz="1100" b="1" u="sng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4" name="모서리가 둥근 직사각형 94">
            <a:extLst>
              <a:ext uri="{FF2B5EF4-FFF2-40B4-BE49-F238E27FC236}">
                <a16:creationId xmlns:a16="http://schemas.microsoft.com/office/drawing/2014/main" id="{63C72986-3455-1238-67E5-41BE95E98BF5}"/>
              </a:ext>
            </a:extLst>
          </p:cNvPr>
          <p:cNvSpPr/>
          <p:nvPr/>
        </p:nvSpPr>
        <p:spPr>
          <a:xfrm>
            <a:off x="5351036" y="1067403"/>
            <a:ext cx="1489928" cy="631271"/>
          </a:xfrm>
          <a:prstGeom prst="roundRect">
            <a:avLst>
              <a:gd name="adj" fmla="val 6010"/>
            </a:avLst>
          </a:prstGeom>
          <a:solidFill>
            <a:srgbClr val="D7CCB3"/>
          </a:solidFill>
          <a:ln w="19050">
            <a:solidFill>
              <a:srgbClr val="D7CCB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Ultimate</a:t>
            </a:r>
            <a:br>
              <a:rPr lang="en-US" altLang="ko-KR" sz="13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3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Winner</a:t>
            </a:r>
            <a:endParaRPr lang="ko-KR" altLang="en-US" sz="1300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A2EC1D7B-C276-2150-FA54-EAB1466AA9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8022" y="1215177"/>
            <a:ext cx="279964" cy="36243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E6A2666-6116-034B-B76A-20D31DE9C76F}"/>
              </a:ext>
            </a:extLst>
          </p:cNvPr>
          <p:cNvSpPr txBox="1"/>
          <p:nvPr/>
        </p:nvSpPr>
        <p:spPr>
          <a:xfrm>
            <a:off x="2686214" y="1053989"/>
            <a:ext cx="2547556" cy="6474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누구도 흉내 낼 수 없는 </a:t>
            </a:r>
            <a:r>
              <a:rPr lang="en-US" altLang="ko-KR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black</a:t>
            </a:r>
            <a:r>
              <a:rPr lang="ko-KR" altLang="en-US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과</a:t>
            </a:r>
            <a:br>
              <a:rPr lang="en-US" altLang="ko-KR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선명하고 정확한 색 표현으로</a:t>
            </a:r>
            <a:br>
              <a:rPr lang="en-US" altLang="ko-KR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밤이나 낮이나 완벽한 화질의 </a:t>
            </a:r>
            <a:r>
              <a:rPr lang="en-US" altLang="ko-KR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OLED TV!!</a:t>
            </a:r>
            <a:r>
              <a:rPr lang="ko-KR" altLang="en-US" sz="12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endParaRPr lang="ko-KR" altLang="en-US" sz="1100" dirty="0">
              <a:solidFill>
                <a:srgbClr val="C00000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8F1098-01FA-2B44-8639-106A102A4589}"/>
              </a:ext>
            </a:extLst>
          </p:cNvPr>
          <p:cNvSpPr txBox="1"/>
          <p:nvPr/>
        </p:nvSpPr>
        <p:spPr>
          <a:xfrm>
            <a:off x="6954375" y="1053989"/>
            <a:ext cx="2641501" cy="6474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낮에는 </a:t>
            </a:r>
            <a: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black</a:t>
            </a:r>
            <a:r>
              <a:rPr lang="ko-KR" altLang="en-US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과 </a:t>
            </a:r>
            <a: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color</a:t>
            </a:r>
            <a:r>
              <a:rPr lang="ko-KR" altLang="en-US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가 </a:t>
            </a:r>
            <a:b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모두 흐려지고 틀어져 답답한 </a:t>
            </a:r>
            <a: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OLED</a:t>
            </a:r>
            <a:r>
              <a:rPr lang="ko-KR" altLang="en-US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TV.</a:t>
            </a:r>
            <a:b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비싸게 구매했는데 밤에만 보시겠습니까</a:t>
            </a:r>
            <a:r>
              <a:rPr lang="en-US" altLang="ko-KR" sz="12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?!</a:t>
            </a:r>
            <a:endParaRPr lang="ko-KR" altLang="en-US" sz="1100" dirty="0">
              <a:solidFill>
                <a:srgbClr val="0070C0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1" name="모서리가 둥근 직사각형 94">
            <a:extLst>
              <a:ext uri="{FF2B5EF4-FFF2-40B4-BE49-F238E27FC236}">
                <a16:creationId xmlns:a16="http://schemas.microsoft.com/office/drawing/2014/main" id="{3BB22879-D283-3B68-92DF-5E926CC4EE98}"/>
              </a:ext>
            </a:extLst>
          </p:cNvPr>
          <p:cNvSpPr/>
          <p:nvPr/>
        </p:nvSpPr>
        <p:spPr>
          <a:xfrm>
            <a:off x="5629821" y="2146169"/>
            <a:ext cx="1651746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Black Level</a:t>
            </a:r>
            <a:r>
              <a:rPr lang="en-US" altLang="ko-KR" sz="11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 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≤ 0.005 cd/㎡  </a:t>
            </a:r>
            <a:endParaRPr lang="ko-KR" altLang="en-US" sz="1200" b="1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AA94E0E5-9C3A-0AD7-B468-06C61F8AF979}"/>
              </a:ext>
            </a:extLst>
          </p:cNvPr>
          <p:cNvSpPr/>
          <p:nvPr/>
        </p:nvSpPr>
        <p:spPr>
          <a:xfrm>
            <a:off x="5700712" y="3237376"/>
            <a:ext cx="790576" cy="216000"/>
          </a:xfrm>
          <a:prstGeom prst="roundRect">
            <a:avLst/>
          </a:prstGeom>
          <a:noFill/>
          <a:ln w="1270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b="1" i="1" dirty="0">
                <a:gradFill flip="none" rotWithShape="1">
                  <a:gsLst>
                    <a:gs pos="22000">
                      <a:srgbClr val="C00000"/>
                    </a:gs>
                    <a:gs pos="59000">
                      <a:schemeClr val="accent6">
                        <a:lumMod val="75000"/>
                      </a:schemeClr>
                    </a:gs>
                    <a:gs pos="76000">
                      <a:srgbClr val="00B0F0"/>
                    </a:gs>
                    <a:gs pos="42000">
                      <a:srgbClr val="FFC000"/>
                    </a:gs>
                    <a:gs pos="93000">
                      <a:srgbClr val="0070C0"/>
                    </a:gs>
                  </a:gsLst>
                  <a:lin ang="16200000" scaled="1"/>
                  <a:tileRect/>
                </a:gradFill>
                <a:latin typeface="Arial Narrow" panose="020B0606020202030204"/>
                <a:ea typeface="LG스마트체 Regular" panose="020B0600000101010101"/>
              </a:rPr>
              <a:t>Color</a:t>
            </a:r>
            <a:endParaRPr lang="ko-KR" altLang="en-US" sz="1400" b="1" i="1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7752815-B06D-DF9C-7E11-AF88D7CF50A0}"/>
              </a:ext>
            </a:extLst>
          </p:cNvPr>
          <p:cNvSpPr txBox="1"/>
          <p:nvPr/>
        </p:nvSpPr>
        <p:spPr>
          <a:xfrm>
            <a:off x="3994731" y="2498211"/>
            <a:ext cx="324000" cy="252000"/>
          </a:xfrm>
          <a:prstGeom prst="roundRect">
            <a:avLst/>
          </a:prstGeom>
          <a:solidFill>
            <a:srgbClr val="006D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Pass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8A13143-F8AF-667E-5260-BCB238FBE61E}"/>
              </a:ext>
            </a:extLst>
          </p:cNvPr>
          <p:cNvSpPr txBox="1"/>
          <p:nvPr/>
        </p:nvSpPr>
        <p:spPr>
          <a:xfrm>
            <a:off x="7654503" y="2489744"/>
            <a:ext cx="324000" cy="252000"/>
          </a:xfrm>
          <a:prstGeom prst="roundRect">
            <a:avLst/>
          </a:prstGeom>
          <a:solidFill>
            <a:srgbClr val="FF00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Fail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2EF8C7C-4468-B99A-5BC9-591DED875E9B}"/>
              </a:ext>
            </a:extLst>
          </p:cNvPr>
          <p:cNvSpPr txBox="1"/>
          <p:nvPr/>
        </p:nvSpPr>
        <p:spPr>
          <a:xfrm>
            <a:off x="1542132" y="3785423"/>
            <a:ext cx="2816851" cy="24198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Color Gamut </a:t>
            </a:r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99.79% / </a:t>
            </a: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Color Volume </a:t>
            </a:r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99.80%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33C2326-1351-C8D7-8ADE-956814F03558}"/>
              </a:ext>
            </a:extLst>
          </p:cNvPr>
          <p:cNvSpPr txBox="1"/>
          <p:nvPr/>
        </p:nvSpPr>
        <p:spPr>
          <a:xfrm>
            <a:off x="3994731" y="4105143"/>
            <a:ext cx="324000" cy="252000"/>
          </a:xfrm>
          <a:prstGeom prst="roundRect">
            <a:avLst/>
          </a:prstGeom>
          <a:solidFill>
            <a:srgbClr val="006D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Pass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E2264E4-8E71-2B4C-757D-B2973C925896}"/>
              </a:ext>
            </a:extLst>
          </p:cNvPr>
          <p:cNvSpPr txBox="1"/>
          <p:nvPr/>
        </p:nvSpPr>
        <p:spPr>
          <a:xfrm>
            <a:off x="3994731" y="4456248"/>
            <a:ext cx="324000" cy="252000"/>
          </a:xfrm>
          <a:prstGeom prst="roundRect">
            <a:avLst/>
          </a:prstGeom>
          <a:solidFill>
            <a:srgbClr val="006D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Pass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142" name="그림 141">
            <a:extLst>
              <a:ext uri="{FF2B5EF4-FFF2-40B4-BE49-F238E27FC236}">
                <a16:creationId xmlns:a16="http://schemas.microsoft.com/office/drawing/2014/main" id="{EBC07E41-51DE-996E-65D7-9DD184609D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6" t="183" r="5114" b="1150"/>
          <a:stretch>
            <a:fillRect/>
          </a:stretch>
        </p:blipFill>
        <p:spPr>
          <a:xfrm>
            <a:off x="4400110" y="4091255"/>
            <a:ext cx="207374" cy="279776"/>
          </a:xfrm>
          <a:custGeom>
            <a:avLst/>
            <a:gdLst>
              <a:gd name="connsiteX0" fmla="*/ 171885 w 1431302"/>
              <a:gd name="connsiteY0" fmla="*/ 0 h 1931012"/>
              <a:gd name="connsiteX1" fmla="*/ 1259417 w 1431302"/>
              <a:gd name="connsiteY1" fmla="*/ 0 h 1931012"/>
              <a:gd name="connsiteX2" fmla="*/ 1431302 w 1431302"/>
              <a:gd name="connsiteY2" fmla="*/ 171885 h 1931012"/>
              <a:gd name="connsiteX3" fmla="*/ 1431302 w 1431302"/>
              <a:gd name="connsiteY3" fmla="*/ 1759127 h 1931012"/>
              <a:gd name="connsiteX4" fmla="*/ 1259417 w 1431302"/>
              <a:gd name="connsiteY4" fmla="*/ 1931012 h 1931012"/>
              <a:gd name="connsiteX5" fmla="*/ 171885 w 1431302"/>
              <a:gd name="connsiteY5" fmla="*/ 1931012 h 1931012"/>
              <a:gd name="connsiteX6" fmla="*/ 0 w 1431302"/>
              <a:gd name="connsiteY6" fmla="*/ 1759127 h 1931012"/>
              <a:gd name="connsiteX7" fmla="*/ 0 w 1431302"/>
              <a:gd name="connsiteY7" fmla="*/ 171885 h 1931012"/>
              <a:gd name="connsiteX8" fmla="*/ 171885 w 1431302"/>
              <a:gd name="connsiteY8" fmla="*/ 0 h 193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1302" h="1931012">
                <a:moveTo>
                  <a:pt x="171885" y="0"/>
                </a:moveTo>
                <a:lnTo>
                  <a:pt x="1259417" y="0"/>
                </a:lnTo>
                <a:cubicBezTo>
                  <a:pt x="1354346" y="0"/>
                  <a:pt x="1431302" y="76956"/>
                  <a:pt x="1431302" y="171885"/>
                </a:cubicBezTo>
                <a:lnTo>
                  <a:pt x="1431302" y="1759127"/>
                </a:lnTo>
                <a:cubicBezTo>
                  <a:pt x="1431302" y="1854056"/>
                  <a:pt x="1354346" y="1931012"/>
                  <a:pt x="1259417" y="1931012"/>
                </a:cubicBezTo>
                <a:lnTo>
                  <a:pt x="171885" y="1931012"/>
                </a:lnTo>
                <a:cubicBezTo>
                  <a:pt x="76956" y="1931012"/>
                  <a:pt x="0" y="1854056"/>
                  <a:pt x="0" y="1759127"/>
                </a:cubicBez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740352F9-FE05-A204-7380-CA11D629FD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6" t="183" r="5114" b="1150"/>
          <a:stretch>
            <a:fillRect/>
          </a:stretch>
        </p:blipFill>
        <p:spPr>
          <a:xfrm>
            <a:off x="4400110" y="2485789"/>
            <a:ext cx="207374" cy="279776"/>
          </a:xfrm>
          <a:custGeom>
            <a:avLst/>
            <a:gdLst>
              <a:gd name="connsiteX0" fmla="*/ 171885 w 1431302"/>
              <a:gd name="connsiteY0" fmla="*/ 0 h 1931012"/>
              <a:gd name="connsiteX1" fmla="*/ 1259417 w 1431302"/>
              <a:gd name="connsiteY1" fmla="*/ 0 h 1931012"/>
              <a:gd name="connsiteX2" fmla="*/ 1431302 w 1431302"/>
              <a:gd name="connsiteY2" fmla="*/ 171885 h 1931012"/>
              <a:gd name="connsiteX3" fmla="*/ 1431302 w 1431302"/>
              <a:gd name="connsiteY3" fmla="*/ 1759127 h 1931012"/>
              <a:gd name="connsiteX4" fmla="*/ 1259417 w 1431302"/>
              <a:gd name="connsiteY4" fmla="*/ 1931012 h 1931012"/>
              <a:gd name="connsiteX5" fmla="*/ 171885 w 1431302"/>
              <a:gd name="connsiteY5" fmla="*/ 1931012 h 1931012"/>
              <a:gd name="connsiteX6" fmla="*/ 0 w 1431302"/>
              <a:gd name="connsiteY6" fmla="*/ 1759127 h 1931012"/>
              <a:gd name="connsiteX7" fmla="*/ 0 w 1431302"/>
              <a:gd name="connsiteY7" fmla="*/ 171885 h 1931012"/>
              <a:gd name="connsiteX8" fmla="*/ 171885 w 1431302"/>
              <a:gd name="connsiteY8" fmla="*/ 0 h 1931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31302" h="1931012">
                <a:moveTo>
                  <a:pt x="171885" y="0"/>
                </a:moveTo>
                <a:lnTo>
                  <a:pt x="1259417" y="0"/>
                </a:lnTo>
                <a:cubicBezTo>
                  <a:pt x="1354346" y="0"/>
                  <a:pt x="1431302" y="76956"/>
                  <a:pt x="1431302" y="171885"/>
                </a:cubicBezTo>
                <a:lnTo>
                  <a:pt x="1431302" y="1759127"/>
                </a:lnTo>
                <a:cubicBezTo>
                  <a:pt x="1431302" y="1854056"/>
                  <a:pt x="1354346" y="1931012"/>
                  <a:pt x="1259417" y="1931012"/>
                </a:cubicBezTo>
                <a:lnTo>
                  <a:pt x="171885" y="1931012"/>
                </a:lnTo>
                <a:cubicBezTo>
                  <a:pt x="76956" y="1931012"/>
                  <a:pt x="0" y="1854056"/>
                  <a:pt x="0" y="1759127"/>
                </a:cubicBezTo>
                <a:lnTo>
                  <a:pt x="0" y="171885"/>
                </a:lnTo>
                <a:cubicBezTo>
                  <a:pt x="0" y="76956"/>
                  <a:pt x="76956" y="0"/>
                  <a:pt x="171885" y="0"/>
                </a:cubicBezTo>
                <a:close/>
              </a:path>
            </a:pathLst>
          </a:custGeom>
        </p:spPr>
      </p:pic>
      <p:pic>
        <p:nvPicPr>
          <p:cNvPr id="146" name="그림 145">
            <a:extLst>
              <a:ext uri="{FF2B5EF4-FFF2-40B4-BE49-F238E27FC236}">
                <a16:creationId xmlns:a16="http://schemas.microsoft.com/office/drawing/2014/main" id="{9A7950AE-79C1-790C-3C59-E3352BDB3ED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4F5F5"/>
              </a:clrFrom>
              <a:clrTo>
                <a:srgbClr val="F4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1206" y="4380019"/>
            <a:ext cx="305182" cy="407390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73809F0C-D347-91EE-6773-367691BF0552}"/>
              </a:ext>
            </a:extLst>
          </p:cNvPr>
          <p:cNvSpPr txBox="1"/>
          <p:nvPr/>
        </p:nvSpPr>
        <p:spPr>
          <a:xfrm>
            <a:off x="7654503" y="4105143"/>
            <a:ext cx="324000" cy="252000"/>
          </a:xfrm>
          <a:prstGeom prst="roundRect">
            <a:avLst/>
          </a:prstGeom>
          <a:solidFill>
            <a:srgbClr val="FF00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Fail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1D28841-8845-7129-C754-29EA1EE03209}"/>
              </a:ext>
            </a:extLst>
          </p:cNvPr>
          <p:cNvSpPr txBox="1"/>
          <p:nvPr/>
        </p:nvSpPr>
        <p:spPr>
          <a:xfrm>
            <a:off x="7654503" y="4447781"/>
            <a:ext cx="324000" cy="252000"/>
          </a:xfrm>
          <a:prstGeom prst="roundRect">
            <a:avLst/>
          </a:prstGeom>
          <a:solidFill>
            <a:srgbClr val="FF00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Fail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" name="모서리가 둥근 직사각형 94">
            <a:extLst>
              <a:ext uri="{FF2B5EF4-FFF2-40B4-BE49-F238E27FC236}">
                <a16:creationId xmlns:a16="http://schemas.microsoft.com/office/drawing/2014/main" id="{6ADB752D-F275-184F-68E6-8E8FD8E565A0}"/>
              </a:ext>
            </a:extLst>
          </p:cNvPr>
          <p:cNvSpPr/>
          <p:nvPr/>
        </p:nvSpPr>
        <p:spPr>
          <a:xfrm>
            <a:off x="5629821" y="2481677"/>
            <a:ext cx="1651746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Black Level</a:t>
            </a:r>
            <a:r>
              <a:rPr lang="en-US" altLang="ko-KR" sz="1100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 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&lt; 0.24 cd/㎡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9" name="모서리가 둥근 직사각형 94">
            <a:extLst>
              <a:ext uri="{FF2B5EF4-FFF2-40B4-BE49-F238E27FC236}">
                <a16:creationId xmlns:a16="http://schemas.microsoft.com/office/drawing/2014/main" id="{A4B454AC-4A96-6B15-6CB0-C41F7C1700BC}"/>
              </a:ext>
            </a:extLst>
          </p:cNvPr>
          <p:cNvSpPr/>
          <p:nvPr/>
        </p:nvSpPr>
        <p:spPr>
          <a:xfrm>
            <a:off x="5589537" y="3762417"/>
            <a:ext cx="1922408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Color Gamut/Volume </a:t>
            </a:r>
            <a:r>
              <a:rPr lang="en-US" altLang="ko-KR" sz="1100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(reference)</a:t>
            </a:r>
            <a:endParaRPr lang="ko-KR" altLang="en-US" sz="1100" dirty="0">
              <a:solidFill>
                <a:schemeClr val="tx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1DE96-2187-A1FA-ACE2-F7ED0AAF8A02}"/>
              </a:ext>
            </a:extLst>
          </p:cNvPr>
          <p:cNvSpPr txBox="1"/>
          <p:nvPr/>
        </p:nvSpPr>
        <p:spPr>
          <a:xfrm>
            <a:off x="4816794" y="3629556"/>
            <a:ext cx="2459924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9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* DCI-P3 (SDR) based</a:t>
            </a:r>
            <a:endParaRPr lang="ko-KR" altLang="en-US" sz="900" i="1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D53DB2-1E3F-93DC-F938-5E5547964C8D}"/>
              </a:ext>
            </a:extLst>
          </p:cNvPr>
          <p:cNvSpPr txBox="1"/>
          <p:nvPr/>
        </p:nvSpPr>
        <p:spPr>
          <a:xfrm>
            <a:off x="7873154" y="3646790"/>
            <a:ext cx="648412" cy="20172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Tom’s Guide</a:t>
            </a:r>
            <a:endParaRPr kumimoji="0" lang="en-US" altLang="ko-KR" sz="1000" b="0" u="sng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7" name="모서리가 둥근 직사각형 94">
            <a:extLst>
              <a:ext uri="{FF2B5EF4-FFF2-40B4-BE49-F238E27FC236}">
                <a16:creationId xmlns:a16="http://schemas.microsoft.com/office/drawing/2014/main" id="{14A49547-76A6-CB5C-B716-28787B2EACCB}"/>
              </a:ext>
            </a:extLst>
          </p:cNvPr>
          <p:cNvSpPr/>
          <p:nvPr/>
        </p:nvSpPr>
        <p:spPr>
          <a:xfrm>
            <a:off x="5623405" y="4087143"/>
            <a:ext cx="1749554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Color Gamut</a:t>
            </a:r>
            <a:r>
              <a:rPr lang="ko-KR" altLang="en-US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유지율  ≥ 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99%   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4AE68E-91C4-0B6E-59B3-DB26838B223E}"/>
              </a:ext>
            </a:extLst>
          </p:cNvPr>
          <p:cNvSpPr txBox="1"/>
          <p:nvPr/>
        </p:nvSpPr>
        <p:spPr>
          <a:xfrm>
            <a:off x="9145252" y="3644770"/>
            <a:ext cx="457001" cy="20576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Rtings</a:t>
            </a:r>
            <a:endParaRPr kumimoji="0" lang="en-US" altLang="ko-KR" sz="1000" b="0" u="sng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20" name="모서리가 둥근 직사각형 94">
            <a:extLst>
              <a:ext uri="{FF2B5EF4-FFF2-40B4-BE49-F238E27FC236}">
                <a16:creationId xmlns:a16="http://schemas.microsoft.com/office/drawing/2014/main" id="{87AC73B9-D1DE-CBAD-5873-FEAF541A85F6}"/>
              </a:ext>
            </a:extLst>
          </p:cNvPr>
          <p:cNvSpPr/>
          <p:nvPr/>
        </p:nvSpPr>
        <p:spPr>
          <a:xfrm>
            <a:off x="5623405" y="4439714"/>
            <a:ext cx="1178944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색적확도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 = 100%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30E2B-F9EF-6E9B-5396-D21E6D47B053}"/>
              </a:ext>
            </a:extLst>
          </p:cNvPr>
          <p:cNvSpPr txBox="1"/>
          <p:nvPr/>
        </p:nvSpPr>
        <p:spPr>
          <a:xfrm>
            <a:off x="7662424" y="3785423"/>
            <a:ext cx="2816851" cy="24198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Color Gamut </a:t>
            </a:r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99.97% / </a:t>
            </a: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Color Volume </a:t>
            </a:r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98.72%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4A305D-C223-516B-E43E-E6521428B2CB}"/>
              </a:ext>
            </a:extLst>
          </p:cNvPr>
          <p:cNvSpPr txBox="1"/>
          <p:nvPr/>
        </p:nvSpPr>
        <p:spPr>
          <a:xfrm>
            <a:off x="3994731" y="2162703"/>
            <a:ext cx="324000" cy="252000"/>
          </a:xfrm>
          <a:prstGeom prst="roundRect">
            <a:avLst/>
          </a:prstGeom>
          <a:solidFill>
            <a:srgbClr val="006D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Pass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BAEBFE-BC93-4D77-8C9E-82B1AF520DC9}"/>
              </a:ext>
            </a:extLst>
          </p:cNvPr>
          <p:cNvSpPr txBox="1"/>
          <p:nvPr/>
        </p:nvSpPr>
        <p:spPr>
          <a:xfrm>
            <a:off x="7654503" y="2154236"/>
            <a:ext cx="324000" cy="252000"/>
          </a:xfrm>
          <a:prstGeom prst="roundRect">
            <a:avLst/>
          </a:prstGeom>
          <a:solidFill>
            <a:srgbClr val="006D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Pass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F51456-2125-5848-6443-09BF5EB1BB73}"/>
              </a:ext>
            </a:extLst>
          </p:cNvPr>
          <p:cNvSpPr txBox="1"/>
          <p:nvPr/>
        </p:nvSpPr>
        <p:spPr>
          <a:xfrm>
            <a:off x="5506528" y="1778775"/>
            <a:ext cx="1178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ko-KR" b="1" i="1" dirty="0">
                <a:latin typeface="Arial Narrow" panose="020B0606020202030204"/>
                <a:ea typeface="LG스마트체 Regular" panose="020B0600000101010101"/>
              </a:rPr>
              <a:t>Black</a:t>
            </a:r>
            <a:endParaRPr lang="ko-KR" altLang="en-US" sz="1400" b="1" i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867F4A-03CE-92DB-CEBD-F95272FEBEDB}"/>
              </a:ext>
            </a:extLst>
          </p:cNvPr>
          <p:cNvSpPr txBox="1"/>
          <p:nvPr/>
        </p:nvSpPr>
        <p:spPr>
          <a:xfrm>
            <a:off x="2097348" y="3644770"/>
            <a:ext cx="728834" cy="20576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Tom’s Guide</a:t>
            </a:r>
            <a:endParaRPr kumimoji="0" lang="en-US" altLang="ko-KR" sz="1000" b="0" u="sng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E53770-F025-2059-6CA4-A8C13C7C4255}"/>
              </a:ext>
            </a:extLst>
          </p:cNvPr>
          <p:cNvSpPr txBox="1"/>
          <p:nvPr/>
        </p:nvSpPr>
        <p:spPr>
          <a:xfrm>
            <a:off x="3467680" y="3644770"/>
            <a:ext cx="513684" cy="20576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Rtings</a:t>
            </a:r>
            <a:endParaRPr kumimoji="0" lang="en-US" altLang="ko-KR" sz="1000" b="0" u="sng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64" name="모서리가 둥근 직사각형 94">
            <a:extLst>
              <a:ext uri="{FF2B5EF4-FFF2-40B4-BE49-F238E27FC236}">
                <a16:creationId xmlns:a16="http://schemas.microsoft.com/office/drawing/2014/main" id="{D09FF77E-5EEC-724C-A946-4477F86E3C49}"/>
              </a:ext>
            </a:extLst>
          </p:cNvPr>
          <p:cNvSpPr/>
          <p:nvPr/>
        </p:nvSpPr>
        <p:spPr>
          <a:xfrm>
            <a:off x="7687074" y="2865028"/>
            <a:ext cx="3244503" cy="245524"/>
          </a:xfrm>
          <a:prstGeom prst="roundRect">
            <a:avLst>
              <a:gd name="adj" fmla="val 6010"/>
            </a:avLst>
          </a:prstGeom>
          <a:solidFill>
            <a:schemeClr val="accent5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93663">
              <a:lnSpc>
                <a:spcPts val="1400"/>
              </a:lnSpc>
            </a:pPr>
            <a:r>
              <a:rPr lang="en-US" altLang="ko-KR" sz="1100" b="1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!!</a:t>
            </a:r>
            <a:r>
              <a:rPr lang="ko-KR" altLang="en-US" sz="1100" b="1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속지말자 </a:t>
            </a:r>
            <a:r>
              <a:rPr lang="en-US" altLang="ko-KR" sz="1100" b="1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!!</a:t>
            </a:r>
            <a:r>
              <a:rPr lang="ko-KR" altLang="en-US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lang="en-US" altLang="ko-KR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S95F</a:t>
            </a:r>
            <a:r>
              <a:rPr lang="ko-KR" altLang="en-US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의 </a:t>
            </a:r>
            <a:r>
              <a:rPr lang="en-US" altLang="ko-KR" sz="1050" b="1" i="1" u="sng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‘Real Black’</a:t>
            </a:r>
            <a:r>
              <a:rPr lang="ko-KR" altLang="en-US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은 </a:t>
            </a:r>
            <a:r>
              <a:rPr lang="en-US" altLang="ko-KR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Black </a:t>
            </a:r>
            <a:r>
              <a:rPr lang="ko-KR" altLang="en-US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인증이 아니다</a:t>
            </a:r>
            <a:r>
              <a:rPr lang="en-US" altLang="ko-KR" sz="1050" i="1" dirty="0">
                <a:solidFill>
                  <a:schemeClr val="accent1">
                    <a:lumMod val="7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!!</a:t>
            </a:r>
            <a:endParaRPr lang="ko-KR" altLang="en-US" sz="1050" i="1" dirty="0">
              <a:solidFill>
                <a:schemeClr val="accent1">
                  <a:lumMod val="75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929B2B3-917D-A477-9E57-C7290C7180E4}"/>
              </a:ext>
            </a:extLst>
          </p:cNvPr>
          <p:cNvGrpSpPr/>
          <p:nvPr/>
        </p:nvGrpSpPr>
        <p:grpSpPr>
          <a:xfrm>
            <a:off x="305586" y="1057075"/>
            <a:ext cx="2327402" cy="641312"/>
            <a:chOff x="1047886" y="1107115"/>
            <a:chExt cx="2327402" cy="641312"/>
          </a:xfrm>
        </p:grpSpPr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2CC45FFC-6D05-7A8A-DF56-7702D54EC0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t="7238" r="9014" b="5539"/>
            <a:stretch/>
          </p:blipFill>
          <p:spPr>
            <a:xfrm>
              <a:off x="1047886" y="1107115"/>
              <a:ext cx="1093212" cy="624643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23906852-4CA2-8A37-D13B-792BBDB46C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t="7238" r="9014" b="5539"/>
            <a:stretch/>
          </p:blipFill>
          <p:spPr>
            <a:xfrm>
              <a:off x="2282076" y="1107115"/>
              <a:ext cx="1093212" cy="624643"/>
            </a:xfrm>
            <a:prstGeom prst="rect">
              <a:avLst/>
            </a:prstGeom>
          </p:spPr>
        </p:pic>
        <p:sp>
          <p:nvSpPr>
            <p:cNvPr id="130" name="같음 기호 129">
              <a:extLst>
                <a:ext uri="{FF2B5EF4-FFF2-40B4-BE49-F238E27FC236}">
                  <a16:creationId xmlns:a16="http://schemas.microsoft.com/office/drawing/2014/main" id="{22161EA5-6426-7A22-6632-68CC56CD005E}"/>
                </a:ext>
              </a:extLst>
            </p:cNvPr>
            <p:cNvSpPr/>
            <p:nvPr/>
          </p:nvSpPr>
          <p:spPr>
            <a:xfrm>
              <a:off x="2143545" y="1348260"/>
              <a:ext cx="144000" cy="108000"/>
            </a:xfrm>
            <a:prstGeom prst="mathEqual">
              <a:avLst/>
            </a:prstGeom>
            <a:solidFill>
              <a:srgbClr val="006D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4D43A48-615E-1A76-6069-E1CBF4F5BE72}"/>
                </a:ext>
              </a:extLst>
            </p:cNvPr>
            <p:cNvSpPr txBox="1"/>
            <p:nvPr/>
          </p:nvSpPr>
          <p:spPr>
            <a:xfrm>
              <a:off x="2691118" y="1522083"/>
              <a:ext cx="337182" cy="226344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effectLst>
              <a:softEdge rad="31750"/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b="1" i="1" dirty="0">
                  <a:solidFill>
                    <a:schemeClr val="bg1"/>
                  </a:solidFill>
                  <a:latin typeface="Arial Narrow" panose="020B0606020202030204"/>
                  <a:ea typeface="LG스마트체 Regular" panose="020B0600000101010101"/>
                </a:rPr>
                <a:t>Day</a:t>
              </a:r>
              <a:endParaRPr kumimoji="0" lang="en-US" altLang="ko-KR" sz="1100" b="1" i="1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3964971-335E-7D94-95B5-7DAD4BE7CDF0}"/>
                </a:ext>
              </a:extLst>
            </p:cNvPr>
            <p:cNvSpPr txBox="1"/>
            <p:nvPr/>
          </p:nvSpPr>
          <p:spPr>
            <a:xfrm>
              <a:off x="1465787" y="1522083"/>
              <a:ext cx="337182" cy="221664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effectLst>
              <a:softEdge rad="31750"/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b="1" i="1" dirty="0">
                  <a:solidFill>
                    <a:schemeClr val="bg1"/>
                  </a:solidFill>
                  <a:latin typeface="Arial Narrow" panose="020B0606020202030204"/>
                  <a:ea typeface="LG스마트체 Regular" panose="020B0600000101010101"/>
                </a:rPr>
                <a:t>Night</a:t>
              </a:r>
              <a:endParaRPr kumimoji="0" lang="en-US" altLang="ko-KR" sz="1100" b="1" i="1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endParaRPr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6D313CCC-7075-703A-FEBE-6CD70685F40A}"/>
              </a:ext>
            </a:extLst>
          </p:cNvPr>
          <p:cNvGrpSpPr/>
          <p:nvPr/>
        </p:nvGrpSpPr>
        <p:grpSpPr>
          <a:xfrm>
            <a:off x="9502417" y="1015662"/>
            <a:ext cx="2379550" cy="724138"/>
            <a:chOff x="8782390" y="1057367"/>
            <a:chExt cx="2379550" cy="724138"/>
          </a:xfrm>
        </p:grpSpPr>
        <p:pic>
          <p:nvPicPr>
            <p:cNvPr id="110" name="그림 109">
              <a:extLst>
                <a:ext uri="{FF2B5EF4-FFF2-40B4-BE49-F238E27FC236}">
                  <a16:creationId xmlns:a16="http://schemas.microsoft.com/office/drawing/2014/main" id="{6FDDFA59-861B-4EBE-74FA-2A15586E3C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t="7238" r="9014" b="5539"/>
            <a:stretch/>
          </p:blipFill>
          <p:spPr>
            <a:xfrm>
              <a:off x="8782390" y="1107115"/>
              <a:ext cx="1093212" cy="624643"/>
            </a:xfrm>
            <a:prstGeom prst="rect">
              <a:avLst/>
            </a:prstGeom>
          </p:spPr>
        </p:pic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C73FC8B1-0108-433B-8931-17AE7767D66C}"/>
                </a:ext>
              </a:extLst>
            </p:cNvPr>
            <p:cNvGrpSpPr/>
            <p:nvPr/>
          </p:nvGrpSpPr>
          <p:grpSpPr>
            <a:xfrm>
              <a:off x="10029776" y="1057367"/>
              <a:ext cx="1132164" cy="724138"/>
              <a:chOff x="1751138" y="4426151"/>
              <a:chExt cx="1132164" cy="724138"/>
            </a:xfrm>
          </p:grpSpPr>
          <p:pic>
            <p:nvPicPr>
              <p:cNvPr id="114" name="그림 113">
                <a:extLst>
                  <a:ext uri="{FF2B5EF4-FFF2-40B4-BE49-F238E27FC236}">
                    <a16:creationId xmlns:a16="http://schemas.microsoft.com/office/drawing/2014/main" id="{A9393BB3-4BFE-7D71-9CEE-200277D993B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rcRect t="7238" r="9014" b="5539"/>
              <a:stretch/>
            </p:blipFill>
            <p:spPr>
              <a:xfrm>
                <a:off x="1768962" y="4482063"/>
                <a:ext cx="1093212" cy="624643"/>
              </a:xfrm>
              <a:prstGeom prst="rect">
                <a:avLst/>
              </a:prstGeom>
            </p:spPr>
          </p:pic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290DFF71-6DF5-2AC0-6BE0-9AB89FF7271D}"/>
                  </a:ext>
                </a:extLst>
              </p:cNvPr>
              <p:cNvSpPr/>
              <p:nvPr/>
            </p:nvSpPr>
            <p:spPr>
              <a:xfrm>
                <a:off x="1755901" y="4474976"/>
                <a:ext cx="1120667" cy="632738"/>
              </a:xfrm>
              <a:prstGeom prst="rect">
                <a:avLst/>
              </a:prstGeom>
              <a:solidFill>
                <a:srgbClr val="FF0000">
                  <a:alpha val="1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/>
                  <a:ea typeface="LG스마트체 Regular" panose="020B0600000101010101"/>
                </a:endParaRPr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BD89F10F-E0CB-BB9C-44B8-5EBDE640AC86}"/>
                  </a:ext>
                </a:extLst>
              </p:cNvPr>
              <p:cNvSpPr/>
              <p:nvPr/>
            </p:nvSpPr>
            <p:spPr>
              <a:xfrm>
                <a:off x="2739302" y="4467388"/>
                <a:ext cx="144000" cy="632738"/>
              </a:xfrm>
              <a:prstGeom prst="rect">
                <a:avLst/>
              </a:prstGeom>
              <a:solidFill>
                <a:schemeClr val="bg1">
                  <a:alpha val="31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/>
                  <a:ea typeface="LG스마트체 Regular" panose="020B0600000101010101"/>
                </a:endParaRPr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A2C853BB-0A3B-430D-A033-61038B809A07}"/>
                  </a:ext>
                </a:extLst>
              </p:cNvPr>
              <p:cNvSpPr/>
              <p:nvPr/>
            </p:nvSpPr>
            <p:spPr>
              <a:xfrm>
                <a:off x="1751138" y="4478079"/>
                <a:ext cx="453661" cy="620281"/>
              </a:xfrm>
              <a:prstGeom prst="rect">
                <a:avLst/>
              </a:prstGeom>
              <a:solidFill>
                <a:schemeClr val="bg1">
                  <a:lumMod val="95000"/>
                  <a:alpha val="3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/>
                  <a:ea typeface="LG스마트체 Regular" panose="020B0600000101010101"/>
                </a:endParaRPr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7E5F9405-3167-AD4F-437D-56F44E3CB051}"/>
                  </a:ext>
                </a:extLst>
              </p:cNvPr>
              <p:cNvSpPr/>
              <p:nvPr/>
            </p:nvSpPr>
            <p:spPr>
              <a:xfrm>
                <a:off x="2204405" y="4426151"/>
                <a:ext cx="534898" cy="724138"/>
              </a:xfrm>
              <a:prstGeom prst="rect">
                <a:avLst/>
              </a:prstGeom>
              <a:solidFill>
                <a:schemeClr val="bg1">
                  <a:lumMod val="95000"/>
                  <a:alpha val="38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 Narrow" panose="020B0606020202030204"/>
                  <a:ea typeface="LG스마트체 Regular" panose="020B0600000101010101"/>
                </a:endParaRPr>
              </a:p>
            </p:txBody>
          </p:sp>
        </p:grpSp>
        <p:sp>
          <p:nvSpPr>
            <p:cNvPr id="128" name="부등호 127">
              <a:extLst>
                <a:ext uri="{FF2B5EF4-FFF2-40B4-BE49-F238E27FC236}">
                  <a16:creationId xmlns:a16="http://schemas.microsoft.com/office/drawing/2014/main" id="{9634E4D0-B6C0-E57D-F3E3-D1E0D5764608}"/>
                </a:ext>
              </a:extLst>
            </p:cNvPr>
            <p:cNvSpPr/>
            <p:nvPr/>
          </p:nvSpPr>
          <p:spPr>
            <a:xfrm>
              <a:off x="9870620" y="1348260"/>
              <a:ext cx="180000" cy="108000"/>
            </a:xfrm>
            <a:prstGeom prst="mathNotEqual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2EE9A434-4902-A0A6-AAFD-96594A07F081}"/>
                </a:ext>
              </a:extLst>
            </p:cNvPr>
            <p:cNvSpPr txBox="1"/>
            <p:nvPr/>
          </p:nvSpPr>
          <p:spPr>
            <a:xfrm>
              <a:off x="10411219" y="1522083"/>
              <a:ext cx="352986" cy="226344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effectLst>
              <a:softEdge rad="31750"/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b="1" i="1" dirty="0">
                  <a:solidFill>
                    <a:schemeClr val="bg1"/>
                  </a:solidFill>
                  <a:latin typeface="Arial Narrow" panose="020B0606020202030204"/>
                  <a:ea typeface="LG스마트체 Regular" panose="020B0600000101010101"/>
                </a:rPr>
                <a:t>Day</a:t>
              </a:r>
              <a:endParaRPr kumimoji="0" lang="en-US" altLang="ko-KR" sz="1100" b="1" i="1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76BA655-DA02-F836-B49E-B0B9431DE9EF}"/>
                </a:ext>
              </a:extLst>
            </p:cNvPr>
            <p:cNvSpPr txBox="1"/>
            <p:nvPr/>
          </p:nvSpPr>
          <p:spPr>
            <a:xfrm>
              <a:off x="9133614" y="1522083"/>
              <a:ext cx="352986" cy="226344"/>
            </a:xfrm>
            <a:prstGeom prst="rect">
              <a:avLst/>
            </a:prstGeom>
            <a:solidFill>
              <a:schemeClr val="tx1">
                <a:alpha val="30000"/>
              </a:schemeClr>
            </a:solidFill>
            <a:effectLst>
              <a:softEdge rad="31750"/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100" b="1" i="1" dirty="0">
                  <a:solidFill>
                    <a:schemeClr val="bg1"/>
                  </a:solidFill>
                  <a:latin typeface="Arial Narrow" panose="020B0606020202030204"/>
                  <a:ea typeface="LG스마트체 Regular" panose="020B0600000101010101"/>
                </a:rPr>
                <a:t>Night</a:t>
              </a:r>
              <a:endParaRPr kumimoji="0" lang="en-US" altLang="ko-KR" sz="1100" b="1" i="1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endParaRP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3760E17E-8584-0CA2-5ED7-8F754DBFDEDD}"/>
              </a:ext>
            </a:extLst>
          </p:cNvPr>
          <p:cNvSpPr txBox="1"/>
          <p:nvPr/>
        </p:nvSpPr>
        <p:spPr>
          <a:xfrm>
            <a:off x="802031" y="3245348"/>
            <a:ext cx="3278898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88900"/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Vivid &amp; Precise Perfect</a:t>
            </a:r>
            <a:r>
              <a:rPr lang="ko-KR" altLang="en-US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Color,</a:t>
            </a:r>
            <a:r>
              <a:rPr lang="ko-KR" altLang="en-US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Night</a:t>
            </a:r>
            <a:r>
              <a:rPr lang="ko-KR" altLang="en-US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&amp;</a:t>
            </a:r>
            <a:r>
              <a:rPr lang="ko-KR" altLang="en-US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Day</a:t>
            </a:r>
            <a:endParaRPr lang="ko-KR" altLang="en-US" sz="1300" dirty="0">
              <a:solidFill>
                <a:srgbClr val="C00000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3B82682-6B3A-F16A-E857-63B5E840F0BC}"/>
              </a:ext>
            </a:extLst>
          </p:cNvPr>
          <p:cNvSpPr txBox="1"/>
          <p:nvPr/>
        </p:nvSpPr>
        <p:spPr>
          <a:xfrm>
            <a:off x="8368679" y="3245348"/>
            <a:ext cx="2983231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ko-KR" sz="1300" dirty="0">
                <a:solidFill>
                  <a:srgbClr val="2E75B6"/>
                </a:solidFill>
                <a:latin typeface="Arial Narrow" panose="020B0606020202030204"/>
                <a:ea typeface="LG스마트체 Regular" panose="020B0600000101010101"/>
              </a:rPr>
              <a:t>lifeless &amp; inaccurate colors during the day</a:t>
            </a:r>
            <a:endParaRPr lang="ko-KR" altLang="en-US" sz="1300" dirty="0">
              <a:solidFill>
                <a:srgbClr val="2E75B6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D7F5943-7155-6A69-0747-C37B3C372D75}"/>
              </a:ext>
            </a:extLst>
          </p:cNvPr>
          <p:cNvSpPr txBox="1"/>
          <p:nvPr/>
        </p:nvSpPr>
        <p:spPr>
          <a:xfrm>
            <a:off x="802031" y="4898782"/>
            <a:ext cx="2723657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88900"/>
            <a:r>
              <a:rPr lang="en-US" altLang="ko-KR" sz="1300" b="1" dirty="0">
                <a:solidFill>
                  <a:srgbClr val="C00000"/>
                </a:solidFill>
                <a:latin typeface="Arial Narrow" panose="020B0606020202030204"/>
                <a:ea typeface="LG스마트체 Regular" panose="020B0600000101010101"/>
              </a:rPr>
              <a:t>Reflection Free with Anti-Reflection</a:t>
            </a:r>
            <a:endParaRPr lang="ko-KR" altLang="en-US" sz="1300" dirty="0">
              <a:solidFill>
                <a:srgbClr val="C00000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CA54479-0F9E-9808-9521-E8D21FF4F4EA}"/>
              </a:ext>
            </a:extLst>
          </p:cNvPr>
          <p:cNvSpPr txBox="1"/>
          <p:nvPr/>
        </p:nvSpPr>
        <p:spPr>
          <a:xfrm>
            <a:off x="7460257" y="4898782"/>
            <a:ext cx="3891654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altLang="ko-KR" sz="1300" dirty="0">
                <a:solidFill>
                  <a:srgbClr val="2E75B6"/>
                </a:solidFill>
                <a:latin typeface="Arial Narrow" panose="020B0606020202030204"/>
                <a:ea typeface="LG스마트체 Regular" panose="020B0600000101010101"/>
              </a:rPr>
              <a:t>viewing experience hampering reflection during the day</a:t>
            </a:r>
            <a:endParaRPr lang="ko-KR" altLang="en-US" sz="1300" dirty="0">
              <a:solidFill>
                <a:srgbClr val="2E75B6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A3778D0-E90D-6BCA-00D9-47306BF5313D}"/>
              </a:ext>
            </a:extLst>
          </p:cNvPr>
          <p:cNvSpPr txBox="1"/>
          <p:nvPr/>
        </p:nvSpPr>
        <p:spPr>
          <a:xfrm>
            <a:off x="5567757" y="4860311"/>
            <a:ext cx="1056486" cy="276999"/>
          </a:xfrm>
          <a:prstGeom prst="rect">
            <a:avLst/>
          </a:prstGeom>
          <a:noFill/>
          <a:effectLst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b="1" i="1" dirty="0">
                <a:gradFill flip="none" rotWithShape="1">
                  <a:gsLst>
                    <a:gs pos="0">
                      <a:schemeClr val="tx1"/>
                    </a:gs>
                    <a:gs pos="55000">
                      <a:schemeClr val="bg1">
                        <a:lumMod val="75000"/>
                      </a:schemeClr>
                    </a:gs>
                  </a:gsLst>
                  <a:lin ang="18900000" scaled="1"/>
                  <a:tileRect/>
                </a:gradFill>
                <a:effectLst/>
                <a:latin typeface="Arial Narrow" panose="020B0606020202030204"/>
                <a:ea typeface="LG스마트체 Regular" panose="020B0600000101010101"/>
              </a:rPr>
              <a:t>Reflection</a:t>
            </a:r>
            <a:endParaRPr lang="ko-KR" altLang="en-US" dirty="0">
              <a:gradFill>
                <a:gsLst>
                  <a:gs pos="0">
                    <a:schemeClr val="tx1"/>
                  </a:gs>
                  <a:gs pos="55000">
                    <a:schemeClr val="bg1">
                      <a:lumMod val="75000"/>
                    </a:schemeClr>
                  </a:gs>
                </a:gsLst>
                <a:lin ang="18900000" scaled="1"/>
              </a:gradFill>
              <a:effectLst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F360449-0C74-9A28-4810-0732D645F6FE}"/>
              </a:ext>
            </a:extLst>
          </p:cNvPr>
          <p:cNvSpPr txBox="1"/>
          <p:nvPr/>
        </p:nvSpPr>
        <p:spPr>
          <a:xfrm>
            <a:off x="4632315" y="2344881"/>
            <a:ext cx="292737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* Dark</a:t>
            </a:r>
            <a:r>
              <a:rPr lang="ko-KR" altLang="en-US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Room @0lux 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 Test lab.s with absolute darkness</a:t>
            </a:r>
            <a:endParaRPr lang="ko-KR" altLang="en-US" sz="1000" i="1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2" name="모서리가 둥근 직사각형 94">
            <a:extLst>
              <a:ext uri="{FF2B5EF4-FFF2-40B4-BE49-F238E27FC236}">
                <a16:creationId xmlns:a16="http://schemas.microsoft.com/office/drawing/2014/main" id="{AEDBC940-BFC3-BA02-9CBF-434636A2DF49}"/>
              </a:ext>
            </a:extLst>
          </p:cNvPr>
          <p:cNvSpPr/>
          <p:nvPr/>
        </p:nvSpPr>
        <p:spPr>
          <a:xfrm>
            <a:off x="4767571" y="5362568"/>
            <a:ext cx="2473052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화면 표면 처리 방식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(reference)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D984C9A-965A-4B94-B91B-1A81741593ED}"/>
              </a:ext>
            </a:extLst>
          </p:cNvPr>
          <p:cNvSpPr txBox="1"/>
          <p:nvPr/>
        </p:nvSpPr>
        <p:spPr>
          <a:xfrm>
            <a:off x="3648137" y="5383105"/>
            <a:ext cx="983695" cy="24692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Anti-reflection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9FCDB5C-D202-72EC-6BD4-565A33ED2244}"/>
              </a:ext>
            </a:extLst>
          </p:cNvPr>
          <p:cNvSpPr txBox="1"/>
          <p:nvPr/>
        </p:nvSpPr>
        <p:spPr>
          <a:xfrm>
            <a:off x="7552393" y="5329597"/>
            <a:ext cx="918411" cy="35394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Anti-glare</a:t>
            </a:r>
            <a:br>
              <a:rPr lang="en-US" altLang="ko-KR" sz="1100" i="1" dirty="0"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100" i="1" dirty="0">
                <a:latin typeface="Arial Narrow" panose="020B0606020202030204"/>
                <a:ea typeface="LG스마트체 Regular" panose="020B0600000101010101"/>
              </a:rPr>
              <a:t>(AGLR)</a:t>
            </a:r>
            <a:endParaRPr lang="en-US" altLang="ko-KR" sz="1200" i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6" name="화살표: 위쪽/아래쪽 165">
            <a:extLst>
              <a:ext uri="{FF2B5EF4-FFF2-40B4-BE49-F238E27FC236}">
                <a16:creationId xmlns:a16="http://schemas.microsoft.com/office/drawing/2014/main" id="{5B798F46-32AF-099F-9572-7E0FE1B4E932}"/>
              </a:ext>
            </a:extLst>
          </p:cNvPr>
          <p:cNvSpPr/>
          <p:nvPr/>
        </p:nvSpPr>
        <p:spPr>
          <a:xfrm>
            <a:off x="341667" y="1798169"/>
            <a:ext cx="292782" cy="4025563"/>
          </a:xfrm>
          <a:prstGeom prst="upDownArrow">
            <a:avLst>
              <a:gd name="adj1" fmla="val 68427"/>
              <a:gd name="adj2" fmla="val 50000"/>
            </a:avLst>
          </a:prstGeom>
          <a:solidFill>
            <a:srgbClr val="FF000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All LG OLED TVs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8" name="화살표: 위쪽/아래쪽 167">
            <a:extLst>
              <a:ext uri="{FF2B5EF4-FFF2-40B4-BE49-F238E27FC236}">
                <a16:creationId xmlns:a16="http://schemas.microsoft.com/office/drawing/2014/main" id="{79596C47-4596-7DC4-82EF-89ADBCA3DE0A}"/>
              </a:ext>
            </a:extLst>
          </p:cNvPr>
          <p:cNvSpPr/>
          <p:nvPr/>
        </p:nvSpPr>
        <p:spPr>
          <a:xfrm>
            <a:off x="11556346" y="1798170"/>
            <a:ext cx="291600" cy="4417322"/>
          </a:xfrm>
          <a:prstGeom prst="upDownArrow">
            <a:avLst>
              <a:gd name="adj1" fmla="val 69364"/>
              <a:gd name="adj2" fmla="val 50000"/>
            </a:avLst>
          </a:prstGeom>
          <a:solidFill>
            <a:srgbClr val="0070C0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All SS OLED TVs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0" name="모서리가 둥근 직사각형 94">
            <a:extLst>
              <a:ext uri="{FF2B5EF4-FFF2-40B4-BE49-F238E27FC236}">
                <a16:creationId xmlns:a16="http://schemas.microsoft.com/office/drawing/2014/main" id="{41B01D0D-D7E2-F0F8-B948-0455B73B4B50}"/>
              </a:ext>
            </a:extLst>
          </p:cNvPr>
          <p:cNvSpPr/>
          <p:nvPr/>
        </p:nvSpPr>
        <p:spPr>
          <a:xfrm>
            <a:off x="4733703" y="5830535"/>
            <a:ext cx="2473052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Reflection Free  </a:t>
            </a:r>
            <a:r>
              <a:rPr lang="en-US" altLang="ko-KR" sz="1200" b="1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≤ 1.0%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 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06C66C6-BEDB-4131-4D18-D9B933577DA9}"/>
              </a:ext>
            </a:extLst>
          </p:cNvPr>
          <p:cNvSpPr txBox="1"/>
          <p:nvPr/>
        </p:nvSpPr>
        <p:spPr>
          <a:xfrm>
            <a:off x="3994731" y="5848535"/>
            <a:ext cx="324000" cy="252000"/>
          </a:xfrm>
          <a:prstGeom prst="roundRect">
            <a:avLst/>
          </a:prstGeom>
          <a:solidFill>
            <a:srgbClr val="006D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Pass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8EB633-9CD7-99E8-A1F2-8FE2FBB21126}"/>
              </a:ext>
            </a:extLst>
          </p:cNvPr>
          <p:cNvSpPr txBox="1"/>
          <p:nvPr/>
        </p:nvSpPr>
        <p:spPr>
          <a:xfrm>
            <a:off x="7654503" y="5848535"/>
            <a:ext cx="324000" cy="252000"/>
          </a:xfrm>
          <a:prstGeom prst="roundRect">
            <a:avLst/>
          </a:prstGeom>
          <a:solidFill>
            <a:srgbClr val="FF0000">
              <a:alpha val="64000"/>
            </a:srgb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>
              <a:buClr>
                <a:srgbClr val="006D00"/>
              </a:buClr>
            </a:pP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</a:rPr>
              <a:t>Fail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053DD14-B4C2-B7C6-F483-C3CA81CE02F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4F5F5"/>
              </a:clrFrom>
              <a:clrTo>
                <a:srgbClr val="F4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1206" y="5770840"/>
            <a:ext cx="305182" cy="40739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D740903-D806-E560-19B6-86066FBE5E2D}"/>
              </a:ext>
            </a:extLst>
          </p:cNvPr>
          <p:cNvSpPr txBox="1"/>
          <p:nvPr/>
        </p:nvSpPr>
        <p:spPr>
          <a:xfrm>
            <a:off x="4757113" y="2548733"/>
            <a:ext cx="796956" cy="153888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r"/>
            <a:r>
              <a:rPr kumimoji="0" lang="en-US" altLang="ko-KR" sz="1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[Bright Room]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E5E3E6-1672-BFF8-0F4F-CBC3C653211F}"/>
              </a:ext>
            </a:extLst>
          </p:cNvPr>
          <p:cNvSpPr txBox="1"/>
          <p:nvPr/>
        </p:nvSpPr>
        <p:spPr>
          <a:xfrm>
            <a:off x="4757113" y="2213225"/>
            <a:ext cx="796956" cy="153888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r"/>
            <a:r>
              <a:rPr lang="en-US" altLang="ko-KR" sz="1000" b="1" dirty="0">
                <a:latin typeface="Arial Narrow" panose="020B0606020202030204"/>
                <a:ea typeface="LG스마트체 Regular" panose="020B0600000101010101"/>
              </a:rPr>
              <a:t>[Dark </a:t>
            </a:r>
            <a:r>
              <a:rPr kumimoji="0" lang="en-US" altLang="ko-KR" sz="1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Room]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9332CFF-EC27-D4F9-CF69-E3367E673222}"/>
              </a:ext>
            </a:extLst>
          </p:cNvPr>
          <p:cNvSpPr txBox="1"/>
          <p:nvPr/>
        </p:nvSpPr>
        <p:spPr>
          <a:xfrm>
            <a:off x="4710602" y="2751738"/>
            <a:ext cx="2562430" cy="256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* Bright</a:t>
            </a:r>
            <a:r>
              <a:rPr lang="ko-KR" altLang="en-US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Room @500lux 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 minimum retail brightness,</a:t>
            </a:r>
            <a:b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</a:b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 or average  office brightness </a:t>
            </a:r>
            <a:endParaRPr lang="ko-KR" altLang="en-US" sz="1000" i="1" dirty="0">
              <a:solidFill>
                <a:schemeClr val="tx1">
                  <a:lumMod val="50000"/>
                  <a:lumOff val="50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77" name="모서리가 둥근 직사각형 94">
            <a:extLst>
              <a:ext uri="{FF2B5EF4-FFF2-40B4-BE49-F238E27FC236}">
                <a16:creationId xmlns:a16="http://schemas.microsoft.com/office/drawing/2014/main" id="{8BCAC3EC-8B2B-FF16-7914-749BC83F5987}"/>
              </a:ext>
            </a:extLst>
          </p:cNvPr>
          <p:cNvSpPr/>
          <p:nvPr/>
        </p:nvSpPr>
        <p:spPr>
          <a:xfrm>
            <a:off x="2209818" y="2146169"/>
            <a:ext cx="1432790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r"/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자발광 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OLED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의 기본적 속성</a:t>
            </a:r>
          </a:p>
        </p:txBody>
      </p:sp>
      <p:sp>
        <p:nvSpPr>
          <p:cNvPr id="81" name="모서리가 둥근 직사각형 94">
            <a:extLst>
              <a:ext uri="{FF2B5EF4-FFF2-40B4-BE49-F238E27FC236}">
                <a16:creationId xmlns:a16="http://schemas.microsoft.com/office/drawing/2014/main" id="{99FED9C8-7406-1FC0-7FB7-0164F810E6A4}"/>
              </a:ext>
            </a:extLst>
          </p:cNvPr>
          <p:cNvSpPr/>
          <p:nvPr/>
        </p:nvSpPr>
        <p:spPr>
          <a:xfrm>
            <a:off x="8364600" y="2146169"/>
            <a:ext cx="1753067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자발광 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OLED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의 기본적 속성</a:t>
            </a:r>
          </a:p>
        </p:txBody>
      </p:sp>
      <p:sp>
        <p:nvSpPr>
          <p:cNvPr id="82" name="모서리가 둥근 직사각형 94">
            <a:extLst>
              <a:ext uri="{FF2B5EF4-FFF2-40B4-BE49-F238E27FC236}">
                <a16:creationId xmlns:a16="http://schemas.microsoft.com/office/drawing/2014/main" id="{4749FE77-D107-E3E2-2878-060BD09A9CA1}"/>
              </a:ext>
            </a:extLst>
          </p:cNvPr>
          <p:cNvSpPr/>
          <p:nvPr/>
        </p:nvSpPr>
        <p:spPr>
          <a:xfrm>
            <a:off x="688122" y="2481677"/>
            <a:ext cx="2954486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r"/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실내 조도가 밝아져도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변함 없이 완벽한 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Black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을 표현해 냄</a:t>
            </a:r>
          </a:p>
        </p:txBody>
      </p:sp>
      <p:sp>
        <p:nvSpPr>
          <p:cNvPr id="83" name="모서리가 둥근 직사각형 94">
            <a:extLst>
              <a:ext uri="{FF2B5EF4-FFF2-40B4-BE49-F238E27FC236}">
                <a16:creationId xmlns:a16="http://schemas.microsoft.com/office/drawing/2014/main" id="{E5F5E536-7F90-A3A8-A2A2-CD87F0492D19}"/>
              </a:ext>
            </a:extLst>
          </p:cNvPr>
          <p:cNvSpPr/>
          <p:nvPr/>
        </p:nvSpPr>
        <p:spPr>
          <a:xfrm>
            <a:off x="8364600" y="2481677"/>
            <a:ext cx="2370095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실내 조도가 밝아지면 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Black 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 Grey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로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보여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b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전체적 화질과 시청경험 저하</a:t>
            </a:r>
          </a:p>
        </p:txBody>
      </p:sp>
      <p:sp>
        <p:nvSpPr>
          <p:cNvPr id="85" name="실행 단추: 앞으로 또는 다음 4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262D0B8F-407C-8536-C5C2-844DFC1F36F9}"/>
              </a:ext>
            </a:extLst>
          </p:cNvPr>
          <p:cNvSpPr/>
          <p:nvPr/>
        </p:nvSpPr>
        <p:spPr>
          <a:xfrm>
            <a:off x="11056958" y="2868217"/>
            <a:ext cx="252000" cy="252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0C64D1-A3AD-C0C3-086A-FE508F3307F3}"/>
              </a:ext>
            </a:extLst>
          </p:cNvPr>
          <p:cNvSpPr txBox="1"/>
          <p:nvPr/>
        </p:nvSpPr>
        <p:spPr>
          <a:xfrm>
            <a:off x="4723245" y="3821255"/>
            <a:ext cx="796956" cy="153888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r"/>
            <a:r>
              <a:rPr lang="en-US" altLang="ko-KR" sz="1000" b="1" dirty="0">
                <a:latin typeface="Arial Narrow" panose="020B0606020202030204"/>
                <a:ea typeface="LG스마트체 Regular" panose="020B0600000101010101"/>
              </a:rPr>
              <a:t>[Dark </a:t>
            </a:r>
            <a:r>
              <a:rPr kumimoji="0" lang="en-US" altLang="ko-KR" sz="1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Room]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89" name="왼쪽 대괄호 88">
            <a:extLst>
              <a:ext uri="{FF2B5EF4-FFF2-40B4-BE49-F238E27FC236}">
                <a16:creationId xmlns:a16="http://schemas.microsoft.com/office/drawing/2014/main" id="{B660E26B-22C7-BF0A-ED42-8BC18D324A89}"/>
              </a:ext>
            </a:extLst>
          </p:cNvPr>
          <p:cNvSpPr/>
          <p:nvPr/>
        </p:nvSpPr>
        <p:spPr>
          <a:xfrm>
            <a:off x="5315255" y="4188840"/>
            <a:ext cx="179631" cy="432000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08A6A46-265C-212B-550B-C1647DEC349C}"/>
              </a:ext>
            </a:extLst>
          </p:cNvPr>
          <p:cNvSpPr txBox="1"/>
          <p:nvPr/>
        </p:nvSpPr>
        <p:spPr>
          <a:xfrm>
            <a:off x="4757113" y="4327896"/>
            <a:ext cx="796956" cy="153888"/>
          </a:xfrm>
          <a:prstGeom prst="rect">
            <a:avLst/>
          </a:prstGeom>
          <a:solidFill>
            <a:srgbClr val="EFEBE1"/>
          </a:solidFill>
        </p:spPr>
        <p:txBody>
          <a:bodyPr wrap="square" lIns="0" tIns="0" rIns="0" bIns="0" anchor="ctr" anchorCtr="0">
            <a:spAutoFit/>
          </a:bodyPr>
          <a:lstStyle/>
          <a:p>
            <a:pPr algn="r"/>
            <a:r>
              <a:rPr kumimoji="0" lang="en-US" altLang="ko-KR" sz="1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[Bright Room]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90" name="실행 단추: 앞으로 또는 다음 41">
            <a:hlinkClick r:id="rId9" highlightClick="1"/>
            <a:extLst>
              <a:ext uri="{FF2B5EF4-FFF2-40B4-BE49-F238E27FC236}">
                <a16:creationId xmlns:a16="http://schemas.microsoft.com/office/drawing/2014/main" id="{C95A5777-DC6E-F073-B1A7-367FAC117404}"/>
              </a:ext>
            </a:extLst>
          </p:cNvPr>
          <p:cNvSpPr/>
          <p:nvPr/>
        </p:nvSpPr>
        <p:spPr>
          <a:xfrm>
            <a:off x="2842951" y="3675651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91" name="실행 단추: 앞으로 또는 다음 41">
            <a:hlinkClick r:id="rId10" highlightClick="1"/>
            <a:extLst>
              <a:ext uri="{FF2B5EF4-FFF2-40B4-BE49-F238E27FC236}">
                <a16:creationId xmlns:a16="http://schemas.microsoft.com/office/drawing/2014/main" id="{57990947-19DC-743D-7AA9-8EBAE2C0C933}"/>
              </a:ext>
            </a:extLst>
          </p:cNvPr>
          <p:cNvSpPr/>
          <p:nvPr/>
        </p:nvSpPr>
        <p:spPr>
          <a:xfrm>
            <a:off x="3941132" y="3675651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92" name="실행 단추: 앞으로 또는 다음 41">
            <a:hlinkClick r:id="rId9" highlightClick="1"/>
            <a:extLst>
              <a:ext uri="{FF2B5EF4-FFF2-40B4-BE49-F238E27FC236}">
                <a16:creationId xmlns:a16="http://schemas.microsoft.com/office/drawing/2014/main" id="{ACCEAA27-3BE4-E41E-FC64-A3119FACE2EB}"/>
              </a:ext>
            </a:extLst>
          </p:cNvPr>
          <p:cNvSpPr/>
          <p:nvPr/>
        </p:nvSpPr>
        <p:spPr>
          <a:xfrm>
            <a:off x="8559028" y="3675651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95" name="실행 단추: 앞으로 또는 다음 41">
            <a:hlinkClick r:id="rId11" highlightClick="1"/>
            <a:extLst>
              <a:ext uri="{FF2B5EF4-FFF2-40B4-BE49-F238E27FC236}">
                <a16:creationId xmlns:a16="http://schemas.microsoft.com/office/drawing/2014/main" id="{D6106B2B-AA9B-6B10-D0EB-6FDADF42E8A8}"/>
              </a:ext>
            </a:extLst>
          </p:cNvPr>
          <p:cNvSpPr/>
          <p:nvPr/>
        </p:nvSpPr>
        <p:spPr>
          <a:xfrm>
            <a:off x="9581047" y="3675651"/>
            <a:ext cx="144000" cy="144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96" name="모서리가 둥근 직사각형 94">
            <a:extLst>
              <a:ext uri="{FF2B5EF4-FFF2-40B4-BE49-F238E27FC236}">
                <a16:creationId xmlns:a16="http://schemas.microsoft.com/office/drawing/2014/main" id="{2A77D96E-376D-E249-760A-B621C936594C}"/>
              </a:ext>
            </a:extLst>
          </p:cNvPr>
          <p:cNvSpPr/>
          <p:nvPr/>
        </p:nvSpPr>
        <p:spPr>
          <a:xfrm>
            <a:off x="963102" y="4087143"/>
            <a:ext cx="2679506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r"/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실내 조도가 밝아져도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순색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유지율 변함 없음</a:t>
            </a:r>
          </a:p>
        </p:txBody>
      </p:sp>
      <p:sp>
        <p:nvSpPr>
          <p:cNvPr id="97" name="모서리가 둥근 직사각형 94">
            <a:extLst>
              <a:ext uri="{FF2B5EF4-FFF2-40B4-BE49-F238E27FC236}">
                <a16:creationId xmlns:a16="http://schemas.microsoft.com/office/drawing/2014/main" id="{88B3E03D-83E2-E6F2-AA85-A722145EC3A8}"/>
              </a:ext>
            </a:extLst>
          </p:cNvPr>
          <p:cNvSpPr/>
          <p:nvPr/>
        </p:nvSpPr>
        <p:spPr>
          <a:xfrm>
            <a:off x="8364600" y="4087143"/>
            <a:ext cx="2739584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실내 조도가 밝아지면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순색 유지율 떨어짐</a:t>
            </a:r>
          </a:p>
        </p:txBody>
      </p:sp>
      <p:sp>
        <p:nvSpPr>
          <p:cNvPr id="104" name="모서리가 둥근 직사각형 94">
            <a:extLst>
              <a:ext uri="{FF2B5EF4-FFF2-40B4-BE49-F238E27FC236}">
                <a16:creationId xmlns:a16="http://schemas.microsoft.com/office/drawing/2014/main" id="{F612F99A-6BE3-A08F-C4DC-EA3A6C0CDE0C}"/>
              </a:ext>
            </a:extLst>
          </p:cNvPr>
          <p:cNvSpPr/>
          <p:nvPr/>
        </p:nvSpPr>
        <p:spPr>
          <a:xfrm>
            <a:off x="788198" y="4439714"/>
            <a:ext cx="2854410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r">
              <a:lnSpc>
                <a:spcPts val="1200"/>
              </a:lnSpc>
            </a:pP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실내 조도가 밝아져도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중간색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혼합색 적확도 완벽히 유지</a:t>
            </a:r>
          </a:p>
        </p:txBody>
      </p:sp>
      <p:sp>
        <p:nvSpPr>
          <p:cNvPr id="105" name="모서리가 둥근 직사각형 94">
            <a:extLst>
              <a:ext uri="{FF2B5EF4-FFF2-40B4-BE49-F238E27FC236}">
                <a16:creationId xmlns:a16="http://schemas.microsoft.com/office/drawing/2014/main" id="{6481876C-C97C-F4CA-201A-43283CA41709}"/>
              </a:ext>
            </a:extLst>
          </p:cNvPr>
          <p:cNvSpPr/>
          <p:nvPr/>
        </p:nvSpPr>
        <p:spPr>
          <a:xfrm>
            <a:off x="8364600" y="4439714"/>
            <a:ext cx="2676327" cy="2880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실내 조도가 밝아지면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중간색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혼합색 적확도 틀어짐 </a:t>
            </a:r>
          </a:p>
        </p:txBody>
      </p:sp>
      <p:sp>
        <p:nvSpPr>
          <p:cNvPr id="111" name="모서리가 둥근 직사각형 94">
            <a:extLst>
              <a:ext uri="{FF2B5EF4-FFF2-40B4-BE49-F238E27FC236}">
                <a16:creationId xmlns:a16="http://schemas.microsoft.com/office/drawing/2014/main" id="{4DD311B4-0242-8F2C-6DAD-D5B7840C5445}"/>
              </a:ext>
            </a:extLst>
          </p:cNvPr>
          <p:cNvSpPr/>
          <p:nvPr/>
        </p:nvSpPr>
        <p:spPr>
          <a:xfrm>
            <a:off x="1069050" y="5299777"/>
            <a:ext cx="2573558" cy="413582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r"/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투과율이 높고 선명한 이미지가 중요한 제품에 </a:t>
            </a:r>
            <a:b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사용되는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고성능 프리미엄 반사 빛 저감 기술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b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(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카메라 광학렌즈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현미경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스마트폰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의료장비 등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)</a:t>
            </a:r>
            <a:endParaRPr lang="ko-KR" altLang="en-US" sz="1000" i="1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16" name="모서리가 둥근 직사각형 94">
            <a:extLst>
              <a:ext uri="{FF2B5EF4-FFF2-40B4-BE49-F238E27FC236}">
                <a16:creationId xmlns:a16="http://schemas.microsoft.com/office/drawing/2014/main" id="{61BB39E9-6600-198D-6917-FE89CD2B323A}"/>
              </a:ext>
            </a:extLst>
          </p:cNvPr>
          <p:cNvSpPr/>
          <p:nvPr/>
        </p:nvSpPr>
        <p:spPr>
          <a:xfrm>
            <a:off x="8364600" y="5259821"/>
            <a:ext cx="2954539" cy="493494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주로 눈부심 감소가 중요한 제품에 적용되는 </a:t>
            </a:r>
            <a:b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일반적인 반사 빛 분산 솔루션 </a:t>
            </a:r>
            <a:b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(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태블릿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스크린 보호필름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건축 유리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안경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/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선글라스 등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)</a:t>
            </a:r>
            <a:endParaRPr lang="ko-KR" altLang="en-US" sz="1000" i="1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18" name="실행 단추: 앞으로 또는 다음 41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C13B4EC8-29DC-E377-AA97-0D72DC1CC52D}"/>
              </a:ext>
            </a:extLst>
          </p:cNvPr>
          <p:cNvSpPr/>
          <p:nvPr/>
        </p:nvSpPr>
        <p:spPr>
          <a:xfrm>
            <a:off x="7158190" y="5597444"/>
            <a:ext cx="252000" cy="252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25" name="모서리가 둥근 직사각형 94">
            <a:extLst>
              <a:ext uri="{FF2B5EF4-FFF2-40B4-BE49-F238E27FC236}">
                <a16:creationId xmlns:a16="http://schemas.microsoft.com/office/drawing/2014/main" id="{A8C12297-A902-4981-2049-FD41E40C4729}"/>
              </a:ext>
            </a:extLst>
          </p:cNvPr>
          <p:cNvSpPr/>
          <p:nvPr/>
        </p:nvSpPr>
        <p:spPr>
          <a:xfrm>
            <a:off x="949090" y="5864435"/>
            <a:ext cx="2693518" cy="220200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r"/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정반사와 난반사를 모두 줄여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시청경험 저하 없음</a:t>
            </a:r>
          </a:p>
        </p:txBody>
      </p:sp>
      <p:sp>
        <p:nvSpPr>
          <p:cNvPr id="126" name="모서리가 둥근 직사각형 94">
            <a:extLst>
              <a:ext uri="{FF2B5EF4-FFF2-40B4-BE49-F238E27FC236}">
                <a16:creationId xmlns:a16="http://schemas.microsoft.com/office/drawing/2014/main" id="{FDA7E4D4-9A76-AF53-4048-2CB679EE3F2F}"/>
              </a:ext>
            </a:extLst>
          </p:cNvPr>
          <p:cNvSpPr/>
          <p:nvPr/>
        </p:nvSpPr>
        <p:spPr>
          <a:xfrm>
            <a:off x="8364600" y="5823732"/>
            <a:ext cx="3096928" cy="301606"/>
          </a:xfrm>
          <a:prstGeom prst="roundRect">
            <a:avLst>
              <a:gd name="adj" fmla="val 601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정반사는 줄였으나</a:t>
            </a:r>
            <a:r>
              <a:rPr lang="en-US" altLang="ko-KR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난반사가 심해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밝은 실내에서는 </a:t>
            </a:r>
            <a:b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Black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이 </a:t>
            </a:r>
            <a:r>
              <a:rPr lang="en-US" altLang="ko-KR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Gray</a:t>
            </a:r>
            <a:r>
              <a:rPr lang="ko-KR" altLang="en-US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/>
                <a:ea typeface="LG스마트체 Regular" panose="020B0600000101010101"/>
              </a:rPr>
              <a:t>가 되고 색이 흐리고 틀어져 </a:t>
            </a:r>
            <a:r>
              <a:rPr lang="ko-KR" altLang="en-US" sz="1000" b="1" i="1" u="sng" dirty="0">
                <a:solidFill>
                  <a:schemeClr val="tx1"/>
                </a:solidFill>
                <a:latin typeface="Arial Narrow" panose="020B0606020202030204"/>
                <a:ea typeface="LG스마트체 Regular" panose="020B0600000101010101"/>
              </a:rPr>
              <a:t>시청경험 저하 발생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1442C-E703-79E4-66FB-1B475203E034}"/>
              </a:ext>
            </a:extLst>
          </p:cNvPr>
          <p:cNvSpPr txBox="1"/>
          <p:nvPr/>
        </p:nvSpPr>
        <p:spPr>
          <a:xfrm>
            <a:off x="409664" y="5888120"/>
            <a:ext cx="705110" cy="216000"/>
          </a:xfrm>
          <a:prstGeom prst="roundRect">
            <a:avLst/>
          </a:prstGeom>
          <a:solidFill>
            <a:srgbClr val="FFA6A6"/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ts val="1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Arial Narrow" panose="020B0606020202030204"/>
              </a:rPr>
              <a:t>★</a:t>
            </a:r>
            <a:r>
              <a:rPr lang="en-US" altLang="ko-KR" sz="1000" b="1" dirty="0">
                <a:solidFill>
                  <a:schemeClr val="bg1"/>
                </a:solidFill>
                <a:latin typeface="Arial Narrow" panose="020B0606020202030204"/>
              </a:rPr>
              <a:t>G5 Special</a:t>
            </a:r>
            <a:endParaRPr lang="ko-KR" altLang="en-US" sz="1000" b="1" dirty="0">
              <a:solidFill>
                <a:schemeClr val="bg1"/>
              </a:solidFill>
              <a:latin typeface="Arial Narrow" panose="020B0606020202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749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349EEE-E099-059A-0450-12D8963256C1}"/>
              </a:ext>
            </a:extLst>
          </p:cNvPr>
          <p:cNvCxnSpPr/>
          <p:nvPr/>
        </p:nvCxnSpPr>
        <p:spPr>
          <a:xfrm>
            <a:off x="2959300" y="4080140"/>
            <a:ext cx="421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9" t="3409" r="2775" b="5400"/>
          <a:stretch/>
        </p:blipFill>
        <p:spPr>
          <a:xfrm>
            <a:off x="651160" y="5424489"/>
            <a:ext cx="2159206" cy="949100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1124726" y="2883087"/>
            <a:ext cx="1212074" cy="1311524"/>
            <a:chOff x="5097363" y="1426350"/>
            <a:chExt cx="1364050" cy="1475972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5193214" y="1478601"/>
              <a:ext cx="1188000" cy="1116000"/>
            </a:xfrm>
            <a:prstGeom prst="roundRect">
              <a:avLst>
                <a:gd name="adj" fmla="val 260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endParaRPr>
            </a:p>
          </p:txBody>
        </p:sp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97363" y="1426350"/>
              <a:ext cx="1364050" cy="1475972"/>
            </a:xfrm>
            <a:prstGeom prst="rect">
              <a:avLst/>
            </a:prstGeom>
          </p:spPr>
        </p:pic>
      </p:grpSp>
      <p:grpSp>
        <p:nvGrpSpPr>
          <p:cNvPr id="6" name="그룹 5"/>
          <p:cNvGrpSpPr/>
          <p:nvPr/>
        </p:nvGrpSpPr>
        <p:grpSpPr>
          <a:xfrm>
            <a:off x="1141036" y="1605042"/>
            <a:ext cx="1179454" cy="1322230"/>
            <a:chOff x="2742422" y="1426350"/>
            <a:chExt cx="1327339" cy="1488017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2805196" y="1478601"/>
              <a:ext cx="1188000" cy="1116000"/>
            </a:xfrm>
            <a:prstGeom prst="roundRect">
              <a:avLst>
                <a:gd name="adj" fmla="val 260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endParaRPr>
            </a:p>
          </p:txBody>
        </p:sp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42422" y="1426350"/>
              <a:ext cx="1327339" cy="1488017"/>
            </a:xfrm>
            <a:prstGeom prst="rect">
              <a:avLst/>
            </a:prstGeom>
          </p:spPr>
        </p:pic>
      </p:grpSp>
      <p:grpSp>
        <p:nvGrpSpPr>
          <p:cNvPr id="12" name="그룹 11"/>
          <p:cNvGrpSpPr/>
          <p:nvPr/>
        </p:nvGrpSpPr>
        <p:grpSpPr>
          <a:xfrm>
            <a:off x="2947364" y="1255121"/>
            <a:ext cx="4203804" cy="320014"/>
            <a:chOff x="2769326" y="1339791"/>
            <a:chExt cx="2882537" cy="320014"/>
          </a:xfrm>
        </p:grpSpPr>
        <p:sp>
          <p:nvSpPr>
            <p:cNvPr id="9" name="TextBox 8"/>
            <p:cNvSpPr txBox="1"/>
            <p:nvPr/>
          </p:nvSpPr>
          <p:spPr>
            <a:xfrm>
              <a:off x="4039562" y="1339791"/>
              <a:ext cx="3420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/>
                  <a:ea typeface="LG스마트체 Regular" panose="020B0600000101010101"/>
                </a:rPr>
                <a:t>의미</a:t>
              </a:r>
            </a:p>
          </p:txBody>
        </p:sp>
        <p:cxnSp>
          <p:nvCxnSpPr>
            <p:cNvPr id="11" name="직선 연결선 10"/>
            <p:cNvCxnSpPr/>
            <p:nvPr/>
          </p:nvCxnSpPr>
          <p:spPr>
            <a:xfrm>
              <a:off x="2769326" y="1659805"/>
              <a:ext cx="2882537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2963022" y="1812667"/>
            <a:ext cx="4188146" cy="90698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7313" marR="0" lvl="0" indent="-87313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암실에서 완벽한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Black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구현은 기본이고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주변 조도가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500lux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까지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햇빛이 드는 거실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수준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밝아져도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블랙의 밝기가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0.24nit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이하로 낮게 유지됨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963217" y="3039745"/>
            <a:ext cx="4179502" cy="90698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7313" marR="0" lvl="0" indent="-87313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통상적 화질 측정 환경인 암실 환경 뿐 아니라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주변 조도가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500lux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까지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햇빛이 드는 거실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수준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밝아져도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순색 표현 적확도가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99%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넘게 유지됨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2959300" y="2845805"/>
            <a:ext cx="421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2959300" y="5323599"/>
            <a:ext cx="421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973566" y="5503226"/>
            <a:ext cx="3720654" cy="90698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7313" marR="0" lvl="0" indent="-87313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 암실에서 전문 장비로 측정되고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정반사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+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헤이즈반사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+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난반사 특성을 통합 측정한</a:t>
            </a:r>
            <a:b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</a:b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    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반사율 값이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1%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보다 작어야 함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03824" y="1956805"/>
            <a:ext cx="4190771" cy="4111205"/>
          </a:xfrm>
          <a:prstGeom prst="roundRect">
            <a:avLst>
              <a:gd name="adj" fmla="val 3101"/>
            </a:avLst>
          </a:prstGeom>
          <a:solidFill>
            <a:srgbClr val="0070C0">
              <a:alpha val="6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txBody>
          <a:bodyPr wrap="square" lIns="0" tIns="288000" rIns="36000" bIns="180000" rtlCol="0" anchor="ctr" anchorCtr="0">
            <a:spAutoFit/>
          </a:bodyPr>
          <a:lstStyle/>
          <a:p>
            <a:pPr marL="95250" marR="0" lvl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400" b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</a:p>
          <a:p>
            <a:pPr marL="95250" marR="0" lvl="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400" b="1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  <a:p>
            <a:pPr marL="180975" marR="0" lvl="0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Panel </a:t>
            </a:r>
            <a:r>
              <a:rPr kumimoji="0" lang="ko-KR" altLang="en-US" sz="1400" b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기술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QD-OLED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는 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QD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소자의 발광 특성 기인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주변 조도가 높아짐에 따라 블랙 밝기가 높아지고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색 바램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색 틀어짐 현상 발생</a:t>
            </a:r>
            <a:endParaRPr kumimoji="0" lang="en-US" altLang="ko-KR" sz="1400" b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  <a:p>
            <a:pPr marL="180975" marR="0" lvl="0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400" dirty="0">
              <a:latin typeface="Arial Narrow" panose="020B0606020202030204"/>
              <a:ea typeface="LG스마트체 Regular" panose="020B0600000101010101"/>
            </a:endParaRPr>
          </a:p>
          <a:p>
            <a:pPr marL="180975" marR="0" lvl="0" indent="-85725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altLang="ko-KR" sz="1400" dirty="0">
              <a:latin typeface="Arial Narrow" panose="020B0606020202030204"/>
              <a:ea typeface="LG스마트체 Regular" panose="020B0600000101010101"/>
            </a:endParaRPr>
          </a:p>
          <a:p>
            <a:pPr marL="180975" indent="-85725">
              <a:lnSpc>
                <a:spcPct val="12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400" b="1" u="sng" dirty="0">
                <a:latin typeface="Arial Narrow" panose="020B0606020202030204"/>
                <a:ea typeface="LG스마트체 Regular" panose="020B0600000101010101"/>
              </a:rPr>
              <a:t> 화</a:t>
            </a:r>
            <a:r>
              <a:rPr kumimoji="0" lang="ko-KR" altLang="en-US" sz="1400" b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면</a:t>
            </a:r>
            <a:r>
              <a:rPr lang="en-US" altLang="ko-KR" sz="1400" b="1" u="sng" dirty="0"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1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표면의 유리 처리 방식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Matte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한 유리는 외부 광을 화면의 표면에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난반사 시켜 반사광을 분산시키는데 </a:t>
            </a:r>
            <a:r>
              <a:rPr kumimoji="0" lang="en-US" altLang="ko-KR" sz="12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(</a:t>
            </a:r>
            <a:r>
              <a:rPr kumimoji="0" lang="ko-KR" altLang="en-US" sz="12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줄이는 것이 아님</a:t>
            </a:r>
            <a:r>
              <a:rPr kumimoji="0" lang="en-US" altLang="ko-KR" sz="12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)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이로 인해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주변 조도가 높아져 반사광의 양이 많아지면 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ko-KR" altLang="en-US" sz="1400" dirty="0">
                <a:latin typeface="Arial Narrow" panose="020B0606020202030204"/>
                <a:ea typeface="LG스마트체 Regular" panose="020B0600000101010101"/>
              </a:rPr>
              <a:t>화면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표면의 밝기가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ko-KR" altLang="en-US" sz="1400" dirty="0">
                <a:latin typeface="Arial Narrow" panose="020B0606020202030204"/>
                <a:ea typeface="LG스마트체 Regular" panose="020B0600000101010101"/>
              </a:rPr>
              <a:t>높아져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블랙 밝기가 높아지는</a:t>
            </a:r>
            <a:b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동시에 색 바램</a:t>
            </a:r>
            <a:r>
              <a:rPr kumimoji="0" lang="en-US" altLang="ko-KR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4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색 틀어짐 현상이 발생함</a:t>
            </a:r>
            <a:endParaRPr kumimoji="0" lang="ko-KR" altLang="en-US" sz="14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2B4AA-F3E5-1CA5-1CF3-FB6A2633337B}"/>
              </a:ext>
            </a:extLst>
          </p:cNvPr>
          <p:cNvSpPr txBox="1"/>
          <p:nvPr/>
        </p:nvSpPr>
        <p:spPr>
          <a:xfrm>
            <a:off x="150530" y="119596"/>
            <a:ext cx="1598515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/>
                <a:ea typeface="LG스마트체 Regular" panose="020B0600000101010101"/>
              </a:rPr>
              <a:t>Perfect vs. Real</a:t>
            </a:r>
            <a:endParaRPr lang="ko-KR" altLang="en-US" b="1" dirty="0">
              <a:solidFill>
                <a:prstClr val="white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389F81-DA63-BC4F-97AC-5976F19E2A60}"/>
              </a:ext>
            </a:extLst>
          </p:cNvPr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2. Certification</a:t>
            </a:r>
            <a:endParaRPr lang="en-US" altLang="ko-KR" sz="3200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  <a:cs typeface="Arial" panose="020B0604020202020204" pitchFamily="34" charset="0"/>
            </a:endParaRPr>
          </a:p>
        </p:txBody>
      </p:sp>
      <p:sp>
        <p:nvSpPr>
          <p:cNvPr id="15" name="모서리가 둥근 직사각형 100">
            <a:extLst>
              <a:ext uri="{FF2B5EF4-FFF2-40B4-BE49-F238E27FC236}">
                <a16:creationId xmlns:a16="http://schemas.microsoft.com/office/drawing/2014/main" id="{2DF08C16-36A0-3027-68F8-48309D8E2879}"/>
              </a:ext>
            </a:extLst>
          </p:cNvPr>
          <p:cNvSpPr/>
          <p:nvPr/>
        </p:nvSpPr>
        <p:spPr>
          <a:xfrm>
            <a:off x="609600" y="842488"/>
            <a:ext cx="10972800" cy="216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 Narrow" panose="020B0606020202030204"/>
                <a:ea typeface="LG스마트체 Regular" panose="020B0600000101010101"/>
              </a:rPr>
              <a:t>LG</a:t>
            </a:r>
            <a:endParaRPr lang="ko-KR" altLang="en-US" sz="1200" b="1" dirty="0">
              <a:latin typeface="Arial Narrow" panose="020B0606020202030204"/>
              <a:ea typeface="LG스마트체 Regular" panose="020B0600000101010101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049A952-CD26-3934-F42B-135541E57F76}"/>
              </a:ext>
            </a:extLst>
          </p:cNvPr>
          <p:cNvGrpSpPr/>
          <p:nvPr/>
        </p:nvGrpSpPr>
        <p:grpSpPr>
          <a:xfrm>
            <a:off x="674255" y="1255121"/>
            <a:ext cx="2113016" cy="320014"/>
            <a:chOff x="2769326" y="1339791"/>
            <a:chExt cx="2882537" cy="32001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2CC0F57-335D-15AD-8BFA-20FA4126BB83}"/>
                </a:ext>
              </a:extLst>
            </p:cNvPr>
            <p:cNvSpPr txBox="1"/>
            <p:nvPr/>
          </p:nvSpPr>
          <p:spPr>
            <a:xfrm>
              <a:off x="3870329" y="1339791"/>
              <a:ext cx="6805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/>
                  <a:ea typeface="LG스마트체 Regular" panose="020B0600000101010101"/>
                </a:rPr>
                <a:t>인증</a:t>
              </a: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FC58AAE-A384-BB65-4750-D3C8D52D1E73}"/>
                </a:ext>
              </a:extLst>
            </p:cNvPr>
            <p:cNvCxnSpPr/>
            <p:nvPr/>
          </p:nvCxnSpPr>
          <p:spPr>
            <a:xfrm>
              <a:off x="2769326" y="1659805"/>
              <a:ext cx="2882537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실행 단추: 홈 1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B9B898A-EDE3-3062-8E02-F598EBBFEB98}"/>
              </a:ext>
            </a:extLst>
          </p:cNvPr>
          <p:cNvSpPr/>
          <p:nvPr/>
        </p:nvSpPr>
        <p:spPr>
          <a:xfrm>
            <a:off x="11751614" y="642711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A0CB01CF-58D4-4056-C17C-E50E90E5DEC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266" r="1234"/>
          <a:stretch/>
        </p:blipFill>
        <p:spPr>
          <a:xfrm>
            <a:off x="678148" y="4198191"/>
            <a:ext cx="2105231" cy="9491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83743F-63C4-56C8-CB27-FBE23D04961C}"/>
              </a:ext>
            </a:extLst>
          </p:cNvPr>
          <p:cNvSpPr txBox="1"/>
          <p:nvPr/>
        </p:nvSpPr>
        <p:spPr>
          <a:xfrm>
            <a:off x="2963217" y="4259070"/>
            <a:ext cx="4313620" cy="90698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7313" marR="0" lvl="0" indent="-87313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통상적 화질 측정 환경인 암실 환경 뿐 아니라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주변 조도가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500lux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까지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햇빛이 드는 거실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수준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밝아져도</a:t>
            </a:r>
            <a:b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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중간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&amp;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혼합색 표현 적확도가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100%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유지됨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11945" y="1786545"/>
            <a:ext cx="1374528" cy="340519"/>
          </a:xfrm>
          <a:prstGeom prst="roundRect">
            <a:avLst/>
          </a:prstGeom>
          <a:solidFill>
            <a:srgbClr val="E8ECEE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그럼 경쟁사는</a:t>
            </a:r>
            <a:r>
              <a:rPr kumimoji="0" lang="en-US" altLang="ko-KR" sz="1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??</a:t>
            </a:r>
            <a:endParaRPr kumimoji="0" lang="ko-KR" altLang="en-US" sz="1400" b="1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A2C28-C86A-4707-1AD1-9130D76506E9}"/>
              </a:ext>
            </a:extLst>
          </p:cNvPr>
          <p:cNvSpPr txBox="1"/>
          <p:nvPr/>
        </p:nvSpPr>
        <p:spPr>
          <a:xfrm>
            <a:off x="7509108" y="2245820"/>
            <a:ext cx="3780202" cy="323493"/>
          </a:xfrm>
          <a:prstGeom prst="roundRect">
            <a:avLst/>
          </a:prstGeom>
          <a:noFill/>
          <a:ln w="12700">
            <a:noFill/>
            <a:prstDash val="sysDot"/>
          </a:ln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경쟁사 </a:t>
            </a:r>
            <a:r>
              <a:rPr lang="en-US" altLang="ko-KR" sz="13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OLED TV</a:t>
            </a:r>
            <a:r>
              <a:rPr lang="ko-KR" altLang="en-US" sz="1300" b="1" dirty="0">
                <a:solidFill>
                  <a:srgbClr val="0070C0"/>
                </a:solidFill>
                <a:latin typeface="Arial Narrow" panose="020B0606020202030204"/>
                <a:ea typeface="LG스마트체 Regular" panose="020B0600000101010101"/>
              </a:rPr>
              <a:t>의 성능은 이러한 인증을 받기에 부족함</a:t>
            </a:r>
            <a:endParaRPr kumimoji="0" lang="ko-KR" altLang="en-US" sz="1300" b="1" i="0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428385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93183B39-BDA8-5405-ECF5-6CF5F5EAD62B}"/>
              </a:ext>
            </a:extLst>
          </p:cNvPr>
          <p:cNvSpPr/>
          <p:nvPr/>
        </p:nvSpPr>
        <p:spPr>
          <a:xfrm>
            <a:off x="9136446" y="1532467"/>
            <a:ext cx="351387" cy="4851606"/>
          </a:xfrm>
          <a:prstGeom prst="rightArrow">
            <a:avLst>
              <a:gd name="adj1" fmla="val 100000"/>
              <a:gd name="adj2" fmla="val 106583"/>
            </a:avLst>
          </a:prstGeom>
          <a:gradFill flip="none" rotWithShape="1">
            <a:gsLst>
              <a:gs pos="0">
                <a:srgbClr val="ECEFF4"/>
              </a:gs>
              <a:gs pos="33000">
                <a:schemeClr val="accent1">
                  <a:lumMod val="20000"/>
                  <a:lumOff val="80000"/>
                  <a:alpha val="72000"/>
                </a:schemeClr>
              </a:gs>
              <a:gs pos="78000">
                <a:schemeClr val="accent1">
                  <a:lumMod val="40000"/>
                  <a:lumOff val="60000"/>
                  <a:alpha val="7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 Certification</a:t>
            </a:r>
            <a:endParaRPr lang="en-US" altLang="ko-KR" sz="32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실행 단추: 홈 1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AFF2D42-A018-03C5-78C2-4E469342BE4F}"/>
              </a:ext>
            </a:extLst>
          </p:cNvPr>
          <p:cNvSpPr/>
          <p:nvPr/>
        </p:nvSpPr>
        <p:spPr>
          <a:xfrm>
            <a:off x="11751614" y="642711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EB40DD-703A-BA47-42B9-5E7FA1065260}"/>
              </a:ext>
            </a:extLst>
          </p:cNvPr>
          <p:cNvSpPr txBox="1"/>
          <p:nvPr/>
        </p:nvSpPr>
        <p:spPr>
          <a:xfrm>
            <a:off x="150530" y="119596"/>
            <a:ext cx="1598515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Perfect vs. Real</a:t>
            </a:r>
            <a:endParaRPr lang="ko-KR" altLang="en-US" b="1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24" name="모서리가 둥근 직사각형 100">
            <a:extLst>
              <a:ext uri="{FF2B5EF4-FFF2-40B4-BE49-F238E27FC236}">
                <a16:creationId xmlns:a16="http://schemas.microsoft.com/office/drawing/2014/main" id="{F5B428FD-873E-B075-0EB0-79A9F4FC853B}"/>
              </a:ext>
            </a:extLst>
          </p:cNvPr>
          <p:cNvSpPr/>
          <p:nvPr/>
        </p:nvSpPr>
        <p:spPr>
          <a:xfrm>
            <a:off x="609600" y="842488"/>
            <a:ext cx="10972800" cy="2160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SS</a:t>
            </a:r>
            <a:endParaRPr lang="ko-KR" altLang="en-US" sz="1200" b="1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C8766A-2139-BFE2-2DDB-020E4973D950}"/>
              </a:ext>
            </a:extLst>
          </p:cNvPr>
          <p:cNvGrpSpPr/>
          <p:nvPr/>
        </p:nvGrpSpPr>
        <p:grpSpPr>
          <a:xfrm>
            <a:off x="687489" y="1664266"/>
            <a:ext cx="2837190" cy="4600808"/>
            <a:chOff x="1173480" y="1375834"/>
            <a:chExt cx="3087962" cy="5007463"/>
          </a:xfrm>
        </p:grpSpPr>
        <p:sp>
          <p:nvSpPr>
            <p:cNvPr id="4" name="TextBox 3">
              <a:hlinkClick r:id="rId3"/>
              <a:extLst>
                <a:ext uri="{FF2B5EF4-FFF2-40B4-BE49-F238E27FC236}">
                  <a16:creationId xmlns:a16="http://schemas.microsoft.com/office/drawing/2014/main" id="{C2CEF8EE-E614-2400-8838-1380B2681869}"/>
                </a:ext>
              </a:extLst>
            </p:cNvPr>
            <p:cNvSpPr txBox="1"/>
            <p:nvPr/>
          </p:nvSpPr>
          <p:spPr>
            <a:xfrm>
              <a:off x="1173480" y="5829299"/>
              <a:ext cx="300566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  <a:hlinkClick r:id="rId3"/>
                </a:rPr>
                <a:t>https://zertreg-proxy.vde.com/documents/download?uuid=245efd9d-af10-46c6-9838-ae2fbaa620ed</a:t>
              </a:r>
              <a:r>
                <a:rPr lang="ko-KR" altLang="en-US" sz="1000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EB3D4AC-25A7-60F1-FEE5-C55F8E187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3480" y="1375834"/>
              <a:ext cx="3087962" cy="4453465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998B43D-E5A5-37F5-BB77-CDB053BD0AE2}"/>
                </a:ext>
              </a:extLst>
            </p:cNvPr>
            <p:cNvSpPr/>
            <p:nvPr/>
          </p:nvSpPr>
          <p:spPr>
            <a:xfrm>
              <a:off x="1173480" y="4998720"/>
              <a:ext cx="3087962" cy="386079"/>
            </a:xfrm>
            <a:prstGeom prst="roundRect">
              <a:avLst/>
            </a:prstGeom>
            <a:noFill/>
            <a:ln w="31750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7DC26D-62D9-0AF4-03B0-861AAAF79E81}"/>
              </a:ext>
            </a:extLst>
          </p:cNvPr>
          <p:cNvSpPr/>
          <p:nvPr/>
        </p:nvSpPr>
        <p:spPr>
          <a:xfrm>
            <a:off x="3911448" y="1450067"/>
            <a:ext cx="5266399" cy="4933229"/>
          </a:xfrm>
          <a:prstGeom prst="roundRect">
            <a:avLst>
              <a:gd name="adj" fmla="val 2756"/>
            </a:avLst>
          </a:prstGeom>
          <a:solidFill>
            <a:srgbClr val="ECEFF4"/>
          </a:solidFill>
          <a:ln w="22225">
            <a:noFill/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1DE807A-F3EF-CAF7-EB20-F159A2CC427F}"/>
              </a:ext>
            </a:extLst>
          </p:cNvPr>
          <p:cNvCxnSpPr>
            <a:cxnSpLocks/>
          </p:cNvCxnSpPr>
          <p:nvPr/>
        </p:nvCxnSpPr>
        <p:spPr>
          <a:xfrm>
            <a:off x="4054290" y="2786545"/>
            <a:ext cx="498071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579AF4BA-29A9-CFCE-785F-DAC26D6079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5" r="35632" b="6826"/>
          <a:stretch/>
        </p:blipFill>
        <p:spPr>
          <a:xfrm>
            <a:off x="4009011" y="1843596"/>
            <a:ext cx="5071272" cy="8629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BE39664-46B4-5FE9-5A1B-CE523C34E3E6}"/>
              </a:ext>
            </a:extLst>
          </p:cNvPr>
          <p:cNvSpPr txBox="1"/>
          <p:nvPr/>
        </p:nvSpPr>
        <p:spPr>
          <a:xfrm>
            <a:off x="5718912" y="1491945"/>
            <a:ext cx="1651470" cy="307777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인증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내용 및 의미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69BA262E-9F79-6C55-C225-8986FBAA115B}"/>
              </a:ext>
            </a:extLst>
          </p:cNvPr>
          <p:cNvGrpSpPr/>
          <p:nvPr/>
        </p:nvGrpSpPr>
        <p:grpSpPr>
          <a:xfrm>
            <a:off x="4065335" y="2896746"/>
            <a:ext cx="4552361" cy="759053"/>
            <a:chOff x="5548607" y="3002883"/>
            <a:chExt cx="4552361" cy="75905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A5572F-A816-4670-8427-0FDE8EBACA3C}"/>
                </a:ext>
              </a:extLst>
            </p:cNvPr>
            <p:cNvSpPr txBox="1"/>
            <p:nvPr/>
          </p:nvSpPr>
          <p:spPr>
            <a:xfrm>
              <a:off x="5548607" y="3002883"/>
              <a:ext cx="4552361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L="177800" marR="0" lvl="0" indent="-177800" algn="l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12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Minimum luminance of display (black level) :  ≤ 0,005 cd/m²</a:t>
              </a:r>
              <a:endPara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3E77E4-938F-C4AA-E49E-4DA3AA14D013}"/>
                </a:ext>
              </a:extLst>
            </p:cNvPr>
            <p:cNvSpPr txBox="1"/>
            <p:nvPr/>
          </p:nvSpPr>
          <p:spPr>
            <a:xfrm>
              <a:off x="5751807" y="3279112"/>
              <a:ext cx="4148372" cy="48282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R="0" lvl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kumimoji="0" lang="en-US" altLang="ko-KR" sz="11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Dark Room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에서의 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Black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밝기를 측정</a:t>
              </a:r>
              <a:b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 OLED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의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특성으로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모든 상용 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OLED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제품은 해당 평가를 만족함</a:t>
              </a:r>
              <a:endPara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135C38C-344E-F2BF-4ADB-3E4A763F3C4E}"/>
              </a:ext>
            </a:extLst>
          </p:cNvPr>
          <p:cNvGrpSpPr/>
          <p:nvPr/>
        </p:nvGrpSpPr>
        <p:grpSpPr>
          <a:xfrm>
            <a:off x="4065335" y="3822902"/>
            <a:ext cx="4351572" cy="962122"/>
            <a:chOff x="5548607" y="4021870"/>
            <a:chExt cx="4755562" cy="96212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CC2BF56-936A-6A05-BF46-24ACEBA2A9F0}"/>
                </a:ext>
              </a:extLst>
            </p:cNvPr>
            <p:cNvSpPr txBox="1"/>
            <p:nvPr/>
          </p:nvSpPr>
          <p:spPr>
            <a:xfrm>
              <a:off x="5548607" y="4021870"/>
              <a:ext cx="4552361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L="177800" marR="0" lvl="0" indent="-177800" algn="l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12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Gray scale discrimination (@500 lux ambient)</a:t>
              </a:r>
              <a:endPara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DBA45A-35AD-8865-1BDA-E1E8E8E5F725}"/>
                </a:ext>
              </a:extLst>
            </p:cNvPr>
            <p:cNvSpPr txBox="1"/>
            <p:nvPr/>
          </p:nvSpPr>
          <p:spPr>
            <a:xfrm>
              <a:off x="5751807" y="4298099"/>
              <a:ext cx="4552362" cy="685893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R="0" lvl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Bright Room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에서 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Gray Scale(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계조 표현력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을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측정한 것으로 추정되나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</a:t>
              </a:r>
              <a:b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측정 환경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방법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 pattern,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내용 등 알려지지 않음</a:t>
              </a:r>
              <a:b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명확한 사실은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, </a:t>
              </a:r>
              <a:r>
                <a:rPr lang="en-US" altLang="ko-KR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Black </a:t>
              </a:r>
              <a:r>
                <a:rPr lang="ko-KR" altLang="en-US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측정 방법이 아니라는 것임 </a:t>
              </a:r>
              <a:r>
                <a:rPr lang="en-US" altLang="ko-KR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!!</a:t>
              </a:r>
              <a:endParaRPr kumimoji="0" lang="ko-KR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85AB595-8536-4DE6-D243-A236A24FD169}"/>
              </a:ext>
            </a:extLst>
          </p:cNvPr>
          <p:cNvGrpSpPr/>
          <p:nvPr/>
        </p:nvGrpSpPr>
        <p:grpSpPr>
          <a:xfrm>
            <a:off x="4065335" y="4965091"/>
            <a:ext cx="5020471" cy="1368451"/>
            <a:chOff x="5396207" y="5407932"/>
            <a:chExt cx="5020471" cy="136845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CFC1FE8-E885-42EE-A83C-07AA75F62D75}"/>
                </a:ext>
              </a:extLst>
            </p:cNvPr>
            <p:cNvSpPr txBox="1"/>
            <p:nvPr/>
          </p:nvSpPr>
          <p:spPr>
            <a:xfrm>
              <a:off x="5396207" y="5407932"/>
              <a:ext cx="4552361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L="177800" marR="0" lvl="0" indent="-177800" algn="l" defTabSz="914400" rtl="0" eaLnBrk="1" fontAlgn="auto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1200" b="1" i="0" u="sng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Gloss Unit ≤ 15GU according DIN EN ISO 2813:2015 </a:t>
              </a:r>
              <a:endParaRPr kumimoji="0" lang="ko-KR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4B0F86-A3F8-CD65-D1F8-5EE62C8F9A91}"/>
                </a:ext>
              </a:extLst>
            </p:cNvPr>
            <p:cNvSpPr txBox="1"/>
            <p:nvPr/>
          </p:nvSpPr>
          <p:spPr>
            <a:xfrm>
              <a:off x="5599407" y="5684161"/>
              <a:ext cx="4817271" cy="109222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marR="0" lvl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: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유리의 정반사 정도만 측정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. Black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에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큰 영향을 미치는</a:t>
              </a:r>
              <a: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ko-KR" altLang="en-US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헤이즈와 난반사는 측정 않음</a:t>
              </a:r>
              <a:b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단순 표면 거칠기 척도로 볼 수 있고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저가 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LCD TV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나 모니터도 달성 가능</a:t>
              </a:r>
              <a:br>
                <a:rPr lang="en-US" altLang="ko-KR" sz="110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 Gloss Unit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으로는 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TV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 시청 경험에 큰 영향을 주는 </a:t>
              </a:r>
              <a:r>
                <a:rPr lang="en-US" altLang="ko-KR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black</a:t>
              </a:r>
              <a:r>
                <a:rPr lang="ko-KR" altLang="en-US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의 수준을</a:t>
              </a:r>
              <a:r>
                <a:rPr lang="en-US" altLang="ko-KR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100" b="1" u="sng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평가할 수 없어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,</a:t>
              </a:r>
              <a:b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</a:b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    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디스플레이 반사율은 정반사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헤이즈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,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난반사를 모두 측정하는 </a:t>
              </a: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Reflectance</a:t>
              </a:r>
              <a:b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</a:br>
              <a:r>
                <a:rPr lang="en-US" altLang="ko-KR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     </a:t>
              </a:r>
              <a:r>
                <a:rPr lang="ko-KR" altLang="en-US" sz="1100" dirty="0">
                  <a:solidFill>
                    <a:srgbClr val="006D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  <a:sym typeface="Wingdings" panose="05000000000000000000" pitchFamily="2" charset="2"/>
                </a:rPr>
                <a:t>측정법을 표준으로 사용함</a:t>
              </a:r>
              <a:endParaRPr kumimoji="0" lang="ko-KR" altLang="en-US" sz="110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sp>
        <p:nvSpPr>
          <p:cNvPr id="34" name="실행 단추: 앞으로 또는 다음 1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0FC7197-8A0D-DBBE-B057-3DF8B8BF429D}"/>
              </a:ext>
            </a:extLst>
          </p:cNvPr>
          <p:cNvSpPr/>
          <p:nvPr/>
        </p:nvSpPr>
        <p:spPr>
          <a:xfrm>
            <a:off x="8584524" y="5949370"/>
            <a:ext cx="252000" cy="252000"/>
          </a:xfrm>
          <a:prstGeom prst="actionButtonForwardNex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DA9F1E6-8693-3BB5-2DB7-1D79D235020D}"/>
              </a:ext>
            </a:extLst>
          </p:cNvPr>
          <p:cNvGrpSpPr/>
          <p:nvPr/>
        </p:nvGrpSpPr>
        <p:grpSpPr>
          <a:xfrm>
            <a:off x="9496200" y="2308649"/>
            <a:ext cx="2001530" cy="3211618"/>
            <a:chOff x="9762685" y="2497667"/>
            <a:chExt cx="2001530" cy="283358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C84AEE-C616-3F96-FF48-FD849ECD325A}"/>
                </a:ext>
              </a:extLst>
            </p:cNvPr>
            <p:cNvSpPr txBox="1"/>
            <p:nvPr/>
          </p:nvSpPr>
          <p:spPr>
            <a:xfrm>
              <a:off x="9781318" y="2648727"/>
              <a:ext cx="1964265" cy="25314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R="0" lvl="0" algn="ctr" defTabSz="914400" rtl="0" eaLnBrk="1" fontAlgn="auto" latinLnBrk="1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Perfect Black</a:t>
              </a:r>
              <a:r>
                <a:rPr lang="ko-KR" altLang="en-US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을 </a:t>
              </a:r>
              <a:br>
                <a:rPr lang="en-US" altLang="ko-KR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구현하지 못해</a:t>
              </a:r>
              <a:r>
                <a:rPr lang="en-US" altLang="ko-KR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,</a:t>
              </a:r>
              <a:b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b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6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Black</a:t>
              </a:r>
              <a:r>
                <a:rPr lang="ko-KR" altLang="en-US" sz="16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 상관 없는 </a:t>
              </a:r>
              <a:br>
                <a:rPr lang="en-US" altLang="ko-KR" sz="16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600" b="1" dirty="0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측정을 추가하여 </a:t>
              </a:r>
              <a:b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br>
                <a:rPr lang="en-US" altLang="ko-KR" sz="1600" b="1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‘Real Black’</a:t>
              </a:r>
              <a:r>
                <a:rPr lang="ko-KR" altLang="en-US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이라는</a:t>
              </a:r>
              <a:br>
                <a:rPr lang="en-US" altLang="ko-KR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ko-KR" altLang="en-US" sz="1600" b="1" u="sng" dirty="0">
                  <a:solidFill>
                    <a:srgbClr val="C0000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인증을 만들어 냄</a:t>
              </a:r>
              <a:endParaRPr kumimoji="0" lang="ko-KR" altLang="en-US" sz="16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53A6075-BD3C-0C32-5604-DF9B311BD3C6}"/>
                </a:ext>
              </a:extLst>
            </p:cNvPr>
            <p:cNvSpPr/>
            <p:nvPr/>
          </p:nvSpPr>
          <p:spPr>
            <a:xfrm>
              <a:off x="9762685" y="2497667"/>
              <a:ext cx="2001530" cy="2833582"/>
            </a:xfrm>
            <a:prstGeom prst="roundRect">
              <a:avLst>
                <a:gd name="adj" fmla="val 6642"/>
              </a:avLst>
            </a:prstGeom>
            <a:noFill/>
            <a:ln w="28575">
              <a:solidFill>
                <a:srgbClr val="0070C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8A471499-3A8F-BF06-8B41-C3849BDC8F90}"/>
              </a:ext>
            </a:extLst>
          </p:cNvPr>
          <p:cNvSpPr/>
          <p:nvPr/>
        </p:nvSpPr>
        <p:spPr>
          <a:xfrm>
            <a:off x="3539069" y="1843596"/>
            <a:ext cx="486728" cy="4430204"/>
          </a:xfrm>
          <a:custGeom>
            <a:avLst/>
            <a:gdLst>
              <a:gd name="connsiteX0" fmla="*/ 0 w 694266"/>
              <a:gd name="connsiteY0" fmla="*/ 3412066 h 4741333"/>
              <a:gd name="connsiteX1" fmla="*/ 16933 w 694266"/>
              <a:gd name="connsiteY1" fmla="*/ 3691466 h 4741333"/>
              <a:gd name="connsiteX2" fmla="*/ 694266 w 694266"/>
              <a:gd name="connsiteY2" fmla="*/ 4741333 h 4741333"/>
              <a:gd name="connsiteX3" fmla="*/ 651933 w 694266"/>
              <a:gd name="connsiteY3" fmla="*/ 0 h 4741333"/>
              <a:gd name="connsiteX4" fmla="*/ 0 w 694266"/>
              <a:gd name="connsiteY4" fmla="*/ 3412066 h 4741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4266" h="4741333">
                <a:moveTo>
                  <a:pt x="0" y="3412066"/>
                </a:moveTo>
                <a:lnTo>
                  <a:pt x="16933" y="3691466"/>
                </a:lnTo>
                <a:lnTo>
                  <a:pt x="694266" y="4741333"/>
                </a:lnTo>
                <a:lnTo>
                  <a:pt x="651933" y="0"/>
                </a:lnTo>
                <a:lnTo>
                  <a:pt x="0" y="3412066"/>
                </a:lnTo>
                <a:close/>
              </a:path>
            </a:pathLst>
          </a:custGeom>
          <a:gradFill>
            <a:gsLst>
              <a:gs pos="0">
                <a:srgbClr val="ECEFF4"/>
              </a:gs>
              <a:gs pos="40000">
                <a:schemeClr val="accent1">
                  <a:lumMod val="20000"/>
                  <a:lumOff val="80000"/>
                  <a:alpha val="93000"/>
                </a:schemeClr>
              </a:gs>
              <a:gs pos="88000">
                <a:schemeClr val="accent1">
                  <a:lumMod val="40000"/>
                  <a:lumOff val="60000"/>
                  <a:alpha val="72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11CFD7B-9B91-BFA1-2E9B-71389F479621}"/>
              </a:ext>
            </a:extLst>
          </p:cNvPr>
          <p:cNvGrpSpPr/>
          <p:nvPr/>
        </p:nvGrpSpPr>
        <p:grpSpPr>
          <a:xfrm>
            <a:off x="674254" y="1246741"/>
            <a:ext cx="2957945" cy="320014"/>
            <a:chOff x="2769326" y="1339791"/>
            <a:chExt cx="2882537" cy="3200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4DD5D6-CCD7-006F-268E-67B296543ACC}"/>
                </a:ext>
              </a:extLst>
            </p:cNvPr>
            <p:cNvSpPr txBox="1"/>
            <p:nvPr/>
          </p:nvSpPr>
          <p:spPr>
            <a:xfrm>
              <a:off x="3870329" y="1339791"/>
              <a:ext cx="6805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/>
                  <a:ea typeface="LG스마트체 Regular" panose="020B0600000101010101"/>
                </a:rPr>
                <a:t>인증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AF55BE3A-1FF7-C9BE-FE64-1925F06E5B0C}"/>
                </a:ext>
              </a:extLst>
            </p:cNvPr>
            <p:cNvCxnSpPr/>
            <p:nvPr/>
          </p:nvCxnSpPr>
          <p:spPr>
            <a:xfrm>
              <a:off x="2769326" y="1659805"/>
              <a:ext cx="2882537" cy="0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096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C5476D-15D7-BCD5-E7E6-966D4CC501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9" r="24670" b="66596"/>
          <a:stretch/>
        </p:blipFill>
        <p:spPr>
          <a:xfrm>
            <a:off x="307441" y="1587739"/>
            <a:ext cx="5393272" cy="289959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BC814A9-39D7-F4C3-2913-AF43B6EAC54C}"/>
              </a:ext>
            </a:extLst>
          </p:cNvPr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2. Certification</a:t>
            </a:r>
            <a:endParaRPr lang="en-US" altLang="ko-KR" sz="3200" dirty="0">
              <a:solidFill>
                <a:schemeClr val="bg1"/>
              </a:solidFill>
              <a:latin typeface="Arial Narrow" panose="020B060602020203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9B765-D25E-F60F-EAE8-CF652683E171}"/>
              </a:ext>
            </a:extLst>
          </p:cNvPr>
          <p:cNvSpPr txBox="1"/>
          <p:nvPr/>
        </p:nvSpPr>
        <p:spPr>
          <a:xfrm>
            <a:off x="150530" y="119596"/>
            <a:ext cx="1598515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Perfect vs. Real</a:t>
            </a:r>
            <a:endParaRPr lang="ko-KR" altLang="en-US" b="1" dirty="0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80B132-AD58-9612-378E-68EE01051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789"/>
          <a:stretch/>
        </p:blipFill>
        <p:spPr>
          <a:xfrm>
            <a:off x="5768223" y="1174673"/>
            <a:ext cx="6200200" cy="4929794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7E1BAA1-214F-B1D9-1B98-DE369519018A}"/>
              </a:ext>
            </a:extLst>
          </p:cNvPr>
          <p:cNvCxnSpPr/>
          <p:nvPr/>
        </p:nvCxnSpPr>
        <p:spPr>
          <a:xfrm>
            <a:off x="1749045" y="2794000"/>
            <a:ext cx="3661155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8EF777E-5B67-A687-AB8B-CCE4A4CFCAD3}"/>
              </a:ext>
            </a:extLst>
          </p:cNvPr>
          <p:cNvCxnSpPr/>
          <p:nvPr/>
        </p:nvCxnSpPr>
        <p:spPr>
          <a:xfrm>
            <a:off x="1969179" y="3318933"/>
            <a:ext cx="3661155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7C132B8-2873-4BD2-3880-740DAB577BAE}"/>
              </a:ext>
            </a:extLst>
          </p:cNvPr>
          <p:cNvCxnSpPr/>
          <p:nvPr/>
        </p:nvCxnSpPr>
        <p:spPr>
          <a:xfrm>
            <a:off x="453645" y="3572933"/>
            <a:ext cx="396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09BE75-8F08-ECAC-7479-946BFB86AC2F}"/>
              </a:ext>
            </a:extLst>
          </p:cNvPr>
          <p:cNvCxnSpPr/>
          <p:nvPr/>
        </p:nvCxnSpPr>
        <p:spPr>
          <a:xfrm>
            <a:off x="7782453" y="2328333"/>
            <a:ext cx="3600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AD53CD8-C09F-8313-85D9-E571215904BA}"/>
              </a:ext>
            </a:extLst>
          </p:cNvPr>
          <p:cNvCxnSpPr/>
          <p:nvPr/>
        </p:nvCxnSpPr>
        <p:spPr>
          <a:xfrm>
            <a:off x="6225115" y="2548466"/>
            <a:ext cx="4860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0B1E6D4-E9BC-FC35-55B5-7CF73E04A6EA}"/>
              </a:ext>
            </a:extLst>
          </p:cNvPr>
          <p:cNvCxnSpPr/>
          <p:nvPr/>
        </p:nvCxnSpPr>
        <p:spPr>
          <a:xfrm>
            <a:off x="6225115" y="2768600"/>
            <a:ext cx="576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7CD8F9C-5B08-D138-84DF-9E0982BB059B}"/>
              </a:ext>
            </a:extLst>
          </p:cNvPr>
          <p:cNvCxnSpPr/>
          <p:nvPr/>
        </p:nvCxnSpPr>
        <p:spPr>
          <a:xfrm>
            <a:off x="8002586" y="5554133"/>
            <a:ext cx="3456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2AC23F8-5B36-1E92-C617-E2F6578B7CBA}"/>
              </a:ext>
            </a:extLst>
          </p:cNvPr>
          <p:cNvCxnSpPr/>
          <p:nvPr/>
        </p:nvCxnSpPr>
        <p:spPr>
          <a:xfrm>
            <a:off x="6680986" y="5765801"/>
            <a:ext cx="4932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9C6AB07-8ED2-66B9-8A91-B82DADB341B7}"/>
              </a:ext>
            </a:extLst>
          </p:cNvPr>
          <p:cNvCxnSpPr/>
          <p:nvPr/>
        </p:nvCxnSpPr>
        <p:spPr>
          <a:xfrm>
            <a:off x="6274582" y="5977468"/>
            <a:ext cx="2592000" cy="0"/>
          </a:xfrm>
          <a:prstGeom prst="line">
            <a:avLst/>
          </a:prstGeom>
          <a:ln w="22225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D42325-0779-450D-31C7-EE9B1CDDC683}"/>
              </a:ext>
            </a:extLst>
          </p:cNvPr>
          <p:cNvSpPr/>
          <p:nvPr/>
        </p:nvSpPr>
        <p:spPr>
          <a:xfrm>
            <a:off x="6011335" y="1430868"/>
            <a:ext cx="2160000" cy="5925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B40236-609A-0202-50DC-729555C84416}"/>
              </a:ext>
            </a:extLst>
          </p:cNvPr>
          <p:cNvSpPr/>
          <p:nvPr/>
        </p:nvSpPr>
        <p:spPr>
          <a:xfrm>
            <a:off x="6011335" y="3805761"/>
            <a:ext cx="2242608" cy="5925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실행 단추: 홈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D264E8B7-4DB4-9559-6D9B-DD06052018F7}"/>
              </a:ext>
            </a:extLst>
          </p:cNvPr>
          <p:cNvSpPr/>
          <p:nvPr/>
        </p:nvSpPr>
        <p:spPr>
          <a:xfrm>
            <a:off x="11751614" y="642711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9215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D828-C847-3607-6EFC-CF0F6A2D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50">
            <a:extLst>
              <a:ext uri="{FF2B5EF4-FFF2-40B4-BE49-F238E27FC236}">
                <a16:creationId xmlns:a16="http://schemas.microsoft.com/office/drawing/2014/main" id="{391CDEB3-FA52-F123-CD3D-8B232FD13DED}"/>
              </a:ext>
            </a:extLst>
          </p:cNvPr>
          <p:cNvSpPr/>
          <p:nvPr/>
        </p:nvSpPr>
        <p:spPr>
          <a:xfrm>
            <a:off x="3854007" y="5437188"/>
            <a:ext cx="7774779" cy="1058436"/>
          </a:xfrm>
          <a:prstGeom prst="roundRect">
            <a:avLst>
              <a:gd name="adj" fmla="val 37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009149-54D1-2987-7DDC-C94387BF8C38}"/>
              </a:ext>
            </a:extLst>
          </p:cNvPr>
          <p:cNvSpPr/>
          <p:nvPr/>
        </p:nvSpPr>
        <p:spPr>
          <a:xfrm>
            <a:off x="3864909" y="-17092"/>
            <a:ext cx="4462183" cy="4680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Arial Narrow" panose="020B0606020202030204"/>
                <a:ea typeface="LG스마트체 Regular" panose="020B0600000101010101"/>
                <a:cs typeface="Arial" panose="020B0604020202020204" pitchFamily="34" charset="0"/>
              </a:rPr>
              <a:t>3. Tech. Brief</a:t>
            </a:r>
            <a:endParaRPr lang="en-US" altLang="ko-KR" sz="3200" dirty="0">
              <a:solidFill>
                <a:schemeClr val="bg1"/>
              </a:solidFill>
              <a:latin typeface="Arial Narrow" panose="020B0606020202030204"/>
              <a:ea typeface="LG스마트체 Regular" panose="020B0600000101010101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B4CE1B-7458-6177-095A-EF2258B2525E}"/>
              </a:ext>
            </a:extLst>
          </p:cNvPr>
          <p:cNvSpPr txBox="1"/>
          <p:nvPr/>
        </p:nvSpPr>
        <p:spPr>
          <a:xfrm>
            <a:off x="150530" y="119596"/>
            <a:ext cx="1598515" cy="3103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altLang="ko-KR" b="1" dirty="0">
                <a:solidFill>
                  <a:prstClr val="white"/>
                </a:solidFill>
                <a:latin typeface="Arial Narrow" panose="020B0606020202030204"/>
                <a:ea typeface="LG스마트체 Regular" panose="020B0600000101010101"/>
              </a:rPr>
              <a:t>Perfect vs. Real</a:t>
            </a:r>
            <a:endParaRPr lang="ko-KR" altLang="en-US" b="1" dirty="0">
              <a:solidFill>
                <a:prstClr val="white"/>
              </a:solidFill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20" name="모서리가 둥근 직사각형 120">
            <a:extLst>
              <a:ext uri="{FF2B5EF4-FFF2-40B4-BE49-F238E27FC236}">
                <a16:creationId xmlns:a16="http://schemas.microsoft.com/office/drawing/2014/main" id="{DC3DD120-5AA5-062C-2978-48BE6783C9AD}"/>
              </a:ext>
            </a:extLst>
          </p:cNvPr>
          <p:cNvSpPr/>
          <p:nvPr/>
        </p:nvSpPr>
        <p:spPr>
          <a:xfrm>
            <a:off x="7806763" y="1451464"/>
            <a:ext cx="3852000" cy="3852000"/>
          </a:xfrm>
          <a:prstGeom prst="roundRect">
            <a:avLst>
              <a:gd name="adj" fmla="val 37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5" name="모서리가 둥근 직사각형 89">
            <a:extLst>
              <a:ext uri="{FF2B5EF4-FFF2-40B4-BE49-F238E27FC236}">
                <a16:creationId xmlns:a16="http://schemas.microsoft.com/office/drawing/2014/main" id="{361E50C9-49E1-61BC-C732-64865517D633}"/>
              </a:ext>
            </a:extLst>
          </p:cNvPr>
          <p:cNvSpPr/>
          <p:nvPr/>
        </p:nvSpPr>
        <p:spPr>
          <a:xfrm>
            <a:off x="3867861" y="1451464"/>
            <a:ext cx="3852000" cy="385200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C9B32924-F2AB-B903-0325-B5B5A11332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21218" r="44267"/>
          <a:stretch/>
        </p:blipFill>
        <p:spPr>
          <a:xfrm rot="16200000">
            <a:off x="8367830" y="3020990"/>
            <a:ext cx="293503" cy="349689"/>
          </a:xfrm>
          <a:prstGeom prst="rect">
            <a:avLst/>
          </a:prstGeom>
        </p:spPr>
      </p:pic>
      <p:sp>
        <p:nvSpPr>
          <p:cNvPr id="45" name="정육면체 44">
            <a:extLst>
              <a:ext uri="{FF2B5EF4-FFF2-40B4-BE49-F238E27FC236}">
                <a16:creationId xmlns:a16="http://schemas.microsoft.com/office/drawing/2014/main" id="{F26E696F-070D-3478-892A-EFEA99F43C4E}"/>
              </a:ext>
            </a:extLst>
          </p:cNvPr>
          <p:cNvSpPr/>
          <p:nvPr/>
        </p:nvSpPr>
        <p:spPr>
          <a:xfrm>
            <a:off x="4145788" y="2665724"/>
            <a:ext cx="2338388" cy="608134"/>
          </a:xfrm>
          <a:prstGeom prst="cube">
            <a:avLst>
              <a:gd name="adj" fmla="val 7493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1A9494-BDC9-5B32-6718-8F31E9AE2B38}"/>
              </a:ext>
            </a:extLst>
          </p:cNvPr>
          <p:cNvSpPr txBox="1"/>
          <p:nvPr/>
        </p:nvSpPr>
        <p:spPr>
          <a:xfrm>
            <a:off x="4816905" y="3056322"/>
            <a:ext cx="5645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OLED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7" name="모서리가 둥근 직사각형 26">
            <a:extLst>
              <a:ext uri="{FF2B5EF4-FFF2-40B4-BE49-F238E27FC236}">
                <a16:creationId xmlns:a16="http://schemas.microsoft.com/office/drawing/2014/main" id="{4F1B6B71-E995-7562-2EBB-27E325D45A01}"/>
              </a:ext>
            </a:extLst>
          </p:cNvPr>
          <p:cNvSpPr/>
          <p:nvPr/>
        </p:nvSpPr>
        <p:spPr>
          <a:xfrm>
            <a:off x="1060463" y="1451464"/>
            <a:ext cx="2724501" cy="3852000"/>
          </a:xfrm>
          <a:prstGeom prst="roundRect">
            <a:avLst>
              <a:gd name="adj" fmla="val 37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0B6FDBA3-52AC-2C63-E753-B9C6CFE1B5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16200000">
            <a:off x="1110651" y="2767376"/>
            <a:ext cx="1114024" cy="414693"/>
          </a:xfrm>
          <a:prstGeom prst="rect">
            <a:avLst/>
          </a:prstGeom>
        </p:spPr>
      </p:pic>
      <p:sp>
        <p:nvSpPr>
          <p:cNvPr id="54" name="모서리가 둥근 직사각형 12">
            <a:extLst>
              <a:ext uri="{FF2B5EF4-FFF2-40B4-BE49-F238E27FC236}">
                <a16:creationId xmlns:a16="http://schemas.microsoft.com/office/drawing/2014/main" id="{076E2081-2F4A-FC68-B52B-D1FAAC292DDE}"/>
              </a:ext>
            </a:extLst>
          </p:cNvPr>
          <p:cNvSpPr/>
          <p:nvPr/>
        </p:nvSpPr>
        <p:spPr>
          <a:xfrm>
            <a:off x="3867861" y="1103435"/>
            <a:ext cx="3852000" cy="252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LG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의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Anti-Reflection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/>
                <a:ea typeface="LG스마트체 Regular" panose="020B0600000101010101"/>
              </a:rPr>
              <a:t>기술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63" name="모서리가 둥근 직사각형 41">
            <a:extLst>
              <a:ext uri="{FF2B5EF4-FFF2-40B4-BE49-F238E27FC236}">
                <a16:creationId xmlns:a16="http://schemas.microsoft.com/office/drawing/2014/main" id="{72EEFA15-CB4A-7638-E4F7-58FCFED32FFB}"/>
              </a:ext>
            </a:extLst>
          </p:cNvPr>
          <p:cNvSpPr/>
          <p:nvPr/>
        </p:nvSpPr>
        <p:spPr>
          <a:xfrm>
            <a:off x="7806763" y="1103435"/>
            <a:ext cx="3852000" cy="252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SS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의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Anti-Glare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솔루션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AC00B53A-DB9F-5DA4-8785-45C0CB918785}"/>
              </a:ext>
            </a:extLst>
          </p:cNvPr>
          <p:cNvSpPr txBox="1"/>
          <p:nvPr/>
        </p:nvSpPr>
        <p:spPr>
          <a:xfrm>
            <a:off x="484548" y="2296130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원리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AAE9441E-A540-788D-D832-53F4CE67CB75}"/>
              </a:ext>
            </a:extLst>
          </p:cNvPr>
          <p:cNvSpPr txBox="1"/>
          <p:nvPr/>
        </p:nvSpPr>
        <p:spPr>
          <a:xfrm>
            <a:off x="474203" y="702233"/>
            <a:ext cx="94003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Anti-glare (AG)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와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anti-reflection (AR)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은 모두 화면 표면의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/>
                <a:ea typeface="LG스마트체 Regular" panose="020B0600000101010101"/>
              </a:rPr>
              <a:t>빛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반사 문제를 해결하기 위한 </a:t>
            </a:r>
            <a:r>
              <a:rPr lang="ko-KR" altLang="en-US" sz="1400" b="1" dirty="0">
                <a:solidFill>
                  <a:prstClr val="black"/>
                </a:solidFill>
                <a:latin typeface="Arial Narrow" panose="020B0606020202030204"/>
                <a:ea typeface="LG스마트체 Regular" panose="020B0600000101010101"/>
              </a:rPr>
              <a:t>솔루션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이며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적용 방식과 효과에 차이가 있음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.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9E40EA9D-B935-6089-2A22-3C8B1D20C004}"/>
              </a:ext>
            </a:extLst>
          </p:cNvPr>
          <p:cNvSpPr txBox="1"/>
          <p:nvPr/>
        </p:nvSpPr>
        <p:spPr>
          <a:xfrm>
            <a:off x="6602279" y="2342551"/>
            <a:ext cx="9685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A</a:t>
            </a:r>
            <a:r>
              <a:rPr lang="en-US" altLang="ko-KR" sz="1050" b="1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nti-Reflection</a:t>
            </a:r>
            <a:br>
              <a:rPr lang="en-US" altLang="ko-KR" sz="1050" b="1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050" b="1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Technology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483" name="그림 482">
            <a:extLst>
              <a:ext uri="{FF2B5EF4-FFF2-40B4-BE49-F238E27FC236}">
                <a16:creationId xmlns:a16="http://schemas.microsoft.com/office/drawing/2014/main" id="{51C0C0F1-9D3A-BFE9-1905-559F7B2628D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169" y="1411226"/>
            <a:ext cx="645864" cy="651657"/>
          </a:xfrm>
          <a:prstGeom prst="rect">
            <a:avLst/>
          </a:prstGeom>
        </p:spPr>
      </p:pic>
      <p:sp>
        <p:nvSpPr>
          <p:cNvPr id="484" name="모서리가 둥근 직사각형 70">
            <a:extLst>
              <a:ext uri="{FF2B5EF4-FFF2-40B4-BE49-F238E27FC236}">
                <a16:creationId xmlns:a16="http://schemas.microsoft.com/office/drawing/2014/main" id="{DA43AA8E-7AEC-0806-E676-A76777F2B4D1}"/>
              </a:ext>
            </a:extLst>
          </p:cNvPr>
          <p:cNvSpPr/>
          <p:nvPr/>
        </p:nvSpPr>
        <p:spPr>
          <a:xfrm>
            <a:off x="1060464" y="1103435"/>
            <a:ext cx="2720495" cy="252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[</a:t>
            </a:r>
            <a:r>
              <a:rPr lang="en-US" altLang="ko-KR" sz="1400" b="1" dirty="0">
                <a:solidFill>
                  <a:prstClr val="black">
                    <a:lumMod val="50000"/>
                    <a:lumOff val="50000"/>
                  </a:prstClr>
                </a:solidFill>
                <a:latin typeface="Arial Narrow" panose="020B0606020202030204"/>
                <a:ea typeface="LG스마트체 Regular" panose="020B0600000101010101"/>
              </a:rPr>
              <a:t>Reference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]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표면처리 無</a:t>
            </a:r>
          </a:p>
        </p:txBody>
      </p:sp>
      <p:sp>
        <p:nvSpPr>
          <p:cNvPr id="502" name="정육면체 501">
            <a:extLst>
              <a:ext uri="{FF2B5EF4-FFF2-40B4-BE49-F238E27FC236}">
                <a16:creationId xmlns:a16="http://schemas.microsoft.com/office/drawing/2014/main" id="{698ACCB9-77EA-ADBD-A2D6-E6A22FA514E7}"/>
              </a:ext>
            </a:extLst>
          </p:cNvPr>
          <p:cNvSpPr/>
          <p:nvPr/>
        </p:nvSpPr>
        <p:spPr>
          <a:xfrm>
            <a:off x="1157828" y="2665724"/>
            <a:ext cx="2338388" cy="608134"/>
          </a:xfrm>
          <a:prstGeom prst="cube">
            <a:avLst>
              <a:gd name="adj" fmla="val 7493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511" name="그림 510">
            <a:extLst>
              <a:ext uri="{FF2B5EF4-FFF2-40B4-BE49-F238E27FC236}">
                <a16:creationId xmlns:a16="http://schemas.microsoft.com/office/drawing/2014/main" id="{3D61C641-EDFC-85FB-61A7-BCFFD7F58C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41010" y="1411226"/>
            <a:ext cx="645864" cy="651657"/>
          </a:xfrm>
          <a:prstGeom prst="rect">
            <a:avLst/>
          </a:prstGeom>
        </p:spPr>
      </p:pic>
      <p:pic>
        <p:nvPicPr>
          <p:cNvPr id="514" name="그림 513">
            <a:extLst>
              <a:ext uri="{FF2B5EF4-FFF2-40B4-BE49-F238E27FC236}">
                <a16:creationId xmlns:a16="http://schemas.microsoft.com/office/drawing/2014/main" id="{8D4B5DA0-D77B-975D-1757-FC14C985FB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4160574">
            <a:off x="1651434" y="2343309"/>
            <a:ext cx="1037873" cy="418314"/>
          </a:xfrm>
          <a:prstGeom prst="rect">
            <a:avLst/>
          </a:prstGeom>
        </p:spPr>
      </p:pic>
      <p:pic>
        <p:nvPicPr>
          <p:cNvPr id="515" name="그림 514">
            <a:extLst>
              <a:ext uri="{FF2B5EF4-FFF2-40B4-BE49-F238E27FC236}">
                <a16:creationId xmlns:a16="http://schemas.microsoft.com/office/drawing/2014/main" id="{E242150B-458D-403D-4848-9C015C0A4AD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8560828">
            <a:off x="2289078" y="2366306"/>
            <a:ext cx="1037873" cy="418314"/>
          </a:xfrm>
          <a:prstGeom prst="rect">
            <a:avLst/>
          </a:prstGeom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C991AC9A-7B49-A61D-DE8D-25E5FEDECBF4}"/>
              </a:ext>
            </a:extLst>
          </p:cNvPr>
          <p:cNvSpPr txBox="1"/>
          <p:nvPr/>
        </p:nvSpPr>
        <p:spPr>
          <a:xfrm>
            <a:off x="1870111" y="3056322"/>
            <a:ext cx="5645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OLED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20" name="정육면체 519">
            <a:extLst>
              <a:ext uri="{FF2B5EF4-FFF2-40B4-BE49-F238E27FC236}">
                <a16:creationId xmlns:a16="http://schemas.microsoft.com/office/drawing/2014/main" id="{B815250F-DE11-0C42-F803-9EFABE7C0E2D}"/>
              </a:ext>
            </a:extLst>
          </p:cNvPr>
          <p:cNvSpPr/>
          <p:nvPr/>
        </p:nvSpPr>
        <p:spPr>
          <a:xfrm>
            <a:off x="4145788" y="2371109"/>
            <a:ext cx="2338388" cy="608134"/>
          </a:xfrm>
          <a:prstGeom prst="cube">
            <a:avLst>
              <a:gd name="adj" fmla="val 85111"/>
            </a:avLst>
          </a:prstGeom>
          <a:solidFill>
            <a:srgbClr val="DAC2E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521" name="그림 520">
            <a:extLst>
              <a:ext uri="{FF2B5EF4-FFF2-40B4-BE49-F238E27FC236}">
                <a16:creationId xmlns:a16="http://schemas.microsoft.com/office/drawing/2014/main" id="{04066A30-0655-3899-EDC7-DB4F5447AA4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4160574">
            <a:off x="4472083" y="2238193"/>
            <a:ext cx="1037873" cy="418314"/>
          </a:xfrm>
          <a:prstGeom prst="rect">
            <a:avLst/>
          </a:prstGeom>
        </p:spPr>
      </p:pic>
      <p:pic>
        <p:nvPicPr>
          <p:cNvPr id="522" name="그림 521">
            <a:extLst>
              <a:ext uri="{FF2B5EF4-FFF2-40B4-BE49-F238E27FC236}">
                <a16:creationId xmlns:a16="http://schemas.microsoft.com/office/drawing/2014/main" id="{9FE256FF-F807-19DE-5E63-E42EA269EEC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7047225">
            <a:off x="5096755" y="2313072"/>
            <a:ext cx="396000" cy="168776"/>
          </a:xfrm>
          <a:prstGeom prst="rect">
            <a:avLst/>
          </a:prstGeom>
        </p:spPr>
      </p:pic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6808E23F-44C6-F7CE-683B-5977772E58FD}"/>
              </a:ext>
            </a:extLst>
          </p:cNvPr>
          <p:cNvCxnSpPr/>
          <p:nvPr/>
        </p:nvCxnSpPr>
        <p:spPr>
          <a:xfrm>
            <a:off x="6186043" y="2469509"/>
            <a:ext cx="468000" cy="0"/>
          </a:xfrm>
          <a:prstGeom prst="straightConnector1">
            <a:avLst/>
          </a:prstGeom>
          <a:ln>
            <a:solidFill>
              <a:srgbClr val="006D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BAA807FE-F7E6-B193-778F-665356A1D529}"/>
              </a:ext>
            </a:extLst>
          </p:cNvPr>
          <p:cNvGrpSpPr/>
          <p:nvPr/>
        </p:nvGrpSpPr>
        <p:grpSpPr>
          <a:xfrm>
            <a:off x="4309924" y="2280889"/>
            <a:ext cx="517735" cy="1112256"/>
            <a:chOff x="4251356" y="2656783"/>
            <a:chExt cx="454047" cy="975434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BC2B6A72-03EF-EE90-B9B2-192F114126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 l="21218" r="44267"/>
            <a:stretch/>
          </p:blipFill>
          <p:spPr>
            <a:xfrm rot="16200000">
              <a:off x="4287833" y="3214646"/>
              <a:ext cx="381094" cy="454047"/>
            </a:xfrm>
            <a:prstGeom prst="rect">
              <a:avLst/>
            </a:prstGeom>
          </p:spPr>
        </p:pic>
        <p:pic>
          <p:nvPicPr>
            <p:cNvPr id="524" name="그림 523">
              <a:extLst>
                <a:ext uri="{FF2B5EF4-FFF2-40B4-BE49-F238E27FC236}">
                  <a16:creationId xmlns:a16="http://schemas.microsoft.com/office/drawing/2014/main" id="{78FE6887-DE01-A0AC-1503-5236C804BB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 l="39838"/>
            <a:stretch/>
          </p:blipFill>
          <p:spPr>
            <a:xfrm rot="16200000">
              <a:off x="4178026" y="2751424"/>
              <a:ext cx="598107" cy="408826"/>
            </a:xfrm>
            <a:prstGeom prst="rect">
              <a:avLst/>
            </a:prstGeom>
          </p:spPr>
        </p:pic>
      </p:grpSp>
      <p:cxnSp>
        <p:nvCxnSpPr>
          <p:cNvPr id="525" name="직선 연결선 524">
            <a:extLst>
              <a:ext uri="{FF2B5EF4-FFF2-40B4-BE49-F238E27FC236}">
                <a16:creationId xmlns:a16="http://schemas.microsoft.com/office/drawing/2014/main" id="{58E95165-18EC-BEEC-0642-134F6E5BE18C}"/>
              </a:ext>
            </a:extLst>
          </p:cNvPr>
          <p:cNvCxnSpPr/>
          <p:nvPr/>
        </p:nvCxnSpPr>
        <p:spPr>
          <a:xfrm>
            <a:off x="4486080" y="2887643"/>
            <a:ext cx="13489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직선 연결선 525">
            <a:extLst>
              <a:ext uri="{FF2B5EF4-FFF2-40B4-BE49-F238E27FC236}">
                <a16:creationId xmlns:a16="http://schemas.microsoft.com/office/drawing/2014/main" id="{2060B146-3C80-2CCD-CF0B-36C8A9B84663}"/>
              </a:ext>
            </a:extLst>
          </p:cNvPr>
          <p:cNvCxnSpPr/>
          <p:nvPr/>
        </p:nvCxnSpPr>
        <p:spPr>
          <a:xfrm>
            <a:off x="4490049" y="2979243"/>
            <a:ext cx="13489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7" name="정육면체 526">
            <a:extLst>
              <a:ext uri="{FF2B5EF4-FFF2-40B4-BE49-F238E27FC236}">
                <a16:creationId xmlns:a16="http://schemas.microsoft.com/office/drawing/2014/main" id="{56C167FF-4EFF-A040-06BF-A07A4E623350}"/>
              </a:ext>
            </a:extLst>
          </p:cNvPr>
          <p:cNvSpPr/>
          <p:nvPr/>
        </p:nvSpPr>
        <p:spPr>
          <a:xfrm>
            <a:off x="8105017" y="2665724"/>
            <a:ext cx="2338388" cy="608134"/>
          </a:xfrm>
          <a:prstGeom prst="cube">
            <a:avLst>
              <a:gd name="adj" fmla="val 74930"/>
            </a:avLst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F0ACE5E5-E9F5-C434-62A6-25FEAA126EC5}"/>
              </a:ext>
            </a:extLst>
          </p:cNvPr>
          <p:cNvSpPr txBox="1"/>
          <p:nvPr/>
        </p:nvSpPr>
        <p:spPr>
          <a:xfrm>
            <a:off x="8776134" y="3056322"/>
            <a:ext cx="5645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OLED</a:t>
            </a: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68A0325E-FA23-A119-904A-67A5D2E44F33}"/>
              </a:ext>
            </a:extLst>
          </p:cNvPr>
          <p:cNvSpPr txBox="1"/>
          <p:nvPr/>
        </p:nvSpPr>
        <p:spPr>
          <a:xfrm>
            <a:off x="10587758" y="2342551"/>
            <a:ext cx="7184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Anti-Glare</a:t>
            </a:r>
            <a:b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Solution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530" name="그림 529">
            <a:extLst>
              <a:ext uri="{FF2B5EF4-FFF2-40B4-BE49-F238E27FC236}">
                <a16:creationId xmlns:a16="http://schemas.microsoft.com/office/drawing/2014/main" id="{6DBE4FE3-D63B-8735-6F58-F6AABBD163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00239" y="1411226"/>
            <a:ext cx="645864" cy="651657"/>
          </a:xfrm>
          <a:prstGeom prst="rect">
            <a:avLst/>
          </a:prstGeom>
        </p:spPr>
      </p:pic>
      <p:sp>
        <p:nvSpPr>
          <p:cNvPr id="533" name="정육면체 532">
            <a:extLst>
              <a:ext uri="{FF2B5EF4-FFF2-40B4-BE49-F238E27FC236}">
                <a16:creationId xmlns:a16="http://schemas.microsoft.com/office/drawing/2014/main" id="{C2B3A85A-B8D5-71D9-F911-DC5F4C379985}"/>
              </a:ext>
            </a:extLst>
          </p:cNvPr>
          <p:cNvSpPr/>
          <p:nvPr/>
        </p:nvSpPr>
        <p:spPr>
          <a:xfrm>
            <a:off x="8105017" y="2371109"/>
            <a:ext cx="2338388" cy="608134"/>
          </a:xfrm>
          <a:prstGeom prst="cube">
            <a:avLst>
              <a:gd name="adj" fmla="val 85111"/>
            </a:avLst>
          </a:prstGeom>
          <a:solidFill>
            <a:srgbClr val="DAC2E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pic>
        <p:nvPicPr>
          <p:cNvPr id="534" name="그림 533">
            <a:extLst>
              <a:ext uri="{FF2B5EF4-FFF2-40B4-BE49-F238E27FC236}">
                <a16:creationId xmlns:a16="http://schemas.microsoft.com/office/drawing/2014/main" id="{62E3A23B-D2C0-7239-555D-BFB61976B1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4160574">
            <a:off x="8431312" y="2238193"/>
            <a:ext cx="1037873" cy="418314"/>
          </a:xfrm>
          <a:prstGeom prst="rect">
            <a:avLst/>
          </a:prstGeom>
        </p:spPr>
      </p:pic>
      <p:pic>
        <p:nvPicPr>
          <p:cNvPr id="546" name="그림 545">
            <a:extLst>
              <a:ext uri="{FF2B5EF4-FFF2-40B4-BE49-F238E27FC236}">
                <a16:creationId xmlns:a16="http://schemas.microsoft.com/office/drawing/2014/main" id="{18980B0B-F28C-B2AD-319F-19D8DD4C33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83237" flipH="1">
            <a:off x="8409905" y="2467953"/>
            <a:ext cx="580530" cy="233984"/>
          </a:xfrm>
          <a:prstGeom prst="rect">
            <a:avLst/>
          </a:prstGeom>
        </p:spPr>
      </p:pic>
      <p:cxnSp>
        <p:nvCxnSpPr>
          <p:cNvPr id="547" name="직선 화살표 연결선 546">
            <a:extLst>
              <a:ext uri="{FF2B5EF4-FFF2-40B4-BE49-F238E27FC236}">
                <a16:creationId xmlns:a16="http://schemas.microsoft.com/office/drawing/2014/main" id="{C9F3CCA7-DA4C-92EA-2EC8-755939C910DD}"/>
              </a:ext>
            </a:extLst>
          </p:cNvPr>
          <p:cNvCxnSpPr/>
          <p:nvPr/>
        </p:nvCxnSpPr>
        <p:spPr>
          <a:xfrm>
            <a:off x="10145272" y="2469509"/>
            <a:ext cx="504000" cy="0"/>
          </a:xfrm>
          <a:prstGeom prst="straightConnector1">
            <a:avLst/>
          </a:prstGeom>
          <a:ln>
            <a:solidFill>
              <a:srgbClr val="006D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8" name="그림 547">
            <a:extLst>
              <a:ext uri="{FF2B5EF4-FFF2-40B4-BE49-F238E27FC236}">
                <a16:creationId xmlns:a16="http://schemas.microsoft.com/office/drawing/2014/main" id="{E831F267-1214-B050-1470-C8B4A01A866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39838"/>
          <a:stretch/>
        </p:blipFill>
        <p:spPr>
          <a:xfrm rot="16200000">
            <a:off x="8282534" y="2667627"/>
            <a:ext cx="456579" cy="312087"/>
          </a:xfrm>
          <a:prstGeom prst="rect">
            <a:avLst/>
          </a:prstGeom>
        </p:spPr>
      </p:pic>
      <p:cxnSp>
        <p:nvCxnSpPr>
          <p:cNvPr id="554" name="직선 연결선 553">
            <a:extLst>
              <a:ext uri="{FF2B5EF4-FFF2-40B4-BE49-F238E27FC236}">
                <a16:creationId xmlns:a16="http://schemas.microsoft.com/office/drawing/2014/main" id="{916FA9E3-64D8-3EDE-24F5-24C2105F1BF4}"/>
              </a:ext>
            </a:extLst>
          </p:cNvPr>
          <p:cNvCxnSpPr/>
          <p:nvPr/>
        </p:nvCxnSpPr>
        <p:spPr>
          <a:xfrm>
            <a:off x="8443721" y="2886850"/>
            <a:ext cx="13489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직선 연결선 554">
            <a:extLst>
              <a:ext uri="{FF2B5EF4-FFF2-40B4-BE49-F238E27FC236}">
                <a16:creationId xmlns:a16="http://schemas.microsoft.com/office/drawing/2014/main" id="{3D5E09C1-C010-29BE-A55B-D0DE1B78FB4C}"/>
              </a:ext>
            </a:extLst>
          </p:cNvPr>
          <p:cNvCxnSpPr/>
          <p:nvPr/>
        </p:nvCxnSpPr>
        <p:spPr>
          <a:xfrm>
            <a:off x="8436578" y="2979243"/>
            <a:ext cx="13489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6" name="그림 555">
            <a:extLst>
              <a:ext uri="{FF2B5EF4-FFF2-40B4-BE49-F238E27FC236}">
                <a16:creationId xmlns:a16="http://schemas.microsoft.com/office/drawing/2014/main" id="{0DDFA7B9-94E6-8DDC-974C-7190E77D1FC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0905801">
            <a:off x="9076699" y="2365790"/>
            <a:ext cx="722148" cy="291062"/>
          </a:xfrm>
          <a:prstGeom prst="rect">
            <a:avLst/>
          </a:prstGeom>
        </p:spPr>
      </p:pic>
      <p:pic>
        <p:nvPicPr>
          <p:cNvPr id="557" name="그림 556">
            <a:extLst>
              <a:ext uri="{FF2B5EF4-FFF2-40B4-BE49-F238E27FC236}">
                <a16:creationId xmlns:a16="http://schemas.microsoft.com/office/drawing/2014/main" id="{AC45E2A4-C9EB-34B2-D6CD-801F2CFD7F4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999408">
            <a:off x="9095405" y="2625218"/>
            <a:ext cx="611593" cy="270380"/>
          </a:xfrm>
          <a:prstGeom prst="rect">
            <a:avLst/>
          </a:prstGeom>
        </p:spPr>
      </p:pic>
      <p:sp>
        <p:nvSpPr>
          <p:cNvPr id="558" name="타원 557">
            <a:extLst>
              <a:ext uri="{FF2B5EF4-FFF2-40B4-BE49-F238E27FC236}">
                <a16:creationId xmlns:a16="http://schemas.microsoft.com/office/drawing/2014/main" id="{CD3D9F1C-1F6E-106B-D578-771234335B60}"/>
              </a:ext>
            </a:extLst>
          </p:cNvPr>
          <p:cNvSpPr/>
          <p:nvPr/>
        </p:nvSpPr>
        <p:spPr>
          <a:xfrm>
            <a:off x="5694157" y="2569237"/>
            <a:ext cx="339241" cy="313100"/>
          </a:xfrm>
          <a:prstGeom prst="ellipse">
            <a:avLst/>
          </a:prstGeom>
          <a:solidFill>
            <a:schemeClr val="bg1"/>
          </a:solidFill>
          <a:ln>
            <a:solidFill>
              <a:srgbClr val="006D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59" name="자유형 112">
            <a:extLst>
              <a:ext uri="{FF2B5EF4-FFF2-40B4-BE49-F238E27FC236}">
                <a16:creationId xmlns:a16="http://schemas.microsoft.com/office/drawing/2014/main" id="{BF04A7B1-C214-3C12-E26F-410D75349062}"/>
              </a:ext>
            </a:extLst>
          </p:cNvPr>
          <p:cNvSpPr/>
          <p:nvPr/>
        </p:nvSpPr>
        <p:spPr>
          <a:xfrm>
            <a:off x="5694156" y="2669182"/>
            <a:ext cx="339242" cy="113211"/>
          </a:xfrm>
          <a:custGeom>
            <a:avLst/>
            <a:gdLst>
              <a:gd name="connsiteX0" fmla="*/ 13348 w 339242"/>
              <a:gd name="connsiteY0" fmla="*/ 0 h 113211"/>
              <a:gd name="connsiteX1" fmla="*/ 325894 w 339242"/>
              <a:gd name="connsiteY1" fmla="*/ 0 h 113211"/>
              <a:gd name="connsiteX2" fmla="*/ 325913 w 339242"/>
              <a:gd name="connsiteY2" fmla="*/ 25 h 113211"/>
              <a:gd name="connsiteX3" fmla="*/ 339242 w 339242"/>
              <a:gd name="connsiteY3" fmla="*/ 60961 h 113211"/>
              <a:gd name="connsiteX4" fmla="*/ 327813 w 339242"/>
              <a:gd name="connsiteY4" fmla="*/ 113211 h 113211"/>
              <a:gd name="connsiteX5" fmla="*/ 11430 w 339242"/>
              <a:gd name="connsiteY5" fmla="*/ 113211 h 113211"/>
              <a:gd name="connsiteX6" fmla="*/ 0 w 339242"/>
              <a:gd name="connsiteY6" fmla="*/ 60961 h 113211"/>
              <a:gd name="connsiteX7" fmla="*/ 13330 w 339242"/>
              <a:gd name="connsiteY7" fmla="*/ 25 h 11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242" h="113211">
                <a:moveTo>
                  <a:pt x="13348" y="0"/>
                </a:moveTo>
                <a:lnTo>
                  <a:pt x="325894" y="0"/>
                </a:lnTo>
                <a:lnTo>
                  <a:pt x="325913" y="25"/>
                </a:lnTo>
                <a:cubicBezTo>
                  <a:pt x="334496" y="18754"/>
                  <a:pt x="339242" y="39346"/>
                  <a:pt x="339242" y="60961"/>
                </a:cubicBezTo>
                <a:lnTo>
                  <a:pt x="327813" y="113211"/>
                </a:lnTo>
                <a:lnTo>
                  <a:pt x="11430" y="113211"/>
                </a:lnTo>
                <a:lnTo>
                  <a:pt x="0" y="60961"/>
                </a:lnTo>
                <a:cubicBezTo>
                  <a:pt x="0" y="39346"/>
                  <a:pt x="4747" y="18754"/>
                  <a:pt x="13330" y="25"/>
                </a:cubicBezTo>
                <a:close/>
              </a:path>
            </a:pathLst>
          </a:custGeom>
          <a:solidFill>
            <a:srgbClr val="DAC2EC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60" name="타원 559">
            <a:extLst>
              <a:ext uri="{FF2B5EF4-FFF2-40B4-BE49-F238E27FC236}">
                <a16:creationId xmlns:a16="http://schemas.microsoft.com/office/drawing/2014/main" id="{2585C177-934E-CCA1-FC7D-36EB111AFFF1}"/>
              </a:ext>
            </a:extLst>
          </p:cNvPr>
          <p:cNvSpPr/>
          <p:nvPr/>
        </p:nvSpPr>
        <p:spPr>
          <a:xfrm>
            <a:off x="9637772" y="2569716"/>
            <a:ext cx="339241" cy="313100"/>
          </a:xfrm>
          <a:prstGeom prst="ellipse">
            <a:avLst/>
          </a:prstGeom>
          <a:solidFill>
            <a:schemeClr val="bg1"/>
          </a:solidFill>
          <a:ln>
            <a:solidFill>
              <a:srgbClr val="006D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61" name="자유형 119">
            <a:extLst>
              <a:ext uri="{FF2B5EF4-FFF2-40B4-BE49-F238E27FC236}">
                <a16:creationId xmlns:a16="http://schemas.microsoft.com/office/drawing/2014/main" id="{FC773812-8F6B-9F7E-06EE-37E3556CD6E2}"/>
              </a:ext>
            </a:extLst>
          </p:cNvPr>
          <p:cNvSpPr/>
          <p:nvPr/>
        </p:nvSpPr>
        <p:spPr>
          <a:xfrm>
            <a:off x="9637771" y="2641550"/>
            <a:ext cx="339242" cy="141322"/>
          </a:xfrm>
          <a:custGeom>
            <a:avLst/>
            <a:gdLst>
              <a:gd name="connsiteX0" fmla="*/ 78496 w 339242"/>
              <a:gd name="connsiteY0" fmla="*/ 0 h 141322"/>
              <a:gd name="connsiteX1" fmla="*/ 103005 w 339242"/>
              <a:gd name="connsiteY1" fmla="*/ 9595 h 141322"/>
              <a:gd name="connsiteX2" fmla="*/ 111120 w 339242"/>
              <a:gd name="connsiteY2" fmla="*/ 28111 h 141322"/>
              <a:gd name="connsiteX3" fmla="*/ 136911 w 339242"/>
              <a:gd name="connsiteY3" fmla="*/ 28111 h 141322"/>
              <a:gd name="connsiteX4" fmla="*/ 145026 w 339242"/>
              <a:gd name="connsiteY4" fmla="*/ 9595 h 141322"/>
              <a:gd name="connsiteX5" fmla="*/ 169535 w 339242"/>
              <a:gd name="connsiteY5" fmla="*/ 0 h 141322"/>
              <a:gd name="connsiteX6" fmla="*/ 194044 w 339242"/>
              <a:gd name="connsiteY6" fmla="*/ 9595 h 141322"/>
              <a:gd name="connsiteX7" fmla="*/ 202159 w 339242"/>
              <a:gd name="connsiteY7" fmla="*/ 28111 h 141322"/>
              <a:gd name="connsiteX8" fmla="*/ 230720 w 339242"/>
              <a:gd name="connsiteY8" fmla="*/ 28111 h 141322"/>
              <a:gd name="connsiteX9" fmla="*/ 238835 w 339242"/>
              <a:gd name="connsiteY9" fmla="*/ 9595 h 141322"/>
              <a:gd name="connsiteX10" fmla="*/ 263344 w 339242"/>
              <a:gd name="connsiteY10" fmla="*/ 0 h 141322"/>
              <a:gd name="connsiteX11" fmla="*/ 287853 w 339242"/>
              <a:gd name="connsiteY11" fmla="*/ 9595 h 141322"/>
              <a:gd name="connsiteX12" fmla="*/ 295968 w 339242"/>
              <a:gd name="connsiteY12" fmla="*/ 28111 h 141322"/>
              <a:gd name="connsiteX13" fmla="*/ 325894 w 339242"/>
              <a:gd name="connsiteY13" fmla="*/ 28111 h 141322"/>
              <a:gd name="connsiteX14" fmla="*/ 325913 w 339242"/>
              <a:gd name="connsiteY14" fmla="*/ 28136 h 141322"/>
              <a:gd name="connsiteX15" fmla="*/ 339242 w 339242"/>
              <a:gd name="connsiteY15" fmla="*/ 89072 h 141322"/>
              <a:gd name="connsiteX16" fmla="*/ 327813 w 339242"/>
              <a:gd name="connsiteY16" fmla="*/ 141322 h 141322"/>
              <a:gd name="connsiteX17" fmla="*/ 11430 w 339242"/>
              <a:gd name="connsiteY17" fmla="*/ 141322 h 141322"/>
              <a:gd name="connsiteX18" fmla="*/ 0 w 339242"/>
              <a:gd name="connsiteY18" fmla="*/ 89072 h 141322"/>
              <a:gd name="connsiteX19" fmla="*/ 13330 w 339242"/>
              <a:gd name="connsiteY19" fmla="*/ 28136 h 141322"/>
              <a:gd name="connsiteX20" fmla="*/ 13348 w 339242"/>
              <a:gd name="connsiteY20" fmla="*/ 28111 h 141322"/>
              <a:gd name="connsiteX21" fmla="*/ 45872 w 339242"/>
              <a:gd name="connsiteY21" fmla="*/ 28111 h 141322"/>
              <a:gd name="connsiteX22" fmla="*/ 53987 w 339242"/>
              <a:gd name="connsiteY22" fmla="*/ 9595 h 141322"/>
              <a:gd name="connsiteX23" fmla="*/ 78496 w 339242"/>
              <a:gd name="connsiteY23" fmla="*/ 0 h 141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39242" h="141322">
                <a:moveTo>
                  <a:pt x="78496" y="0"/>
                </a:moveTo>
                <a:cubicBezTo>
                  <a:pt x="88068" y="0"/>
                  <a:pt x="96733" y="3667"/>
                  <a:pt x="103005" y="9595"/>
                </a:cubicBezTo>
                <a:lnTo>
                  <a:pt x="111120" y="28111"/>
                </a:lnTo>
                <a:lnTo>
                  <a:pt x="136911" y="28111"/>
                </a:lnTo>
                <a:lnTo>
                  <a:pt x="145026" y="9595"/>
                </a:lnTo>
                <a:cubicBezTo>
                  <a:pt x="151298" y="3667"/>
                  <a:pt x="159964" y="0"/>
                  <a:pt x="169535" y="0"/>
                </a:cubicBezTo>
                <a:cubicBezTo>
                  <a:pt x="179107" y="0"/>
                  <a:pt x="187772" y="3667"/>
                  <a:pt x="194044" y="9595"/>
                </a:cubicBezTo>
                <a:lnTo>
                  <a:pt x="202159" y="28111"/>
                </a:lnTo>
                <a:lnTo>
                  <a:pt x="230720" y="28111"/>
                </a:lnTo>
                <a:lnTo>
                  <a:pt x="238835" y="9595"/>
                </a:lnTo>
                <a:cubicBezTo>
                  <a:pt x="245107" y="3667"/>
                  <a:pt x="253773" y="0"/>
                  <a:pt x="263344" y="0"/>
                </a:cubicBezTo>
                <a:cubicBezTo>
                  <a:pt x="272916" y="0"/>
                  <a:pt x="281581" y="3667"/>
                  <a:pt x="287853" y="9595"/>
                </a:cubicBezTo>
                <a:lnTo>
                  <a:pt x="295968" y="28111"/>
                </a:lnTo>
                <a:lnTo>
                  <a:pt x="325894" y="28111"/>
                </a:lnTo>
                <a:lnTo>
                  <a:pt x="325913" y="28136"/>
                </a:lnTo>
                <a:cubicBezTo>
                  <a:pt x="334496" y="46865"/>
                  <a:pt x="339242" y="67457"/>
                  <a:pt x="339242" y="89072"/>
                </a:cubicBezTo>
                <a:lnTo>
                  <a:pt x="327813" y="141322"/>
                </a:lnTo>
                <a:lnTo>
                  <a:pt x="11430" y="141322"/>
                </a:lnTo>
                <a:lnTo>
                  <a:pt x="0" y="89072"/>
                </a:lnTo>
                <a:cubicBezTo>
                  <a:pt x="0" y="67457"/>
                  <a:pt x="4747" y="46865"/>
                  <a:pt x="13330" y="28136"/>
                </a:cubicBezTo>
                <a:lnTo>
                  <a:pt x="13348" y="28111"/>
                </a:lnTo>
                <a:lnTo>
                  <a:pt x="45872" y="28111"/>
                </a:lnTo>
                <a:lnTo>
                  <a:pt x="53987" y="9595"/>
                </a:lnTo>
                <a:cubicBezTo>
                  <a:pt x="60259" y="3667"/>
                  <a:pt x="68925" y="0"/>
                  <a:pt x="78496" y="0"/>
                </a:cubicBezTo>
                <a:close/>
              </a:path>
            </a:pathLst>
          </a:custGeom>
          <a:solidFill>
            <a:srgbClr val="DAC2E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388FB8AD-ECD2-672D-2A14-1657B3B4A184}"/>
              </a:ext>
            </a:extLst>
          </p:cNvPr>
          <p:cNvSpPr txBox="1"/>
          <p:nvPr/>
        </p:nvSpPr>
        <p:spPr>
          <a:xfrm>
            <a:off x="484548" y="3943402"/>
            <a:ext cx="498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특징</a:t>
            </a:r>
          </a:p>
        </p:txBody>
      </p:sp>
      <p:cxnSp>
        <p:nvCxnSpPr>
          <p:cNvPr id="564" name="직선 연결선 563">
            <a:extLst>
              <a:ext uri="{FF2B5EF4-FFF2-40B4-BE49-F238E27FC236}">
                <a16:creationId xmlns:a16="http://schemas.microsoft.com/office/drawing/2014/main" id="{A0986FC3-1C7A-E865-954C-70CBBFD9E643}"/>
              </a:ext>
            </a:extLst>
          </p:cNvPr>
          <p:cNvCxnSpPr/>
          <p:nvPr/>
        </p:nvCxnSpPr>
        <p:spPr>
          <a:xfrm>
            <a:off x="1307640" y="3600634"/>
            <a:ext cx="20955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직선 연결선 564">
            <a:extLst>
              <a:ext uri="{FF2B5EF4-FFF2-40B4-BE49-F238E27FC236}">
                <a16:creationId xmlns:a16="http://schemas.microsoft.com/office/drawing/2014/main" id="{3BD33CE8-DF06-851F-A8AC-948712536E78}"/>
              </a:ext>
            </a:extLst>
          </p:cNvPr>
          <p:cNvCxnSpPr/>
          <p:nvPr/>
        </p:nvCxnSpPr>
        <p:spPr>
          <a:xfrm>
            <a:off x="4052654" y="3600634"/>
            <a:ext cx="345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586D56CF-AE84-2144-3B0C-8B359F1F121F}"/>
              </a:ext>
            </a:extLst>
          </p:cNvPr>
          <p:cNvCxnSpPr/>
          <p:nvPr/>
        </p:nvCxnSpPr>
        <p:spPr>
          <a:xfrm>
            <a:off x="7982430" y="3600634"/>
            <a:ext cx="345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2581B440-3CDC-4C2F-7D81-E44A8CC91646}"/>
              </a:ext>
            </a:extLst>
          </p:cNvPr>
          <p:cNvSpPr txBox="1"/>
          <p:nvPr/>
        </p:nvSpPr>
        <p:spPr>
          <a:xfrm>
            <a:off x="1272127" y="3779898"/>
            <a:ext cx="20345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외부광의 양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=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반사광의 양</a:t>
            </a: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2057C9FC-221D-FCC4-FA3E-0DF0F31FDB25}"/>
              </a:ext>
            </a:extLst>
          </p:cNvPr>
          <p:cNvSpPr txBox="1"/>
          <p:nvPr/>
        </p:nvSpPr>
        <p:spPr>
          <a:xfrm>
            <a:off x="4081275" y="3666943"/>
            <a:ext cx="3327057" cy="292388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외부광의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양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&gt;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반사광의 양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(</a:t>
            </a:r>
            <a:r>
              <a:rPr lang="ko-KR" altLang="en-US" sz="1200" dirty="0">
                <a:latin typeface="Arial Narrow" panose="020B0606020202030204"/>
                <a:ea typeface="LG스마트체 Regular" panose="020B0600000101010101"/>
              </a:rPr>
              <a:t>약간의 정반사</a:t>
            </a: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)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EA235C40-A082-7851-B8A0-C7A1864C8211}"/>
              </a:ext>
            </a:extLst>
          </p:cNvPr>
          <p:cNvSpPr txBox="1"/>
          <p:nvPr/>
        </p:nvSpPr>
        <p:spPr>
          <a:xfrm>
            <a:off x="4314008" y="3972729"/>
            <a:ext cx="3181746" cy="72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+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반사율 저감으로 </a:t>
            </a:r>
            <a:r>
              <a:rPr lang="en-US" altLang="ko-KR" sz="1200" dirty="0"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Perfect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Black &amp; Color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유지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+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투과율 유지로 선명도 저하 없음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-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약간의 정반사가 있어 상 맺힘 있을 수 있음</a:t>
            </a: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2BE6AAA7-63B7-4E9D-A58A-8E90511D40C2}"/>
              </a:ext>
            </a:extLst>
          </p:cNvPr>
          <p:cNvSpPr txBox="1"/>
          <p:nvPr/>
        </p:nvSpPr>
        <p:spPr>
          <a:xfrm rot="18428146">
            <a:off x="2593175" y="2561579"/>
            <a:ext cx="5453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반사광</a:t>
            </a: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14FE3213-D2C7-E07B-665C-E143689EEAE4}"/>
              </a:ext>
            </a:extLst>
          </p:cNvPr>
          <p:cNvSpPr txBox="1"/>
          <p:nvPr/>
        </p:nvSpPr>
        <p:spPr>
          <a:xfrm rot="4270523">
            <a:off x="1987198" y="2264706"/>
            <a:ext cx="54053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외부광</a:t>
            </a:r>
          </a:p>
        </p:txBody>
      </p:sp>
      <p:cxnSp>
        <p:nvCxnSpPr>
          <p:cNvPr id="572" name="직선 연결선 571">
            <a:extLst>
              <a:ext uri="{FF2B5EF4-FFF2-40B4-BE49-F238E27FC236}">
                <a16:creationId xmlns:a16="http://schemas.microsoft.com/office/drawing/2014/main" id="{83E21AC7-181B-C258-E04F-156CC32E50EF}"/>
              </a:ext>
            </a:extLst>
          </p:cNvPr>
          <p:cNvCxnSpPr/>
          <p:nvPr/>
        </p:nvCxnSpPr>
        <p:spPr>
          <a:xfrm>
            <a:off x="1099042" y="5369742"/>
            <a:ext cx="10584000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0A778028-8CB9-253B-50DA-7BE18CADF005}"/>
              </a:ext>
            </a:extLst>
          </p:cNvPr>
          <p:cNvSpPr txBox="1"/>
          <p:nvPr/>
        </p:nvSpPr>
        <p:spPr>
          <a:xfrm>
            <a:off x="7952594" y="3632439"/>
            <a:ext cx="29466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lang="ko-KR" altLang="en-US" sz="1300" b="1" dirty="0">
                <a:latin typeface="Arial Narrow" panose="020B0606020202030204"/>
                <a:ea typeface="LG스마트체 Regular" panose="020B0600000101010101"/>
              </a:rPr>
              <a:t>외부광의 양 </a:t>
            </a:r>
            <a:r>
              <a:rPr lang="en-US" altLang="ko-KR" sz="1300" b="1" dirty="0">
                <a:latin typeface="Arial Narrow" panose="020B0606020202030204"/>
                <a:ea typeface="LG스마트체 Regular" panose="020B0600000101010101"/>
              </a:rPr>
              <a:t>= </a:t>
            </a:r>
            <a:r>
              <a:rPr lang="ko-KR" altLang="en-US" sz="1300" b="1" dirty="0">
                <a:latin typeface="Arial Narrow" panose="020B0606020202030204"/>
                <a:ea typeface="LG스마트체 Regular" panose="020B0600000101010101"/>
              </a:rPr>
              <a:t>반사광의 양 </a:t>
            </a: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(</a:t>
            </a:r>
            <a:r>
              <a:rPr lang="ko-KR" altLang="en-US" sz="1200" dirty="0">
                <a:latin typeface="Arial Narrow" panose="020B0606020202030204"/>
                <a:ea typeface="LG스마트체 Regular" panose="020B0600000101010101"/>
              </a:rPr>
              <a:t>전량 난반사</a:t>
            </a:r>
            <a:r>
              <a:rPr lang="en-US" altLang="ko-KR" sz="1200" dirty="0">
                <a:latin typeface="Arial Narrow" panose="020B0606020202030204"/>
                <a:ea typeface="LG스마트체 Regular" panose="020B0600000101010101"/>
              </a:rPr>
              <a:t>)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CA30D2B0-CA32-843E-2E66-3B6F068648E8}"/>
              </a:ext>
            </a:extLst>
          </p:cNvPr>
          <p:cNvSpPr txBox="1"/>
          <p:nvPr/>
        </p:nvSpPr>
        <p:spPr>
          <a:xfrm>
            <a:off x="8172566" y="3954875"/>
            <a:ext cx="3340339" cy="72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+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정반사가 없어 상 맺힘 거의 없음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-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정반사 이외의 모든 반사가 증폭돼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블랙과 색상이 뜸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cs typeface="+mn-cs"/>
                <a:sym typeface="Wingdings" panose="05000000000000000000" pitchFamily="2" charset="2"/>
              </a:rPr>
              <a:t>전체적 반사율 저감에 한계가 있음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-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투과율이 낮아져 선명도 저하됨</a:t>
            </a:r>
          </a:p>
        </p:txBody>
      </p:sp>
      <p:sp>
        <p:nvSpPr>
          <p:cNvPr id="575" name="직사각형 574">
            <a:extLst>
              <a:ext uri="{FF2B5EF4-FFF2-40B4-BE49-F238E27FC236}">
                <a16:creationId xmlns:a16="http://schemas.microsoft.com/office/drawing/2014/main" id="{3027DC81-CE89-A169-76BD-E73A06352009}"/>
              </a:ext>
            </a:extLst>
          </p:cNvPr>
          <p:cNvSpPr/>
          <p:nvPr/>
        </p:nvSpPr>
        <p:spPr>
          <a:xfrm>
            <a:off x="1402368" y="4029501"/>
            <a:ext cx="2040420" cy="485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+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디스플레이 투과율 유지됨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-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눈부심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 &amp;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  <a:sym typeface="Wingdings" panose="05000000000000000000" pitchFamily="2" charset="2"/>
              </a:rPr>
              <a:t>화질 저하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93E1845-F384-F18D-FE16-9053C786148E}"/>
              </a:ext>
            </a:extLst>
          </p:cNvPr>
          <p:cNvSpPr txBox="1"/>
          <p:nvPr/>
        </p:nvSpPr>
        <p:spPr>
          <a:xfrm>
            <a:off x="1394947" y="3376034"/>
            <a:ext cx="9364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Transmittance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7AD11A2F-7370-54C9-73B1-C28028256444}"/>
              </a:ext>
            </a:extLst>
          </p:cNvPr>
          <p:cNvCxnSpPr/>
          <p:nvPr/>
        </p:nvCxnSpPr>
        <p:spPr>
          <a:xfrm>
            <a:off x="7745988" y="5527185"/>
            <a:ext cx="0" cy="86400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31535A6C-B320-A5B7-0DC9-9B75DAF1BAA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9930707" flipH="1">
            <a:off x="8563093" y="2670280"/>
            <a:ext cx="431639" cy="1711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BF5001-87C0-22F9-29FE-63E8538FA73D}"/>
              </a:ext>
            </a:extLst>
          </p:cNvPr>
          <p:cNvSpPr txBox="1"/>
          <p:nvPr/>
        </p:nvSpPr>
        <p:spPr>
          <a:xfrm>
            <a:off x="4167667" y="3374917"/>
            <a:ext cx="9364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Transmittance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7B46F-7C34-647A-36D1-C21F710299FC}"/>
              </a:ext>
            </a:extLst>
          </p:cNvPr>
          <p:cNvSpPr txBox="1"/>
          <p:nvPr/>
        </p:nvSpPr>
        <p:spPr>
          <a:xfrm>
            <a:off x="8035786" y="3374917"/>
            <a:ext cx="9364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Transmittance</a:t>
            </a:r>
            <a:endParaRPr kumimoji="0" lang="ko-KR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" name="실행 단추: 홈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994F1F95-842C-566F-0898-BF1F12C36730}"/>
              </a:ext>
            </a:extLst>
          </p:cNvPr>
          <p:cNvSpPr/>
          <p:nvPr/>
        </p:nvSpPr>
        <p:spPr>
          <a:xfrm>
            <a:off x="11751614" y="642711"/>
            <a:ext cx="312079" cy="307777"/>
          </a:xfrm>
          <a:prstGeom prst="actionButtonHom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137629-0403-0E46-2C14-317A0EF80429}"/>
              </a:ext>
            </a:extLst>
          </p:cNvPr>
          <p:cNvSpPr txBox="1"/>
          <p:nvPr/>
        </p:nvSpPr>
        <p:spPr>
          <a:xfrm>
            <a:off x="3863191" y="5607626"/>
            <a:ext cx="3792985" cy="677108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/>
              <a:buChar char="§"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고성능 프리미엄 빛 반사 절감 기술</a:t>
            </a:r>
            <a:b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카메라 광학렌즈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현미경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망원경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스마트폰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의료장비 등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높은 투과율과 선명도가 필요한 제품에 적용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4A2B5E-C035-8044-05C2-38FD745775B1}"/>
              </a:ext>
            </a:extLst>
          </p:cNvPr>
          <p:cNvSpPr txBox="1"/>
          <p:nvPr/>
        </p:nvSpPr>
        <p:spPr>
          <a:xfrm>
            <a:off x="7786850" y="5607626"/>
            <a:ext cx="3792991" cy="66172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85725" marR="0" lvl="0" indent="-8572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/>
              <a:buChar char="§"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기성 빛 반사 분산 솔루션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노트북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스마트폰 보호필름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건축 유리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안경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선글라스 등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빛 확산 또는 눈부심 방지가 중요한 제품에 적용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2EB08-0845-C99F-27E0-244C24281220}"/>
              </a:ext>
            </a:extLst>
          </p:cNvPr>
          <p:cNvSpPr txBox="1"/>
          <p:nvPr/>
        </p:nvSpPr>
        <p:spPr>
          <a:xfrm>
            <a:off x="327454" y="5586998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주요</a:t>
            </a:r>
            <a:br>
              <a:rPr kumimoji="0" lang="en-US" altLang="ko-KR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ko-KR" altLang="en-U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적용제품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434CC9-2868-36F6-CF00-B6E59DDDABA8}"/>
              </a:ext>
            </a:extLst>
          </p:cNvPr>
          <p:cNvSpPr txBox="1"/>
          <p:nvPr/>
        </p:nvSpPr>
        <p:spPr>
          <a:xfrm>
            <a:off x="3966155" y="4772082"/>
            <a:ext cx="3391804" cy="46166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※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전체 반사광의 양을 줄이는 기술로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,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   </a:t>
            </a:r>
            <a:r>
              <a:rPr lang="ko-KR" altLang="en-US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정반사와 난반사 모두 일정하게 줄여 나갈 수 있음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428878-B906-4341-4928-8F587242BCAB}"/>
              </a:ext>
            </a:extLst>
          </p:cNvPr>
          <p:cNvSpPr txBox="1"/>
          <p:nvPr/>
        </p:nvSpPr>
        <p:spPr>
          <a:xfrm>
            <a:off x="7914419" y="4789334"/>
            <a:ext cx="3598483" cy="46166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※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6D00"/>
                </a:solidFill>
                <a:effectLst/>
                <a:uLnTx/>
                <a:uFillTx/>
                <a:latin typeface="Arial Narrow" panose="020B0606020202030204"/>
                <a:ea typeface="LG스마트체 Regular" panose="020B0600000101010101"/>
              </a:rPr>
              <a:t>정반사 되는 빛을 분산시켜 난반사 시키는 솔루션으로</a:t>
            </a:r>
            <a:br>
              <a:rPr lang="en-US" altLang="ko-KR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</a:br>
            <a:r>
              <a:rPr lang="en-US" altLang="ko-KR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     </a:t>
            </a:r>
            <a:r>
              <a:rPr lang="ko-KR" altLang="en-US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전체 반사광의 양이 난반사로 전환됨</a:t>
            </a:r>
            <a:r>
              <a:rPr lang="en-US" altLang="ko-KR" sz="1200" dirty="0">
                <a:solidFill>
                  <a:srgbClr val="006D00"/>
                </a:solidFill>
                <a:latin typeface="Arial Narrow" panose="020B0606020202030204"/>
                <a:ea typeface="LG스마트체 Regular" panose="020B0600000101010101"/>
              </a:rPr>
              <a:t>.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6D00"/>
              </a:solidFill>
              <a:effectLst/>
              <a:uLnTx/>
              <a:uFillTx/>
              <a:latin typeface="Arial Narrow" panose="020B0606020202030204"/>
              <a:ea typeface="LG스마트체 Regular" panose="020B0600000101010101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13B95-E643-F0B2-C54D-AA98B8E38B5E}"/>
              </a:ext>
            </a:extLst>
          </p:cNvPr>
          <p:cNvSpPr txBox="1"/>
          <p:nvPr/>
        </p:nvSpPr>
        <p:spPr>
          <a:xfrm>
            <a:off x="9119358" y="1398128"/>
            <a:ext cx="2674298" cy="550962"/>
          </a:xfrm>
          <a:prstGeom prst="roundRect">
            <a:avLst>
              <a:gd name="adj" fmla="val 28059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36000" bIns="0">
            <a:spAutoFit/>
          </a:bodyPr>
          <a:lstStyle/>
          <a:p>
            <a:pPr algn="l" fontAlgn="base"/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※ </a:t>
            </a:r>
            <a:r>
              <a:rPr lang="ko-KR" altLang="en-US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실</a:t>
            </a:r>
            <a:r>
              <a:rPr lang="ko-KR" altLang="en-US" sz="1000" i="1" dirty="0">
                <a:solidFill>
                  <a:srgbClr val="0070C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제 </a:t>
            </a: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AGLR </a:t>
            </a:r>
            <a:r>
              <a:rPr lang="en-US" altLang="ko-KR" sz="9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(Anti Glare + Anti Reflection)</a:t>
            </a:r>
            <a:r>
              <a:rPr lang="ko-KR" altLang="en-US" sz="9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적용됐으</a:t>
            </a:r>
            <a:r>
              <a:rPr lang="ko-KR" altLang="en-US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나</a:t>
            </a: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가장 큰 특성을 나타내는</a:t>
            </a: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솔루션은 </a:t>
            </a: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anti-glare</a:t>
            </a:r>
            <a:r>
              <a:rPr lang="ko-KR" altLang="en-US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이고</a:t>
            </a: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b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    </a:t>
            </a:r>
            <a:r>
              <a:rPr lang="ko-KR" altLang="en-US" sz="1000" i="1" dirty="0">
                <a:solidFill>
                  <a:srgbClr val="0070C0"/>
                </a:solidFill>
                <a:effectLst/>
                <a:latin typeface="Arial Narrow" panose="020B0606020202030204" pitchFamily="34" charset="0"/>
                <a:ea typeface="LG스마트체 Regular" panose="020B0600000101010101" pitchFamily="50" charset="-127"/>
              </a:rPr>
              <a:t>따라서 경쟁사도 이를 강조하여 소구하고 있음</a:t>
            </a:r>
            <a:endParaRPr lang="ko-KR" altLang="en-US" sz="1000" i="0" dirty="0">
              <a:solidFill>
                <a:srgbClr val="0070C0"/>
              </a:solidFill>
              <a:effectLst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048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3300" y="3019177"/>
            <a:ext cx="5105400" cy="81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45605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9288FA1DE3BB4AB812FB0C051D4950" ma:contentTypeVersion="15" ma:contentTypeDescription="새 문서를 만듭니다." ma:contentTypeScope="" ma:versionID="df5b6d58c5a3466fdb8929c34600ce97">
  <xsd:schema xmlns:xsd="http://www.w3.org/2001/XMLSchema" xmlns:xs="http://www.w3.org/2001/XMLSchema" xmlns:p="http://schemas.microsoft.com/office/2006/metadata/properties" xmlns:ns2="3f256e1a-09f4-4ca7-acff-709cf501cfcf" xmlns:ns3="d89727d7-8dd1-46bc-aefa-00378b6ab1ba" targetNamespace="http://schemas.microsoft.com/office/2006/metadata/properties" ma:root="true" ma:fieldsID="33835d527ba0e0761ccf99c73a459905" ns2:_="" ns3:_="">
    <xsd:import namespace="3f256e1a-09f4-4ca7-acff-709cf501cfcf"/>
    <xsd:import namespace="d89727d7-8dd1-46bc-aefa-00378b6ab1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_xc81c__xc791_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56e1a-09f4-4ca7-acff-709cf501cf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c81c__xc791_" ma:index="17" nillable="true" ma:displayName="제작" ma:description="만든사람" ma:format="Dropdown" ma:internalName="_xc81c__xc791_">
      <xsd:simpleType>
        <xsd:restriction base="dms:Text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7fbd4038-13c0-4266-8e70-5a68fe662a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27d7-8dd1-46bc-aefa-00378b6ab1b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feb58fbb-0efc-40a1-95ab-b5660e1fbfee}" ma:internalName="TaxCatchAll" ma:showField="CatchAllData" ma:web="d89727d7-8dd1-46bc-aefa-00378b6ab1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256e1a-09f4-4ca7-acff-709cf501cfcf">
      <Terms xmlns="http://schemas.microsoft.com/office/infopath/2007/PartnerControls"/>
    </lcf76f155ced4ddcb4097134ff3c332f>
    <_xc81c__xc791_ xmlns="3f256e1a-09f4-4ca7-acff-709cf501cfcf" xsi:nil="true"/>
    <TaxCatchAll xmlns="d89727d7-8dd1-46bc-aefa-00378b6ab1ba" xsi:nil="true"/>
  </documentManagement>
</p:properties>
</file>

<file path=customXml/itemProps1.xml><?xml version="1.0" encoding="utf-8"?>
<ds:datastoreItem xmlns:ds="http://schemas.openxmlformats.org/officeDocument/2006/customXml" ds:itemID="{462BCC74-93EC-4216-B03D-9063CE0B2F93}"/>
</file>

<file path=customXml/itemProps2.xml><?xml version="1.0" encoding="utf-8"?>
<ds:datastoreItem xmlns:ds="http://schemas.openxmlformats.org/officeDocument/2006/customXml" ds:itemID="{781002EC-CF1F-41E4-99AA-3C2D2E0B9505}"/>
</file>

<file path=customXml/itemProps3.xml><?xml version="1.0" encoding="utf-8"?>
<ds:datastoreItem xmlns:ds="http://schemas.openxmlformats.org/officeDocument/2006/customXml" ds:itemID="{74A1481D-E4AE-45BF-8807-7D9E35590065}"/>
</file>

<file path=docProps/app.xml><?xml version="1.0" encoding="utf-8"?>
<Properties xmlns="http://schemas.openxmlformats.org/officeDocument/2006/extended-properties" xmlns:vt="http://schemas.openxmlformats.org/officeDocument/2006/docPropsVTypes">
  <TotalTime>19256</TotalTime>
  <Words>1256</Words>
  <Application>Microsoft Office PowerPoint</Application>
  <PresentationFormat>Widescreen</PresentationFormat>
  <Paragraphs>146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윤혜민/책임/오픈이노베이션팀(mina.yun@lge.com)</dc:creator>
  <cp:lastModifiedBy>윤혜민/책임/MS마케팅전략팀</cp:lastModifiedBy>
  <cp:revision>1224</cp:revision>
  <cp:lastPrinted>2025-10-02T01:19:33Z</cp:lastPrinted>
  <dcterms:created xsi:type="dcterms:W3CDTF">2025-03-17T04:28:44Z</dcterms:created>
  <dcterms:modified xsi:type="dcterms:W3CDTF">2025-11-12T23:30:48Z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2025-08-14T08:51:05Z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a13f843a-8b90-4eb8-964b-f2965502783a</vt:lpwstr>
  </property>
  <property fmtid="{D5CDD505-2E9C-101B-9397-08002B2CF9AE}" pid="8" name="MSIP_Label_cc6ed9fc-fefc-4a0c-a6d6-10cf236c0d4f_ContentBits">
    <vt:lpwstr>1</vt:lpwstr>
  </property>
  <property fmtid="{D5CDD505-2E9C-101B-9397-08002B2CF9AE}" pid="9" name="ContentTypeId">
    <vt:lpwstr>0x010100AC9288FA1DE3BB4AB812FB0C051D4950</vt:lpwstr>
  </property>
</Properties>
</file>